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</p:sldIdLst>
  <p:sldSz cx="18288000" cy="10287000"/>
  <p:notesSz cx="6858000" cy="9144000"/>
  <p:embeddedFontLst>
    <p:embeddedFont>
      <p:font typeface="Prompt Bold" charset="1" panose="00000800000000000000"/>
      <p:regular r:id="rId15"/>
    </p:embeddedFont>
    <p:embeddedFont>
      <p:font typeface="Calibri (MS)" charset="1" panose="020F0502020204030204"/>
      <p:regular r:id="rId16"/>
    </p:embeddedFont>
    <p:embeddedFont>
      <p:font typeface="Space Mono Bold" charset="1" panose="02000809030000020004"/>
      <p:regular r:id="rId17"/>
    </p:embeddedFont>
    <p:embeddedFont>
      <p:font typeface="Calibri (MS) Bold" charset="1" panose="020F0702030404030204"/>
      <p:regular r:id="rId18"/>
    </p:embeddedFont>
    <p:embeddedFont>
      <p:font typeface="Sarabun Bold" charset="1" panose="00000800000000000000"/>
      <p:regular r:id="rId19"/>
    </p:embeddedFont>
    <p:embeddedFont>
      <p:font typeface="Sarabun" charset="1" panose="00000500000000000000"/>
      <p:regular r:id="rId20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fonts/font15.fntdata" Type="http://schemas.openxmlformats.org/officeDocument/2006/relationships/font"/><Relationship Id="rId16" Target="fonts/font16.fntdata" Type="http://schemas.openxmlformats.org/officeDocument/2006/relationships/font"/><Relationship Id="rId17" Target="fonts/font17.fntdata" Type="http://schemas.openxmlformats.org/officeDocument/2006/relationships/font"/><Relationship Id="rId18" Target="fonts/font18.fntdata" Type="http://schemas.openxmlformats.org/officeDocument/2006/relationships/font"/><Relationship Id="rId19" Target="fonts/font19.fntdata" Type="http://schemas.openxmlformats.org/officeDocument/2006/relationships/font"/><Relationship Id="rId2" Target="presProps.xml" Type="http://schemas.openxmlformats.org/officeDocument/2006/relationships/presProps"/><Relationship Id="rId20" Target="fonts/font20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Relationship Id="rId3" Target="../media/image3.jpe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png" Type="http://schemas.openxmlformats.org/officeDocument/2006/relationships/image"/><Relationship Id="rId3" Target="../media/image5.png" Type="http://schemas.openxmlformats.org/officeDocument/2006/relationships/image"/><Relationship Id="rId4" Target="../media/image6.png" Type="http://schemas.openxmlformats.org/officeDocument/2006/relationships/image"/><Relationship Id="rId5" Target="../media/image7.png" Type="http://schemas.openxmlformats.org/officeDocument/2006/relationships/image"/><Relationship Id="rId6" Target="../media/image8.png" Type="http://schemas.openxmlformats.org/officeDocument/2006/relationships/image"/><Relationship Id="rId7" Target="../media/image9.png" Type="http://schemas.openxmlformats.org/officeDocument/2006/relationships/image"/><Relationship Id="rId8" Target="../media/image3.jpe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0.png" Type="http://schemas.openxmlformats.org/officeDocument/2006/relationships/image"/><Relationship Id="rId3" Target="../media/image11.png" Type="http://schemas.openxmlformats.org/officeDocument/2006/relationships/image"/><Relationship Id="rId4" Target="../media/image3.jpe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2.png" Type="http://schemas.openxmlformats.org/officeDocument/2006/relationships/image"/><Relationship Id="rId3" Target="../media/image13.png" Type="http://schemas.openxmlformats.org/officeDocument/2006/relationships/image"/><Relationship Id="rId4" Target="../media/image3.jpe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jpeg" Type="http://schemas.openxmlformats.org/officeDocument/2006/relationships/image"/><Relationship Id="rId3" Target="../media/image14.png" Type="http://schemas.openxmlformats.org/officeDocument/2006/relationships/image"/><Relationship Id="rId4" Target="../media/image15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jpeg" Type="http://schemas.openxmlformats.org/officeDocument/2006/relationships/image"/><Relationship Id="rId3" Target="../media/image16.png" Type="http://schemas.openxmlformats.org/officeDocument/2006/relationships/image"/><Relationship Id="rId4" Target="../media/image17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8.png" Type="http://schemas.openxmlformats.org/officeDocument/2006/relationships/image"/><Relationship Id="rId3" Target="../media/image3.jpe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9.png" Type="http://schemas.openxmlformats.org/officeDocument/2006/relationships/image"/><Relationship Id="rId3" Target="../media/image20.png" Type="http://schemas.openxmlformats.org/officeDocument/2006/relationships/image"/><Relationship Id="rId4" Target="../media/image21.png" Type="http://schemas.openxmlformats.org/officeDocument/2006/relationships/image"/><Relationship Id="rId5" Target="../media/image3.jpe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B1C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 descr="image.png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10258425"/>
            <a:ext cx="18288000" cy="28575"/>
            <a:chOff x="0" y="0"/>
            <a:chExt cx="24384000" cy="381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38100"/>
            </a:xfrm>
            <a:custGeom>
              <a:avLst/>
              <a:gdLst/>
              <a:ahLst/>
              <a:cxnLst/>
              <a:rect r="r" b="b" t="t" l="l"/>
              <a:pathLst>
                <a:path h="381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38100"/>
                  </a:lnTo>
                  <a:lnTo>
                    <a:pt x="0" y="38100"/>
                  </a:lnTo>
                  <a:close/>
                </a:path>
              </a:pathLst>
            </a:custGeom>
            <a:solidFill>
              <a:srgbClr val="1E293B"/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742950" y="7043738"/>
            <a:ext cx="4007644" cy="2643188"/>
            <a:chOff x="0" y="0"/>
            <a:chExt cx="5343525" cy="352425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5343525" cy="3524250"/>
            </a:xfrm>
            <a:custGeom>
              <a:avLst/>
              <a:gdLst/>
              <a:ahLst/>
              <a:cxnLst/>
              <a:rect r="r" b="b" t="t" l="l"/>
              <a:pathLst>
                <a:path h="3524250" w="5343525">
                  <a:moveTo>
                    <a:pt x="0" y="266700"/>
                  </a:moveTo>
                  <a:cubicBezTo>
                    <a:pt x="0" y="119380"/>
                    <a:pt x="119380" y="0"/>
                    <a:pt x="266700" y="0"/>
                  </a:cubicBezTo>
                  <a:lnTo>
                    <a:pt x="5076825" y="0"/>
                  </a:lnTo>
                  <a:cubicBezTo>
                    <a:pt x="5224145" y="0"/>
                    <a:pt x="5343525" y="119380"/>
                    <a:pt x="5343525" y="266700"/>
                  </a:cubicBezTo>
                  <a:lnTo>
                    <a:pt x="5343525" y="3257550"/>
                  </a:lnTo>
                  <a:cubicBezTo>
                    <a:pt x="5343525" y="3404870"/>
                    <a:pt x="5224145" y="3524250"/>
                    <a:pt x="5076825" y="3524250"/>
                  </a:cubicBezTo>
                  <a:lnTo>
                    <a:pt x="266700" y="3524250"/>
                  </a:lnTo>
                  <a:cubicBezTo>
                    <a:pt x="119380" y="3524250"/>
                    <a:pt x="0" y="3404870"/>
                    <a:pt x="0" y="3257550"/>
                  </a:cubicBezTo>
                  <a:close/>
                </a:path>
              </a:pathLst>
            </a:custGeom>
            <a:solidFill>
              <a:srgbClr val="0F172A"/>
            </a:solidFill>
          </p:spPr>
        </p:sp>
      </p:grpSp>
      <p:grpSp>
        <p:nvGrpSpPr>
          <p:cNvPr name="Group 8" id="8"/>
          <p:cNvGrpSpPr/>
          <p:nvPr/>
        </p:nvGrpSpPr>
        <p:grpSpPr>
          <a:xfrm rot="0">
            <a:off x="5007769" y="7043738"/>
            <a:ext cx="4007644" cy="2643188"/>
            <a:chOff x="0" y="0"/>
            <a:chExt cx="5343525" cy="352425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5343525" cy="3524250"/>
            </a:xfrm>
            <a:custGeom>
              <a:avLst/>
              <a:gdLst/>
              <a:ahLst/>
              <a:cxnLst/>
              <a:rect r="r" b="b" t="t" l="l"/>
              <a:pathLst>
                <a:path h="3524250" w="5343525">
                  <a:moveTo>
                    <a:pt x="0" y="266700"/>
                  </a:moveTo>
                  <a:cubicBezTo>
                    <a:pt x="0" y="119380"/>
                    <a:pt x="119380" y="0"/>
                    <a:pt x="266700" y="0"/>
                  </a:cubicBezTo>
                  <a:lnTo>
                    <a:pt x="5076825" y="0"/>
                  </a:lnTo>
                  <a:cubicBezTo>
                    <a:pt x="5224145" y="0"/>
                    <a:pt x="5343525" y="119380"/>
                    <a:pt x="5343525" y="266700"/>
                  </a:cubicBezTo>
                  <a:lnTo>
                    <a:pt x="5343525" y="3257550"/>
                  </a:lnTo>
                  <a:cubicBezTo>
                    <a:pt x="5343525" y="3404870"/>
                    <a:pt x="5224145" y="3524250"/>
                    <a:pt x="5076825" y="3524250"/>
                  </a:cubicBezTo>
                  <a:lnTo>
                    <a:pt x="266700" y="3524250"/>
                  </a:lnTo>
                  <a:cubicBezTo>
                    <a:pt x="119380" y="3524250"/>
                    <a:pt x="0" y="3404870"/>
                    <a:pt x="0" y="3257550"/>
                  </a:cubicBezTo>
                  <a:close/>
                </a:path>
              </a:pathLst>
            </a:custGeom>
            <a:solidFill>
              <a:srgbClr val="0F172A"/>
            </a:solid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9272588" y="7043738"/>
            <a:ext cx="4007644" cy="2643188"/>
            <a:chOff x="0" y="0"/>
            <a:chExt cx="5343525" cy="352425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5343525" cy="3524250"/>
            </a:xfrm>
            <a:custGeom>
              <a:avLst/>
              <a:gdLst/>
              <a:ahLst/>
              <a:cxnLst/>
              <a:rect r="r" b="b" t="t" l="l"/>
              <a:pathLst>
                <a:path h="3524250" w="5343525">
                  <a:moveTo>
                    <a:pt x="0" y="266700"/>
                  </a:moveTo>
                  <a:cubicBezTo>
                    <a:pt x="0" y="119380"/>
                    <a:pt x="119380" y="0"/>
                    <a:pt x="266700" y="0"/>
                  </a:cubicBezTo>
                  <a:lnTo>
                    <a:pt x="5076825" y="0"/>
                  </a:lnTo>
                  <a:cubicBezTo>
                    <a:pt x="5224145" y="0"/>
                    <a:pt x="5343525" y="119380"/>
                    <a:pt x="5343525" y="266700"/>
                  </a:cubicBezTo>
                  <a:lnTo>
                    <a:pt x="5343525" y="3257550"/>
                  </a:lnTo>
                  <a:cubicBezTo>
                    <a:pt x="5343525" y="3404870"/>
                    <a:pt x="5224145" y="3524250"/>
                    <a:pt x="5076825" y="3524250"/>
                  </a:cubicBezTo>
                  <a:lnTo>
                    <a:pt x="266700" y="3524250"/>
                  </a:lnTo>
                  <a:cubicBezTo>
                    <a:pt x="119380" y="3524250"/>
                    <a:pt x="0" y="3404870"/>
                    <a:pt x="0" y="3257550"/>
                  </a:cubicBezTo>
                  <a:close/>
                </a:path>
              </a:pathLst>
            </a:custGeom>
            <a:solidFill>
              <a:srgbClr val="0F172A"/>
            </a:solid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13537406" y="7043738"/>
            <a:ext cx="4007644" cy="2643188"/>
            <a:chOff x="0" y="0"/>
            <a:chExt cx="5343525" cy="352425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5343525" cy="3524250"/>
            </a:xfrm>
            <a:custGeom>
              <a:avLst/>
              <a:gdLst/>
              <a:ahLst/>
              <a:cxnLst/>
              <a:rect r="r" b="b" t="t" l="l"/>
              <a:pathLst>
                <a:path h="3524250" w="5343525">
                  <a:moveTo>
                    <a:pt x="0" y="266700"/>
                  </a:moveTo>
                  <a:cubicBezTo>
                    <a:pt x="0" y="119380"/>
                    <a:pt x="119380" y="0"/>
                    <a:pt x="266700" y="0"/>
                  </a:cubicBezTo>
                  <a:lnTo>
                    <a:pt x="5076825" y="0"/>
                  </a:lnTo>
                  <a:cubicBezTo>
                    <a:pt x="5224145" y="0"/>
                    <a:pt x="5343525" y="119380"/>
                    <a:pt x="5343525" y="266700"/>
                  </a:cubicBezTo>
                  <a:lnTo>
                    <a:pt x="5343525" y="3257550"/>
                  </a:lnTo>
                  <a:cubicBezTo>
                    <a:pt x="5343525" y="3404870"/>
                    <a:pt x="5224145" y="3524250"/>
                    <a:pt x="5076825" y="3524250"/>
                  </a:cubicBezTo>
                  <a:lnTo>
                    <a:pt x="266700" y="3524250"/>
                  </a:lnTo>
                  <a:cubicBezTo>
                    <a:pt x="119380" y="3524250"/>
                    <a:pt x="0" y="3404870"/>
                    <a:pt x="0" y="3257550"/>
                  </a:cubicBezTo>
                  <a:close/>
                </a:path>
              </a:pathLst>
            </a:custGeom>
            <a:solidFill>
              <a:srgbClr val="0F172A"/>
            </a:solid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742950" y="571500"/>
            <a:ext cx="6886575" cy="542925"/>
            <a:chOff x="0" y="0"/>
            <a:chExt cx="9182100" cy="72390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9182100" cy="723900"/>
            </a:xfrm>
            <a:custGeom>
              <a:avLst/>
              <a:gdLst/>
              <a:ahLst/>
              <a:cxnLst/>
              <a:rect r="r" b="b" t="t" l="l"/>
              <a:pathLst>
                <a:path h="723900" w="9182100">
                  <a:moveTo>
                    <a:pt x="0" y="114300"/>
                  </a:moveTo>
                  <a:cubicBezTo>
                    <a:pt x="0" y="51181"/>
                    <a:pt x="51181" y="0"/>
                    <a:pt x="114300" y="0"/>
                  </a:cubicBezTo>
                  <a:lnTo>
                    <a:pt x="9067800" y="0"/>
                  </a:lnTo>
                  <a:cubicBezTo>
                    <a:pt x="9130919" y="0"/>
                    <a:pt x="9182100" y="51181"/>
                    <a:pt x="9182100" y="114300"/>
                  </a:cubicBezTo>
                  <a:lnTo>
                    <a:pt x="9182100" y="609600"/>
                  </a:lnTo>
                  <a:cubicBezTo>
                    <a:pt x="9182100" y="672719"/>
                    <a:pt x="9130919" y="723900"/>
                    <a:pt x="9067800" y="723900"/>
                  </a:cubicBezTo>
                  <a:lnTo>
                    <a:pt x="114300" y="723900"/>
                  </a:lnTo>
                  <a:cubicBezTo>
                    <a:pt x="51181" y="723900"/>
                    <a:pt x="0" y="672719"/>
                    <a:pt x="0" y="609600"/>
                  </a:cubicBezTo>
                  <a:close/>
                </a:path>
              </a:pathLst>
            </a:custGeom>
            <a:solidFill>
              <a:srgbClr val="0284C7"/>
            </a:solidFill>
          </p:spPr>
        </p:sp>
      </p:grpSp>
      <p:grpSp>
        <p:nvGrpSpPr>
          <p:cNvPr name="Group 16" id="16"/>
          <p:cNvGrpSpPr/>
          <p:nvPr/>
        </p:nvGrpSpPr>
        <p:grpSpPr>
          <a:xfrm rot="0">
            <a:off x="742950" y="9672638"/>
            <a:ext cx="4007644" cy="14288"/>
            <a:chOff x="0" y="0"/>
            <a:chExt cx="5343525" cy="1905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5343525" cy="19050"/>
            </a:xfrm>
            <a:custGeom>
              <a:avLst/>
              <a:gdLst/>
              <a:ahLst/>
              <a:cxnLst/>
              <a:rect r="r" b="b" t="t" l="l"/>
              <a:pathLst>
                <a:path h="19050" w="5343525">
                  <a:moveTo>
                    <a:pt x="0" y="0"/>
                  </a:moveTo>
                  <a:lnTo>
                    <a:pt x="5343525" y="0"/>
                  </a:lnTo>
                  <a:lnTo>
                    <a:pt x="5343525" y="19050"/>
                  </a:lnTo>
                  <a:lnTo>
                    <a:pt x="0" y="19050"/>
                  </a:lnTo>
                  <a:close/>
                </a:path>
              </a:pathLst>
            </a:custGeom>
            <a:solidFill>
              <a:srgbClr val="1E3A8A"/>
            </a:solidFill>
          </p:spPr>
        </p:sp>
      </p:grpSp>
      <p:grpSp>
        <p:nvGrpSpPr>
          <p:cNvPr name="Group 18" id="18"/>
          <p:cNvGrpSpPr/>
          <p:nvPr/>
        </p:nvGrpSpPr>
        <p:grpSpPr>
          <a:xfrm rot="0">
            <a:off x="742950" y="7043738"/>
            <a:ext cx="4007644" cy="57150"/>
            <a:chOff x="0" y="0"/>
            <a:chExt cx="5343525" cy="7620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5343525" cy="76200"/>
            </a:xfrm>
            <a:custGeom>
              <a:avLst/>
              <a:gdLst/>
              <a:ahLst/>
              <a:cxnLst/>
              <a:rect r="r" b="b" t="t" l="l"/>
              <a:pathLst>
                <a:path h="76200" w="5343525">
                  <a:moveTo>
                    <a:pt x="0" y="0"/>
                  </a:moveTo>
                  <a:lnTo>
                    <a:pt x="5343525" y="0"/>
                  </a:lnTo>
                  <a:lnTo>
                    <a:pt x="5343525" y="76200"/>
                  </a:lnTo>
                  <a:lnTo>
                    <a:pt x="0" y="76200"/>
                  </a:lnTo>
                  <a:close/>
                </a:path>
              </a:pathLst>
            </a:custGeom>
            <a:solidFill>
              <a:srgbClr val="38BDF8"/>
            </a:solidFill>
          </p:spPr>
        </p:sp>
      </p:grpSp>
      <p:grpSp>
        <p:nvGrpSpPr>
          <p:cNvPr name="Group 20" id="20"/>
          <p:cNvGrpSpPr/>
          <p:nvPr/>
        </p:nvGrpSpPr>
        <p:grpSpPr>
          <a:xfrm rot="0">
            <a:off x="742950" y="7043738"/>
            <a:ext cx="14288" cy="2643188"/>
            <a:chOff x="0" y="0"/>
            <a:chExt cx="19050" cy="352425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19050" cy="3524250"/>
            </a:xfrm>
            <a:custGeom>
              <a:avLst/>
              <a:gdLst/>
              <a:ahLst/>
              <a:cxnLst/>
              <a:rect r="r" b="b" t="t" l="l"/>
              <a:pathLst>
                <a:path h="3524250" w="19050">
                  <a:moveTo>
                    <a:pt x="0" y="0"/>
                  </a:moveTo>
                  <a:lnTo>
                    <a:pt x="19050" y="0"/>
                  </a:lnTo>
                  <a:lnTo>
                    <a:pt x="19050" y="3524250"/>
                  </a:lnTo>
                  <a:lnTo>
                    <a:pt x="0" y="3524250"/>
                  </a:lnTo>
                  <a:close/>
                </a:path>
              </a:pathLst>
            </a:custGeom>
            <a:solidFill>
              <a:srgbClr val="1E3A8A"/>
            </a:solidFill>
          </p:spPr>
        </p:sp>
      </p:grpSp>
      <p:grpSp>
        <p:nvGrpSpPr>
          <p:cNvPr name="Group 22" id="22"/>
          <p:cNvGrpSpPr/>
          <p:nvPr/>
        </p:nvGrpSpPr>
        <p:grpSpPr>
          <a:xfrm rot="0">
            <a:off x="4736306" y="7043738"/>
            <a:ext cx="14288" cy="2643188"/>
            <a:chOff x="0" y="0"/>
            <a:chExt cx="19050" cy="3524250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19050" cy="3524250"/>
            </a:xfrm>
            <a:custGeom>
              <a:avLst/>
              <a:gdLst/>
              <a:ahLst/>
              <a:cxnLst/>
              <a:rect r="r" b="b" t="t" l="l"/>
              <a:pathLst>
                <a:path h="3524250" w="19050">
                  <a:moveTo>
                    <a:pt x="0" y="0"/>
                  </a:moveTo>
                  <a:lnTo>
                    <a:pt x="19050" y="0"/>
                  </a:lnTo>
                  <a:lnTo>
                    <a:pt x="19050" y="3524250"/>
                  </a:lnTo>
                  <a:lnTo>
                    <a:pt x="0" y="3524250"/>
                  </a:lnTo>
                  <a:close/>
                </a:path>
              </a:pathLst>
            </a:custGeom>
            <a:solidFill>
              <a:srgbClr val="1E3A8A"/>
            </a:solidFill>
          </p:spPr>
        </p:sp>
      </p:grpSp>
      <p:grpSp>
        <p:nvGrpSpPr>
          <p:cNvPr name="Group 24" id="24"/>
          <p:cNvGrpSpPr/>
          <p:nvPr/>
        </p:nvGrpSpPr>
        <p:grpSpPr>
          <a:xfrm rot="0">
            <a:off x="5007769" y="9672638"/>
            <a:ext cx="4007644" cy="14288"/>
            <a:chOff x="0" y="0"/>
            <a:chExt cx="5343525" cy="19050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5343525" cy="19050"/>
            </a:xfrm>
            <a:custGeom>
              <a:avLst/>
              <a:gdLst/>
              <a:ahLst/>
              <a:cxnLst/>
              <a:rect r="r" b="b" t="t" l="l"/>
              <a:pathLst>
                <a:path h="19050" w="5343525">
                  <a:moveTo>
                    <a:pt x="0" y="0"/>
                  </a:moveTo>
                  <a:lnTo>
                    <a:pt x="5343525" y="0"/>
                  </a:lnTo>
                  <a:lnTo>
                    <a:pt x="5343525" y="19050"/>
                  </a:lnTo>
                  <a:lnTo>
                    <a:pt x="0" y="19050"/>
                  </a:lnTo>
                  <a:close/>
                </a:path>
              </a:pathLst>
            </a:custGeom>
            <a:solidFill>
              <a:srgbClr val="1E3A8A"/>
            </a:solidFill>
          </p:spPr>
        </p:sp>
      </p:grpSp>
      <p:grpSp>
        <p:nvGrpSpPr>
          <p:cNvPr name="Group 26" id="26"/>
          <p:cNvGrpSpPr/>
          <p:nvPr/>
        </p:nvGrpSpPr>
        <p:grpSpPr>
          <a:xfrm rot="0">
            <a:off x="5007769" y="7043738"/>
            <a:ext cx="4007644" cy="57150"/>
            <a:chOff x="0" y="0"/>
            <a:chExt cx="5343525" cy="76200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5343525" cy="76200"/>
            </a:xfrm>
            <a:custGeom>
              <a:avLst/>
              <a:gdLst/>
              <a:ahLst/>
              <a:cxnLst/>
              <a:rect r="r" b="b" t="t" l="l"/>
              <a:pathLst>
                <a:path h="76200" w="5343525">
                  <a:moveTo>
                    <a:pt x="0" y="0"/>
                  </a:moveTo>
                  <a:lnTo>
                    <a:pt x="5343525" y="0"/>
                  </a:lnTo>
                  <a:lnTo>
                    <a:pt x="5343525" y="76200"/>
                  </a:lnTo>
                  <a:lnTo>
                    <a:pt x="0" y="76200"/>
                  </a:lnTo>
                  <a:close/>
                </a:path>
              </a:pathLst>
            </a:custGeom>
            <a:solidFill>
              <a:srgbClr val="0284C7"/>
            </a:solidFill>
          </p:spPr>
        </p:sp>
      </p:grpSp>
      <p:grpSp>
        <p:nvGrpSpPr>
          <p:cNvPr name="Group 28" id="28"/>
          <p:cNvGrpSpPr/>
          <p:nvPr/>
        </p:nvGrpSpPr>
        <p:grpSpPr>
          <a:xfrm rot="0">
            <a:off x="5007769" y="7043738"/>
            <a:ext cx="14288" cy="2643188"/>
            <a:chOff x="0" y="0"/>
            <a:chExt cx="19050" cy="3524250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19050" cy="3524250"/>
            </a:xfrm>
            <a:custGeom>
              <a:avLst/>
              <a:gdLst/>
              <a:ahLst/>
              <a:cxnLst/>
              <a:rect r="r" b="b" t="t" l="l"/>
              <a:pathLst>
                <a:path h="3524250" w="19050">
                  <a:moveTo>
                    <a:pt x="0" y="0"/>
                  </a:moveTo>
                  <a:lnTo>
                    <a:pt x="19050" y="0"/>
                  </a:lnTo>
                  <a:lnTo>
                    <a:pt x="19050" y="3524250"/>
                  </a:lnTo>
                  <a:lnTo>
                    <a:pt x="0" y="3524250"/>
                  </a:lnTo>
                  <a:close/>
                </a:path>
              </a:pathLst>
            </a:custGeom>
            <a:solidFill>
              <a:srgbClr val="1E3A8A"/>
            </a:solidFill>
          </p:spPr>
        </p:sp>
      </p:grpSp>
      <p:grpSp>
        <p:nvGrpSpPr>
          <p:cNvPr name="Group 30" id="30"/>
          <p:cNvGrpSpPr/>
          <p:nvPr/>
        </p:nvGrpSpPr>
        <p:grpSpPr>
          <a:xfrm rot="0">
            <a:off x="9001125" y="7043738"/>
            <a:ext cx="14288" cy="2643188"/>
            <a:chOff x="0" y="0"/>
            <a:chExt cx="19050" cy="3524250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19050" cy="3524250"/>
            </a:xfrm>
            <a:custGeom>
              <a:avLst/>
              <a:gdLst/>
              <a:ahLst/>
              <a:cxnLst/>
              <a:rect r="r" b="b" t="t" l="l"/>
              <a:pathLst>
                <a:path h="3524250" w="19050">
                  <a:moveTo>
                    <a:pt x="0" y="0"/>
                  </a:moveTo>
                  <a:lnTo>
                    <a:pt x="19050" y="0"/>
                  </a:lnTo>
                  <a:lnTo>
                    <a:pt x="19050" y="3524250"/>
                  </a:lnTo>
                  <a:lnTo>
                    <a:pt x="0" y="3524250"/>
                  </a:lnTo>
                  <a:close/>
                </a:path>
              </a:pathLst>
            </a:custGeom>
            <a:solidFill>
              <a:srgbClr val="1E3A8A"/>
            </a:solidFill>
          </p:spPr>
        </p:sp>
      </p:grpSp>
      <p:grpSp>
        <p:nvGrpSpPr>
          <p:cNvPr name="Group 32" id="32"/>
          <p:cNvGrpSpPr/>
          <p:nvPr/>
        </p:nvGrpSpPr>
        <p:grpSpPr>
          <a:xfrm rot="0">
            <a:off x="9272588" y="9672638"/>
            <a:ext cx="4007644" cy="14288"/>
            <a:chOff x="0" y="0"/>
            <a:chExt cx="5343525" cy="19050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5343525" cy="19050"/>
            </a:xfrm>
            <a:custGeom>
              <a:avLst/>
              <a:gdLst/>
              <a:ahLst/>
              <a:cxnLst/>
              <a:rect r="r" b="b" t="t" l="l"/>
              <a:pathLst>
                <a:path h="19050" w="5343525">
                  <a:moveTo>
                    <a:pt x="0" y="0"/>
                  </a:moveTo>
                  <a:lnTo>
                    <a:pt x="5343525" y="0"/>
                  </a:lnTo>
                  <a:lnTo>
                    <a:pt x="5343525" y="19050"/>
                  </a:lnTo>
                  <a:lnTo>
                    <a:pt x="0" y="19050"/>
                  </a:lnTo>
                  <a:close/>
                </a:path>
              </a:pathLst>
            </a:custGeom>
            <a:solidFill>
              <a:srgbClr val="1E3A8A"/>
            </a:solidFill>
          </p:spPr>
        </p:sp>
      </p:grpSp>
      <p:grpSp>
        <p:nvGrpSpPr>
          <p:cNvPr name="Group 34" id="34"/>
          <p:cNvGrpSpPr/>
          <p:nvPr/>
        </p:nvGrpSpPr>
        <p:grpSpPr>
          <a:xfrm rot="0">
            <a:off x="9272588" y="7043738"/>
            <a:ext cx="4007644" cy="57150"/>
            <a:chOff x="0" y="0"/>
            <a:chExt cx="5343525" cy="76200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5343525" cy="76200"/>
            </a:xfrm>
            <a:custGeom>
              <a:avLst/>
              <a:gdLst/>
              <a:ahLst/>
              <a:cxnLst/>
              <a:rect r="r" b="b" t="t" l="l"/>
              <a:pathLst>
                <a:path h="76200" w="5343525">
                  <a:moveTo>
                    <a:pt x="0" y="0"/>
                  </a:moveTo>
                  <a:lnTo>
                    <a:pt x="5343525" y="0"/>
                  </a:lnTo>
                  <a:lnTo>
                    <a:pt x="5343525" y="76200"/>
                  </a:lnTo>
                  <a:lnTo>
                    <a:pt x="0" y="76200"/>
                  </a:lnTo>
                  <a:close/>
                </a:path>
              </a:pathLst>
            </a:custGeom>
            <a:solidFill>
              <a:srgbClr val="60A5FA"/>
            </a:solidFill>
          </p:spPr>
        </p:sp>
      </p:grpSp>
      <p:grpSp>
        <p:nvGrpSpPr>
          <p:cNvPr name="Group 36" id="36"/>
          <p:cNvGrpSpPr/>
          <p:nvPr/>
        </p:nvGrpSpPr>
        <p:grpSpPr>
          <a:xfrm rot="0">
            <a:off x="9272588" y="7043738"/>
            <a:ext cx="14288" cy="2643188"/>
            <a:chOff x="0" y="0"/>
            <a:chExt cx="19050" cy="3524250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19050" cy="3524250"/>
            </a:xfrm>
            <a:custGeom>
              <a:avLst/>
              <a:gdLst/>
              <a:ahLst/>
              <a:cxnLst/>
              <a:rect r="r" b="b" t="t" l="l"/>
              <a:pathLst>
                <a:path h="3524250" w="19050">
                  <a:moveTo>
                    <a:pt x="0" y="0"/>
                  </a:moveTo>
                  <a:lnTo>
                    <a:pt x="19050" y="0"/>
                  </a:lnTo>
                  <a:lnTo>
                    <a:pt x="19050" y="3524250"/>
                  </a:lnTo>
                  <a:lnTo>
                    <a:pt x="0" y="3524250"/>
                  </a:lnTo>
                  <a:close/>
                </a:path>
              </a:pathLst>
            </a:custGeom>
            <a:solidFill>
              <a:srgbClr val="1E3A8A"/>
            </a:solidFill>
          </p:spPr>
        </p:sp>
      </p:grpSp>
      <p:grpSp>
        <p:nvGrpSpPr>
          <p:cNvPr name="Group 38" id="38"/>
          <p:cNvGrpSpPr/>
          <p:nvPr/>
        </p:nvGrpSpPr>
        <p:grpSpPr>
          <a:xfrm rot="0">
            <a:off x="13265944" y="7043738"/>
            <a:ext cx="14288" cy="2643188"/>
            <a:chOff x="0" y="0"/>
            <a:chExt cx="19050" cy="3524250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19050" cy="3524250"/>
            </a:xfrm>
            <a:custGeom>
              <a:avLst/>
              <a:gdLst/>
              <a:ahLst/>
              <a:cxnLst/>
              <a:rect r="r" b="b" t="t" l="l"/>
              <a:pathLst>
                <a:path h="3524250" w="19050">
                  <a:moveTo>
                    <a:pt x="0" y="0"/>
                  </a:moveTo>
                  <a:lnTo>
                    <a:pt x="19050" y="0"/>
                  </a:lnTo>
                  <a:lnTo>
                    <a:pt x="19050" y="3524250"/>
                  </a:lnTo>
                  <a:lnTo>
                    <a:pt x="0" y="3524250"/>
                  </a:lnTo>
                  <a:close/>
                </a:path>
              </a:pathLst>
            </a:custGeom>
            <a:solidFill>
              <a:srgbClr val="1E3A8A"/>
            </a:solidFill>
          </p:spPr>
        </p:sp>
      </p:grpSp>
      <p:grpSp>
        <p:nvGrpSpPr>
          <p:cNvPr name="Group 40" id="40"/>
          <p:cNvGrpSpPr/>
          <p:nvPr/>
        </p:nvGrpSpPr>
        <p:grpSpPr>
          <a:xfrm rot="0">
            <a:off x="13537406" y="9672638"/>
            <a:ext cx="4007644" cy="14288"/>
            <a:chOff x="0" y="0"/>
            <a:chExt cx="5343525" cy="19050"/>
          </a:xfrm>
        </p:grpSpPr>
        <p:sp>
          <p:nvSpPr>
            <p:cNvPr name="Freeform 41" id="41"/>
            <p:cNvSpPr/>
            <p:nvPr/>
          </p:nvSpPr>
          <p:spPr>
            <a:xfrm flipH="false" flipV="false" rot="0">
              <a:off x="0" y="0"/>
              <a:ext cx="5343525" cy="19050"/>
            </a:xfrm>
            <a:custGeom>
              <a:avLst/>
              <a:gdLst/>
              <a:ahLst/>
              <a:cxnLst/>
              <a:rect r="r" b="b" t="t" l="l"/>
              <a:pathLst>
                <a:path h="19050" w="5343525">
                  <a:moveTo>
                    <a:pt x="0" y="0"/>
                  </a:moveTo>
                  <a:lnTo>
                    <a:pt x="5343525" y="0"/>
                  </a:lnTo>
                  <a:lnTo>
                    <a:pt x="5343525" y="19050"/>
                  </a:lnTo>
                  <a:lnTo>
                    <a:pt x="0" y="19050"/>
                  </a:lnTo>
                  <a:close/>
                </a:path>
              </a:pathLst>
            </a:custGeom>
            <a:solidFill>
              <a:srgbClr val="1E3A8A"/>
            </a:solidFill>
          </p:spPr>
        </p:sp>
      </p:grpSp>
      <p:grpSp>
        <p:nvGrpSpPr>
          <p:cNvPr name="Group 42" id="42"/>
          <p:cNvGrpSpPr/>
          <p:nvPr/>
        </p:nvGrpSpPr>
        <p:grpSpPr>
          <a:xfrm rot="0">
            <a:off x="13537406" y="7043738"/>
            <a:ext cx="4007644" cy="57150"/>
            <a:chOff x="0" y="0"/>
            <a:chExt cx="5343525" cy="76200"/>
          </a:xfrm>
        </p:grpSpPr>
        <p:sp>
          <p:nvSpPr>
            <p:cNvPr name="Freeform 43" id="43"/>
            <p:cNvSpPr/>
            <p:nvPr/>
          </p:nvSpPr>
          <p:spPr>
            <a:xfrm flipH="false" flipV="false" rot="0">
              <a:off x="0" y="0"/>
              <a:ext cx="5343525" cy="76200"/>
            </a:xfrm>
            <a:custGeom>
              <a:avLst/>
              <a:gdLst/>
              <a:ahLst/>
              <a:cxnLst/>
              <a:rect r="r" b="b" t="t" l="l"/>
              <a:pathLst>
                <a:path h="76200" w="5343525">
                  <a:moveTo>
                    <a:pt x="0" y="0"/>
                  </a:moveTo>
                  <a:lnTo>
                    <a:pt x="5343525" y="0"/>
                  </a:lnTo>
                  <a:lnTo>
                    <a:pt x="5343525" y="76200"/>
                  </a:lnTo>
                  <a:lnTo>
                    <a:pt x="0" y="76200"/>
                  </a:lnTo>
                  <a:close/>
                </a:path>
              </a:pathLst>
            </a:custGeom>
            <a:solidFill>
              <a:srgbClr val="A855F7"/>
            </a:solidFill>
          </p:spPr>
        </p:sp>
      </p:grpSp>
      <p:grpSp>
        <p:nvGrpSpPr>
          <p:cNvPr name="Group 44" id="44"/>
          <p:cNvGrpSpPr/>
          <p:nvPr/>
        </p:nvGrpSpPr>
        <p:grpSpPr>
          <a:xfrm rot="0">
            <a:off x="13537406" y="7043738"/>
            <a:ext cx="14288" cy="2643188"/>
            <a:chOff x="0" y="0"/>
            <a:chExt cx="19050" cy="3524250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0" y="0"/>
              <a:ext cx="19050" cy="3524250"/>
            </a:xfrm>
            <a:custGeom>
              <a:avLst/>
              <a:gdLst/>
              <a:ahLst/>
              <a:cxnLst/>
              <a:rect r="r" b="b" t="t" l="l"/>
              <a:pathLst>
                <a:path h="3524250" w="19050">
                  <a:moveTo>
                    <a:pt x="0" y="0"/>
                  </a:moveTo>
                  <a:lnTo>
                    <a:pt x="19050" y="0"/>
                  </a:lnTo>
                  <a:lnTo>
                    <a:pt x="19050" y="3524250"/>
                  </a:lnTo>
                  <a:lnTo>
                    <a:pt x="0" y="3524250"/>
                  </a:lnTo>
                  <a:close/>
                </a:path>
              </a:pathLst>
            </a:custGeom>
            <a:solidFill>
              <a:srgbClr val="1E3A8A"/>
            </a:solidFill>
          </p:spPr>
        </p:sp>
      </p:grpSp>
      <p:grpSp>
        <p:nvGrpSpPr>
          <p:cNvPr name="Group 46" id="46"/>
          <p:cNvGrpSpPr/>
          <p:nvPr/>
        </p:nvGrpSpPr>
        <p:grpSpPr>
          <a:xfrm rot="0">
            <a:off x="17530762" y="7043738"/>
            <a:ext cx="14288" cy="2643188"/>
            <a:chOff x="0" y="0"/>
            <a:chExt cx="19050" cy="3524250"/>
          </a:xfrm>
        </p:grpSpPr>
        <p:sp>
          <p:nvSpPr>
            <p:cNvPr name="Freeform 47" id="47"/>
            <p:cNvSpPr/>
            <p:nvPr/>
          </p:nvSpPr>
          <p:spPr>
            <a:xfrm flipH="false" flipV="false" rot="0">
              <a:off x="0" y="0"/>
              <a:ext cx="19050" cy="3524250"/>
            </a:xfrm>
            <a:custGeom>
              <a:avLst/>
              <a:gdLst/>
              <a:ahLst/>
              <a:cxnLst/>
              <a:rect r="r" b="b" t="t" l="l"/>
              <a:pathLst>
                <a:path h="3524250" w="19050">
                  <a:moveTo>
                    <a:pt x="0" y="0"/>
                  </a:moveTo>
                  <a:lnTo>
                    <a:pt x="19050" y="0"/>
                  </a:lnTo>
                  <a:lnTo>
                    <a:pt x="19050" y="3524250"/>
                  </a:lnTo>
                  <a:lnTo>
                    <a:pt x="0" y="3524250"/>
                  </a:lnTo>
                  <a:close/>
                </a:path>
              </a:pathLst>
            </a:custGeom>
            <a:solidFill>
              <a:srgbClr val="1E3A8A"/>
            </a:solidFill>
          </p:spPr>
        </p:sp>
      </p:grpSp>
      <p:sp>
        <p:nvSpPr>
          <p:cNvPr name="TextBox 48" id="48"/>
          <p:cNvSpPr txBox="true"/>
          <p:nvPr/>
        </p:nvSpPr>
        <p:spPr>
          <a:xfrm rot="0">
            <a:off x="742950" y="1485900"/>
            <a:ext cx="8709124" cy="9258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244"/>
              </a:lnSpc>
            </a:pPr>
            <a:r>
              <a:rPr lang="en-US" sz="6300" b="true">
                <a:solidFill>
                  <a:srgbClr val="FFFFFF"/>
                </a:solidFill>
                <a:latin typeface="Prompt Bold"/>
                <a:ea typeface="Prompt Bold"/>
                <a:cs typeface="Prompt Bold"/>
                <a:sym typeface="Prompt Bold"/>
              </a:rPr>
              <a:t>Retro Arena Survivor </a:t>
            </a:r>
          </a:p>
        </p:txBody>
      </p:sp>
      <p:sp>
        <p:nvSpPr>
          <p:cNvPr name="TextBox 49" id="49"/>
          <p:cNvSpPr txBox="true"/>
          <p:nvPr/>
        </p:nvSpPr>
        <p:spPr>
          <a:xfrm rot="0">
            <a:off x="742950" y="2482082"/>
            <a:ext cx="14430375" cy="11181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15"/>
              </a:lnSpc>
            </a:pPr>
            <a:r>
              <a:rPr lang="en-US" sz="2700">
                <a:solidFill>
                  <a:srgbClr val="94A3B8"/>
                </a:solidFill>
                <a:latin typeface="Calibri (MS)"/>
                <a:ea typeface="Calibri (MS)"/>
                <a:cs typeface="Calibri (MS)"/>
                <a:sym typeface="Calibri (MS)"/>
              </a:rPr>
              <a:t>เครื่องคอนโซลเกมเอาชีวิตรอดขนาดพกพา ขับเคลื่อนด้วยระบบสมองกลฝังตัว ESP32 ประมวลผลตรรกะและกราฟิกตรงบนฮาร์ดแวร์โดยไร้ Game Engine</a:t>
            </a:r>
          </a:p>
        </p:txBody>
      </p:sp>
      <p:sp>
        <p:nvSpPr>
          <p:cNvPr name="TextBox 50" id="50"/>
          <p:cNvSpPr txBox="true"/>
          <p:nvPr/>
        </p:nvSpPr>
        <p:spPr>
          <a:xfrm rot="0">
            <a:off x="971550" y="685800"/>
            <a:ext cx="6572250" cy="3143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25"/>
              </a:lnSpc>
            </a:pPr>
            <a:r>
              <a:rPr lang="en-US" sz="1687" b="true">
                <a:solidFill>
                  <a:srgbClr val="FFFFFF"/>
                </a:solidFill>
                <a:latin typeface="Space Mono Bold"/>
                <a:ea typeface="Space Mono Bold"/>
                <a:cs typeface="Space Mono Bold"/>
                <a:sym typeface="Space Mono Bold"/>
              </a:rPr>
              <a:t>COMPUTER ENGINEERING PROJECT • FIRMWARE + HARDWARE</a:t>
            </a:r>
          </a:p>
        </p:txBody>
      </p:sp>
      <p:sp>
        <p:nvSpPr>
          <p:cNvPr name="TextBox 51" id="51"/>
          <p:cNvSpPr txBox="true"/>
          <p:nvPr/>
        </p:nvSpPr>
        <p:spPr>
          <a:xfrm rot="0">
            <a:off x="13401675" y="671512"/>
            <a:ext cx="4286250" cy="266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sz="1800" b="true">
                <a:solidFill>
                  <a:srgbClr val="38BDF8"/>
                </a:solidFill>
                <a:latin typeface="Space Mono Bold"/>
                <a:ea typeface="Space Mono Bold"/>
                <a:cs typeface="Space Mono Bold"/>
                <a:sym typeface="Space Mono Bold"/>
              </a:rPr>
              <a:t>ESP32 RETRO SURVIVORS [01/09]</a:t>
            </a:r>
          </a:p>
        </p:txBody>
      </p:sp>
      <p:sp>
        <p:nvSpPr>
          <p:cNvPr name="TextBox 52" id="52"/>
          <p:cNvSpPr txBox="true"/>
          <p:nvPr/>
        </p:nvSpPr>
        <p:spPr>
          <a:xfrm rot="0">
            <a:off x="1100138" y="7443788"/>
            <a:ext cx="3436144" cy="2857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755"/>
              </a:lnSpc>
            </a:pPr>
            <a:r>
              <a:rPr lang="en-US" sz="1462" b="true">
                <a:solidFill>
                  <a:srgbClr val="38BDF8"/>
                </a:solidFill>
                <a:latin typeface="Space Mono Bold"/>
                <a:ea typeface="Space Mono Bold"/>
                <a:cs typeface="Space Mono Bold"/>
                <a:sym typeface="Space Mono Bold"/>
              </a:rPr>
              <a:t>TARGET HARDWARE</a:t>
            </a:r>
          </a:p>
        </p:txBody>
      </p:sp>
      <p:sp>
        <p:nvSpPr>
          <p:cNvPr name="TextBox 53" id="53"/>
          <p:cNvSpPr txBox="true"/>
          <p:nvPr/>
        </p:nvSpPr>
        <p:spPr>
          <a:xfrm rot="0">
            <a:off x="1100138" y="7805737"/>
            <a:ext cx="3607946" cy="8667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00"/>
              </a:lnSpc>
            </a:pPr>
            <a:r>
              <a:rPr lang="en-US" sz="2250" b="true">
                <a:solidFill>
                  <a:srgbClr val="FFFFFF"/>
                </a:solidFill>
                <a:latin typeface="Prompt Bold"/>
                <a:ea typeface="Prompt Bold"/>
                <a:cs typeface="Prompt Bold"/>
                <a:sym typeface="Prompt Bold"/>
              </a:rPr>
              <a:t>ESP32 DevKit (30/38 pin)</a:t>
            </a:r>
          </a:p>
        </p:txBody>
      </p:sp>
      <p:sp>
        <p:nvSpPr>
          <p:cNvPr name="TextBox 54" id="54"/>
          <p:cNvSpPr txBox="true"/>
          <p:nvPr/>
        </p:nvSpPr>
        <p:spPr>
          <a:xfrm rot="0">
            <a:off x="1100138" y="8691562"/>
            <a:ext cx="3436144" cy="638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sz="1800">
                <a:solidFill>
                  <a:srgbClr val="CBD5E1"/>
                </a:solidFill>
                <a:latin typeface="Calibri (MS)"/>
                <a:ea typeface="Calibri (MS)"/>
                <a:cs typeface="Calibri (MS)"/>
                <a:sym typeface="Calibri (MS)"/>
              </a:rPr>
              <a:t>ชิปประมวลผล Dual-Core Xtensa LX6</a:t>
            </a:r>
          </a:p>
        </p:txBody>
      </p:sp>
      <p:sp>
        <p:nvSpPr>
          <p:cNvPr name="TextBox 55" id="55"/>
          <p:cNvSpPr txBox="true"/>
          <p:nvPr/>
        </p:nvSpPr>
        <p:spPr>
          <a:xfrm rot="0">
            <a:off x="5364956" y="7443788"/>
            <a:ext cx="3436144" cy="2857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755"/>
              </a:lnSpc>
            </a:pPr>
            <a:r>
              <a:rPr lang="en-US" sz="1462" b="true">
                <a:solidFill>
                  <a:srgbClr val="38BDF8"/>
                </a:solidFill>
                <a:latin typeface="Space Mono Bold"/>
                <a:ea typeface="Space Mono Bold"/>
                <a:cs typeface="Space Mono Bold"/>
                <a:sym typeface="Space Mono Bold"/>
              </a:rPr>
              <a:t>ARCHITECTURE</a:t>
            </a:r>
          </a:p>
        </p:txBody>
      </p:sp>
      <p:sp>
        <p:nvSpPr>
          <p:cNvPr name="TextBox 56" id="56"/>
          <p:cNvSpPr txBox="true"/>
          <p:nvPr/>
        </p:nvSpPr>
        <p:spPr>
          <a:xfrm rot="0">
            <a:off x="5364956" y="7805737"/>
            <a:ext cx="3607946" cy="4381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00"/>
              </a:lnSpc>
            </a:pPr>
            <a:r>
              <a:rPr lang="en-US" sz="2250" b="true">
                <a:solidFill>
                  <a:srgbClr val="FFFFFF"/>
                </a:solidFill>
                <a:latin typeface="Prompt Bold"/>
                <a:ea typeface="Prompt Bold"/>
                <a:cs typeface="Prompt Bold"/>
                <a:sym typeface="Prompt Bold"/>
              </a:rPr>
              <a:t>Non-blocking FSM</a:t>
            </a:r>
          </a:p>
        </p:txBody>
      </p:sp>
      <p:sp>
        <p:nvSpPr>
          <p:cNvPr name="TextBox 57" id="57"/>
          <p:cNvSpPr txBox="true"/>
          <p:nvPr/>
        </p:nvSpPr>
        <p:spPr>
          <a:xfrm rot="0">
            <a:off x="5364956" y="8262938"/>
            <a:ext cx="3436144" cy="638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sz="1800">
                <a:solidFill>
                  <a:srgbClr val="CBD5E1"/>
                </a:solidFill>
                <a:latin typeface="Calibri (MS)"/>
                <a:ea typeface="Calibri (MS)"/>
                <a:cs typeface="Calibri (MS)"/>
                <a:sym typeface="Calibri (MS)"/>
              </a:rPr>
              <a:t>โครงสร้าง Finite State Machine แบบไม่บล็อกเวลา</a:t>
            </a:r>
          </a:p>
        </p:txBody>
      </p:sp>
      <p:sp>
        <p:nvSpPr>
          <p:cNvPr name="TextBox 58" id="58"/>
          <p:cNvSpPr txBox="true"/>
          <p:nvPr/>
        </p:nvSpPr>
        <p:spPr>
          <a:xfrm rot="0">
            <a:off x="9629775" y="7443788"/>
            <a:ext cx="3436144" cy="2857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755"/>
              </a:lnSpc>
            </a:pPr>
            <a:r>
              <a:rPr lang="en-US" sz="1462" b="true">
                <a:solidFill>
                  <a:srgbClr val="38BDF8"/>
                </a:solidFill>
                <a:latin typeface="Space Mono Bold"/>
                <a:ea typeface="Space Mono Bold"/>
                <a:cs typeface="Space Mono Bold"/>
                <a:sym typeface="Space Mono Bold"/>
              </a:rPr>
              <a:t>INPUTS &amp; OUTPUTS</a:t>
            </a:r>
          </a:p>
        </p:txBody>
      </p:sp>
      <p:sp>
        <p:nvSpPr>
          <p:cNvPr name="TextBox 59" id="59"/>
          <p:cNvSpPr txBox="true"/>
          <p:nvPr/>
        </p:nvSpPr>
        <p:spPr>
          <a:xfrm rot="0">
            <a:off x="9629775" y="7805737"/>
            <a:ext cx="3607946" cy="3524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00"/>
              </a:lnSpc>
            </a:pPr>
            <a:r>
              <a:rPr lang="en-US" sz="2250" b="true">
                <a:solidFill>
                  <a:srgbClr val="FFFFFF"/>
                </a:solidFill>
                <a:latin typeface="Prompt Bold"/>
                <a:ea typeface="Prompt Bold"/>
                <a:cs typeface="Prompt Bold"/>
                <a:sym typeface="Prompt Bold"/>
              </a:rPr>
              <a:t>3</a:t>
            </a:r>
            <a:r>
              <a:rPr lang="en-US" sz="2250" b="true">
                <a:solidFill>
                  <a:srgbClr val="FFFFFF"/>
                </a:solidFill>
                <a:latin typeface="Prompt Bold"/>
                <a:ea typeface="Prompt Bold"/>
                <a:cs typeface="Prompt Bold"/>
                <a:sym typeface="Prompt Bold"/>
              </a:rPr>
              <a:t> Inputs / 3 Outputs</a:t>
            </a:r>
          </a:p>
        </p:txBody>
      </p:sp>
      <p:sp>
        <p:nvSpPr>
          <p:cNvPr name="TextBox 60" id="60"/>
          <p:cNvSpPr txBox="true"/>
          <p:nvPr/>
        </p:nvSpPr>
        <p:spPr>
          <a:xfrm rot="0">
            <a:off x="9629775" y="8262938"/>
            <a:ext cx="3436144" cy="638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sz="1800">
                <a:solidFill>
                  <a:srgbClr val="CBD5E1"/>
                </a:solidFill>
                <a:latin typeface="Calibri (MS)"/>
                <a:ea typeface="Calibri (MS)"/>
                <a:cs typeface="Calibri (MS)"/>
                <a:sym typeface="Calibri (MS)"/>
              </a:rPr>
              <a:t>จอยสติ๊ก, ปุ่มกด, ตัวปรับแสง, ไฟ LED, เสียง SFX</a:t>
            </a:r>
          </a:p>
        </p:txBody>
      </p:sp>
      <p:sp>
        <p:nvSpPr>
          <p:cNvPr name="TextBox 61" id="61"/>
          <p:cNvSpPr txBox="true"/>
          <p:nvPr/>
        </p:nvSpPr>
        <p:spPr>
          <a:xfrm rot="0">
            <a:off x="13894594" y="7443788"/>
            <a:ext cx="3436144" cy="2857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755"/>
              </a:lnSpc>
            </a:pPr>
            <a:r>
              <a:rPr lang="en-US" sz="1462" b="true">
                <a:solidFill>
                  <a:srgbClr val="C084FC"/>
                </a:solidFill>
                <a:latin typeface="Space Mono Bold"/>
                <a:ea typeface="Space Mono Bold"/>
                <a:cs typeface="Space Mono Bold"/>
                <a:sym typeface="Space Mono Bold"/>
              </a:rPr>
              <a:t>PRIMARY GOAL</a:t>
            </a:r>
          </a:p>
        </p:txBody>
      </p:sp>
      <p:sp>
        <p:nvSpPr>
          <p:cNvPr name="TextBox 62" id="62"/>
          <p:cNvSpPr txBox="true"/>
          <p:nvPr/>
        </p:nvSpPr>
        <p:spPr>
          <a:xfrm rot="0">
            <a:off x="13894594" y="7805737"/>
            <a:ext cx="3607946" cy="4381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00"/>
              </a:lnSpc>
            </a:pPr>
            <a:r>
              <a:rPr lang="en-US" sz="2250" b="true">
                <a:solidFill>
                  <a:srgbClr val="FFFFFF"/>
                </a:solidFill>
                <a:latin typeface="Prompt Bold"/>
                <a:ea typeface="Prompt Bold"/>
                <a:cs typeface="Prompt Bold"/>
                <a:sym typeface="Prompt Bold"/>
              </a:rPr>
              <a:t>Top-Down Survival</a:t>
            </a:r>
          </a:p>
        </p:txBody>
      </p:sp>
      <p:sp>
        <p:nvSpPr>
          <p:cNvPr name="TextBox 63" id="63"/>
          <p:cNvSpPr txBox="true"/>
          <p:nvPr/>
        </p:nvSpPr>
        <p:spPr>
          <a:xfrm rot="0">
            <a:off x="13894594" y="8262938"/>
            <a:ext cx="3436144" cy="638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sz="1800">
                <a:solidFill>
                  <a:srgbClr val="CBD5E1"/>
                </a:solidFill>
                <a:latin typeface="Calibri (MS)"/>
                <a:ea typeface="Calibri (MS)"/>
                <a:cs typeface="Calibri (MS)"/>
                <a:sym typeface="Calibri (MS)"/>
              </a:rPr>
              <a:t>เกมเรียลไทม์ต่อสู้เอาตัวรอดบนจอ TFT LCD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B132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10258425"/>
            <a:ext cx="18288000" cy="28575"/>
            <a:chOff x="0" y="0"/>
            <a:chExt cx="24384000" cy="381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38100"/>
            </a:xfrm>
            <a:custGeom>
              <a:avLst/>
              <a:gdLst/>
              <a:ahLst/>
              <a:cxnLst/>
              <a:rect r="r" b="b" t="t" l="l"/>
              <a:pathLst>
                <a:path h="381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38100"/>
                  </a:lnTo>
                  <a:lnTo>
                    <a:pt x="0" y="38100"/>
                  </a:lnTo>
                  <a:close/>
                </a:path>
              </a:pathLst>
            </a:custGeom>
            <a:solidFill>
              <a:srgbClr val="1E293B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16394906" y="1004364"/>
            <a:ext cx="1157288" cy="557212"/>
            <a:chOff x="0" y="0"/>
            <a:chExt cx="1543050" cy="74295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543177" cy="742950"/>
            </a:xfrm>
            <a:custGeom>
              <a:avLst/>
              <a:gdLst/>
              <a:ahLst/>
              <a:cxnLst/>
              <a:rect r="r" b="b" t="t" l="l"/>
              <a:pathLst>
                <a:path h="742950" w="1543177">
                  <a:moveTo>
                    <a:pt x="0" y="156464"/>
                  </a:moveTo>
                  <a:cubicBezTo>
                    <a:pt x="0" y="69977"/>
                    <a:pt x="69977" y="0"/>
                    <a:pt x="156464" y="0"/>
                  </a:cubicBezTo>
                  <a:lnTo>
                    <a:pt x="1386713" y="0"/>
                  </a:lnTo>
                  <a:cubicBezTo>
                    <a:pt x="1473073" y="0"/>
                    <a:pt x="1543177" y="69977"/>
                    <a:pt x="1543177" y="156464"/>
                  </a:cubicBezTo>
                  <a:lnTo>
                    <a:pt x="1543177" y="586486"/>
                  </a:lnTo>
                  <a:cubicBezTo>
                    <a:pt x="1543177" y="672846"/>
                    <a:pt x="1473200" y="742950"/>
                    <a:pt x="1386713" y="742950"/>
                  </a:cubicBezTo>
                  <a:lnTo>
                    <a:pt x="156464" y="742950"/>
                  </a:lnTo>
                  <a:cubicBezTo>
                    <a:pt x="69977" y="742950"/>
                    <a:pt x="0" y="672973"/>
                    <a:pt x="0" y="586486"/>
                  </a:cubicBezTo>
                  <a:close/>
                </a:path>
              </a:pathLst>
            </a:custGeom>
            <a:solidFill>
              <a:srgbClr val="1E293B"/>
            </a:solidFill>
            <a:ln w="14288" cap="sq">
              <a:solidFill>
                <a:srgbClr val="0284C7"/>
              </a:solidFill>
              <a:prstDash val="solid"/>
              <a:miter/>
            </a:ln>
          </p:spPr>
        </p:sp>
      </p:grpSp>
      <p:grpSp>
        <p:nvGrpSpPr>
          <p:cNvPr name="Group 6" id="6"/>
          <p:cNvGrpSpPr/>
          <p:nvPr/>
        </p:nvGrpSpPr>
        <p:grpSpPr>
          <a:xfrm rot="0">
            <a:off x="4100284" y="3698900"/>
            <a:ext cx="785812" cy="442912"/>
            <a:chOff x="0" y="0"/>
            <a:chExt cx="1047750" cy="59055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047750" cy="590550"/>
            </a:xfrm>
            <a:custGeom>
              <a:avLst/>
              <a:gdLst/>
              <a:ahLst/>
              <a:cxnLst/>
              <a:rect r="r" b="b" t="t" l="l"/>
              <a:pathLst>
                <a:path h="590550" w="1047750">
                  <a:moveTo>
                    <a:pt x="0" y="118110"/>
                  </a:moveTo>
                  <a:cubicBezTo>
                    <a:pt x="0" y="52832"/>
                    <a:pt x="52832" y="0"/>
                    <a:pt x="118110" y="0"/>
                  </a:cubicBezTo>
                  <a:lnTo>
                    <a:pt x="929640" y="0"/>
                  </a:lnTo>
                  <a:cubicBezTo>
                    <a:pt x="994918" y="0"/>
                    <a:pt x="1047750" y="52832"/>
                    <a:pt x="1047750" y="118110"/>
                  </a:cubicBezTo>
                  <a:lnTo>
                    <a:pt x="1047750" y="472440"/>
                  </a:lnTo>
                  <a:cubicBezTo>
                    <a:pt x="1047750" y="537718"/>
                    <a:pt x="994918" y="590550"/>
                    <a:pt x="929640" y="590550"/>
                  </a:cubicBezTo>
                  <a:lnTo>
                    <a:pt x="118110" y="590550"/>
                  </a:lnTo>
                  <a:cubicBezTo>
                    <a:pt x="52832" y="590550"/>
                    <a:pt x="0" y="537718"/>
                    <a:pt x="0" y="472440"/>
                  </a:cubicBezTo>
                  <a:close/>
                </a:path>
              </a:pathLst>
            </a:custGeom>
            <a:solidFill>
              <a:srgbClr val="1E293B"/>
            </a:solidFill>
            <a:ln w="14288" cap="sq">
              <a:solidFill>
                <a:srgbClr val="0EA5E9"/>
              </a:solidFill>
              <a:prstDash val="solid"/>
              <a:miter/>
            </a:ln>
          </p:spPr>
        </p:sp>
      </p:grpSp>
      <p:grpSp>
        <p:nvGrpSpPr>
          <p:cNvPr name="Group 8" id="8"/>
          <p:cNvGrpSpPr/>
          <p:nvPr/>
        </p:nvGrpSpPr>
        <p:grpSpPr>
          <a:xfrm rot="0">
            <a:off x="4100284" y="4484713"/>
            <a:ext cx="785812" cy="442912"/>
            <a:chOff x="0" y="0"/>
            <a:chExt cx="1047750" cy="59055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047750" cy="590550"/>
            </a:xfrm>
            <a:custGeom>
              <a:avLst/>
              <a:gdLst/>
              <a:ahLst/>
              <a:cxnLst/>
              <a:rect r="r" b="b" t="t" l="l"/>
              <a:pathLst>
                <a:path h="590550" w="1047750">
                  <a:moveTo>
                    <a:pt x="0" y="118110"/>
                  </a:moveTo>
                  <a:cubicBezTo>
                    <a:pt x="0" y="52832"/>
                    <a:pt x="52832" y="0"/>
                    <a:pt x="118110" y="0"/>
                  </a:cubicBezTo>
                  <a:lnTo>
                    <a:pt x="929640" y="0"/>
                  </a:lnTo>
                  <a:cubicBezTo>
                    <a:pt x="994918" y="0"/>
                    <a:pt x="1047750" y="52832"/>
                    <a:pt x="1047750" y="118110"/>
                  </a:cubicBezTo>
                  <a:lnTo>
                    <a:pt x="1047750" y="472440"/>
                  </a:lnTo>
                  <a:cubicBezTo>
                    <a:pt x="1047750" y="537718"/>
                    <a:pt x="994918" y="590550"/>
                    <a:pt x="929640" y="590550"/>
                  </a:cubicBezTo>
                  <a:lnTo>
                    <a:pt x="118110" y="590550"/>
                  </a:lnTo>
                  <a:cubicBezTo>
                    <a:pt x="52832" y="590550"/>
                    <a:pt x="0" y="537718"/>
                    <a:pt x="0" y="472440"/>
                  </a:cubicBezTo>
                  <a:close/>
                </a:path>
              </a:pathLst>
            </a:custGeom>
            <a:solidFill>
              <a:srgbClr val="1E293B"/>
            </a:solidFill>
            <a:ln w="14288" cap="sq">
              <a:solidFill>
                <a:srgbClr val="0EA5E9"/>
              </a:solidFill>
              <a:prstDash val="solid"/>
              <a:miter/>
            </a:ln>
          </p:spPr>
        </p:sp>
      </p:grpSp>
      <p:grpSp>
        <p:nvGrpSpPr>
          <p:cNvPr name="Group 10" id="10"/>
          <p:cNvGrpSpPr/>
          <p:nvPr/>
        </p:nvGrpSpPr>
        <p:grpSpPr>
          <a:xfrm rot="0">
            <a:off x="4100284" y="5270525"/>
            <a:ext cx="1014412" cy="442912"/>
            <a:chOff x="0" y="0"/>
            <a:chExt cx="1352550" cy="59055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352550" cy="590550"/>
            </a:xfrm>
            <a:custGeom>
              <a:avLst/>
              <a:gdLst/>
              <a:ahLst/>
              <a:cxnLst/>
              <a:rect r="r" b="b" t="t" l="l"/>
              <a:pathLst>
                <a:path h="590550" w="1352550">
                  <a:moveTo>
                    <a:pt x="0" y="118110"/>
                  </a:moveTo>
                  <a:cubicBezTo>
                    <a:pt x="0" y="52832"/>
                    <a:pt x="52832" y="0"/>
                    <a:pt x="118110" y="0"/>
                  </a:cubicBezTo>
                  <a:lnTo>
                    <a:pt x="1234440" y="0"/>
                  </a:lnTo>
                  <a:cubicBezTo>
                    <a:pt x="1299718" y="0"/>
                    <a:pt x="1352550" y="52832"/>
                    <a:pt x="1352550" y="118110"/>
                  </a:cubicBezTo>
                  <a:lnTo>
                    <a:pt x="1352550" y="472440"/>
                  </a:lnTo>
                  <a:cubicBezTo>
                    <a:pt x="1352550" y="537718"/>
                    <a:pt x="1299718" y="590550"/>
                    <a:pt x="1234440" y="590550"/>
                  </a:cubicBezTo>
                  <a:lnTo>
                    <a:pt x="118110" y="590550"/>
                  </a:lnTo>
                  <a:cubicBezTo>
                    <a:pt x="52832" y="590550"/>
                    <a:pt x="0" y="537718"/>
                    <a:pt x="0" y="472440"/>
                  </a:cubicBezTo>
                  <a:close/>
                </a:path>
              </a:pathLst>
            </a:custGeom>
            <a:solidFill>
              <a:srgbClr val="1E293B"/>
            </a:solidFill>
            <a:ln w="14288" cap="sq">
              <a:solidFill>
                <a:srgbClr val="0EA5E9"/>
              </a:solidFill>
              <a:prstDash val="solid"/>
              <a:miter/>
            </a:ln>
          </p:spPr>
        </p:sp>
      </p:grpSp>
      <p:grpSp>
        <p:nvGrpSpPr>
          <p:cNvPr name="Group 12" id="12"/>
          <p:cNvGrpSpPr/>
          <p:nvPr/>
        </p:nvGrpSpPr>
        <p:grpSpPr>
          <a:xfrm rot="0">
            <a:off x="4100284" y="6056338"/>
            <a:ext cx="785812" cy="442912"/>
            <a:chOff x="0" y="0"/>
            <a:chExt cx="1047750" cy="59055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047750" cy="590550"/>
            </a:xfrm>
            <a:custGeom>
              <a:avLst/>
              <a:gdLst/>
              <a:ahLst/>
              <a:cxnLst/>
              <a:rect r="r" b="b" t="t" l="l"/>
              <a:pathLst>
                <a:path h="590550" w="1047750">
                  <a:moveTo>
                    <a:pt x="0" y="118110"/>
                  </a:moveTo>
                  <a:cubicBezTo>
                    <a:pt x="0" y="52832"/>
                    <a:pt x="52832" y="0"/>
                    <a:pt x="118110" y="0"/>
                  </a:cubicBezTo>
                  <a:lnTo>
                    <a:pt x="929640" y="0"/>
                  </a:lnTo>
                  <a:cubicBezTo>
                    <a:pt x="994918" y="0"/>
                    <a:pt x="1047750" y="52832"/>
                    <a:pt x="1047750" y="118110"/>
                  </a:cubicBezTo>
                  <a:lnTo>
                    <a:pt x="1047750" y="472440"/>
                  </a:lnTo>
                  <a:cubicBezTo>
                    <a:pt x="1047750" y="537718"/>
                    <a:pt x="994918" y="590550"/>
                    <a:pt x="929640" y="590550"/>
                  </a:cubicBezTo>
                  <a:lnTo>
                    <a:pt x="118110" y="590550"/>
                  </a:lnTo>
                  <a:cubicBezTo>
                    <a:pt x="52832" y="590550"/>
                    <a:pt x="0" y="537718"/>
                    <a:pt x="0" y="472440"/>
                  </a:cubicBezTo>
                  <a:close/>
                </a:path>
              </a:pathLst>
            </a:custGeom>
            <a:solidFill>
              <a:srgbClr val="1E293B"/>
            </a:solidFill>
            <a:ln w="14288" cap="sq">
              <a:solidFill>
                <a:srgbClr val="0EA5E9"/>
              </a:solidFill>
              <a:prstDash val="solid"/>
              <a:miter/>
            </a:ln>
          </p:spPr>
        </p:sp>
      </p:grpSp>
      <p:grpSp>
        <p:nvGrpSpPr>
          <p:cNvPr name="Group 14" id="14"/>
          <p:cNvGrpSpPr/>
          <p:nvPr/>
        </p:nvGrpSpPr>
        <p:grpSpPr>
          <a:xfrm rot="0">
            <a:off x="4100284" y="6842150"/>
            <a:ext cx="1243012" cy="442912"/>
            <a:chOff x="0" y="0"/>
            <a:chExt cx="1657350" cy="59055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1657350" cy="590550"/>
            </a:xfrm>
            <a:custGeom>
              <a:avLst/>
              <a:gdLst/>
              <a:ahLst/>
              <a:cxnLst/>
              <a:rect r="r" b="b" t="t" l="l"/>
              <a:pathLst>
                <a:path h="590550" w="1657350">
                  <a:moveTo>
                    <a:pt x="0" y="118110"/>
                  </a:moveTo>
                  <a:cubicBezTo>
                    <a:pt x="0" y="52832"/>
                    <a:pt x="52832" y="0"/>
                    <a:pt x="118110" y="0"/>
                  </a:cubicBezTo>
                  <a:lnTo>
                    <a:pt x="1539240" y="0"/>
                  </a:lnTo>
                  <a:cubicBezTo>
                    <a:pt x="1604518" y="0"/>
                    <a:pt x="1657350" y="52832"/>
                    <a:pt x="1657350" y="118110"/>
                  </a:cubicBezTo>
                  <a:lnTo>
                    <a:pt x="1657350" y="472440"/>
                  </a:lnTo>
                  <a:cubicBezTo>
                    <a:pt x="1657350" y="537718"/>
                    <a:pt x="1604518" y="590550"/>
                    <a:pt x="1539240" y="590550"/>
                  </a:cubicBezTo>
                  <a:lnTo>
                    <a:pt x="118110" y="590550"/>
                  </a:lnTo>
                  <a:cubicBezTo>
                    <a:pt x="52832" y="590550"/>
                    <a:pt x="0" y="537718"/>
                    <a:pt x="0" y="472440"/>
                  </a:cubicBezTo>
                  <a:close/>
                </a:path>
              </a:pathLst>
            </a:custGeom>
            <a:solidFill>
              <a:srgbClr val="1E293B"/>
            </a:solidFill>
            <a:ln w="14288" cap="sq">
              <a:solidFill>
                <a:srgbClr val="0EA5E9"/>
              </a:solidFill>
              <a:prstDash val="solid"/>
              <a:miter/>
            </a:ln>
          </p:spPr>
        </p:sp>
      </p:grpSp>
      <p:grpSp>
        <p:nvGrpSpPr>
          <p:cNvPr name="Group 16" id="16"/>
          <p:cNvGrpSpPr/>
          <p:nvPr/>
        </p:nvGrpSpPr>
        <p:grpSpPr>
          <a:xfrm rot="0">
            <a:off x="4100284" y="7627963"/>
            <a:ext cx="1014412" cy="442912"/>
            <a:chOff x="0" y="0"/>
            <a:chExt cx="1352550" cy="59055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1352550" cy="590550"/>
            </a:xfrm>
            <a:custGeom>
              <a:avLst/>
              <a:gdLst/>
              <a:ahLst/>
              <a:cxnLst/>
              <a:rect r="r" b="b" t="t" l="l"/>
              <a:pathLst>
                <a:path h="590550" w="1352550">
                  <a:moveTo>
                    <a:pt x="0" y="118110"/>
                  </a:moveTo>
                  <a:cubicBezTo>
                    <a:pt x="0" y="52832"/>
                    <a:pt x="52832" y="0"/>
                    <a:pt x="118110" y="0"/>
                  </a:cubicBezTo>
                  <a:lnTo>
                    <a:pt x="1234440" y="0"/>
                  </a:lnTo>
                  <a:cubicBezTo>
                    <a:pt x="1299718" y="0"/>
                    <a:pt x="1352550" y="52832"/>
                    <a:pt x="1352550" y="118110"/>
                  </a:cubicBezTo>
                  <a:lnTo>
                    <a:pt x="1352550" y="472440"/>
                  </a:lnTo>
                  <a:cubicBezTo>
                    <a:pt x="1352550" y="537718"/>
                    <a:pt x="1299718" y="590550"/>
                    <a:pt x="1234440" y="590550"/>
                  </a:cubicBezTo>
                  <a:lnTo>
                    <a:pt x="118110" y="590550"/>
                  </a:lnTo>
                  <a:cubicBezTo>
                    <a:pt x="52832" y="590550"/>
                    <a:pt x="0" y="537718"/>
                    <a:pt x="0" y="472440"/>
                  </a:cubicBezTo>
                  <a:close/>
                </a:path>
              </a:pathLst>
            </a:custGeom>
            <a:solidFill>
              <a:srgbClr val="1E293B"/>
            </a:solidFill>
            <a:ln w="14288" cap="sq">
              <a:solidFill>
                <a:srgbClr val="0EA5E9"/>
              </a:solidFill>
              <a:prstDash val="solid"/>
              <a:miter/>
            </a:ln>
          </p:spPr>
        </p:sp>
      </p:grpSp>
      <p:grpSp>
        <p:nvGrpSpPr>
          <p:cNvPr name="Group 18" id="18"/>
          <p:cNvGrpSpPr/>
          <p:nvPr/>
        </p:nvGrpSpPr>
        <p:grpSpPr>
          <a:xfrm rot="0">
            <a:off x="4100284" y="8413775"/>
            <a:ext cx="1243012" cy="442912"/>
            <a:chOff x="0" y="0"/>
            <a:chExt cx="1657350" cy="59055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1657350" cy="590550"/>
            </a:xfrm>
            <a:custGeom>
              <a:avLst/>
              <a:gdLst/>
              <a:ahLst/>
              <a:cxnLst/>
              <a:rect r="r" b="b" t="t" l="l"/>
              <a:pathLst>
                <a:path h="590550" w="1657350">
                  <a:moveTo>
                    <a:pt x="0" y="118110"/>
                  </a:moveTo>
                  <a:cubicBezTo>
                    <a:pt x="0" y="52832"/>
                    <a:pt x="52832" y="0"/>
                    <a:pt x="118110" y="0"/>
                  </a:cubicBezTo>
                  <a:lnTo>
                    <a:pt x="1539240" y="0"/>
                  </a:lnTo>
                  <a:cubicBezTo>
                    <a:pt x="1604518" y="0"/>
                    <a:pt x="1657350" y="52832"/>
                    <a:pt x="1657350" y="118110"/>
                  </a:cubicBezTo>
                  <a:lnTo>
                    <a:pt x="1657350" y="472440"/>
                  </a:lnTo>
                  <a:cubicBezTo>
                    <a:pt x="1657350" y="537718"/>
                    <a:pt x="1604518" y="590550"/>
                    <a:pt x="1539240" y="590550"/>
                  </a:cubicBezTo>
                  <a:lnTo>
                    <a:pt x="118110" y="590550"/>
                  </a:lnTo>
                  <a:cubicBezTo>
                    <a:pt x="52832" y="590550"/>
                    <a:pt x="0" y="537718"/>
                    <a:pt x="0" y="472440"/>
                  </a:cubicBezTo>
                  <a:close/>
                </a:path>
              </a:pathLst>
            </a:custGeom>
            <a:solidFill>
              <a:srgbClr val="1E293B"/>
            </a:solidFill>
            <a:ln w="14288" cap="sq">
              <a:solidFill>
                <a:srgbClr val="0EA5E9"/>
              </a:solidFill>
              <a:prstDash val="solid"/>
              <a:miter/>
            </a:ln>
          </p:spPr>
        </p:sp>
      </p:grpSp>
      <p:grpSp>
        <p:nvGrpSpPr>
          <p:cNvPr name="Group 20" id="20"/>
          <p:cNvGrpSpPr/>
          <p:nvPr/>
        </p:nvGrpSpPr>
        <p:grpSpPr>
          <a:xfrm rot="0">
            <a:off x="742950" y="1019994"/>
            <a:ext cx="485775" cy="485775"/>
            <a:chOff x="0" y="0"/>
            <a:chExt cx="647700" cy="647700"/>
          </a:xfrm>
        </p:grpSpPr>
        <p:sp>
          <p:nvSpPr>
            <p:cNvPr name="Freeform 21" id="21" descr="image.png"/>
            <p:cNvSpPr/>
            <p:nvPr/>
          </p:nvSpPr>
          <p:spPr>
            <a:xfrm flipH="false" flipV="false" rot="0">
              <a:off x="0" y="0"/>
              <a:ext cx="647700" cy="647700"/>
            </a:xfrm>
            <a:custGeom>
              <a:avLst/>
              <a:gdLst/>
              <a:ahLst/>
              <a:cxnLst/>
              <a:rect r="r" b="b" t="t" l="l"/>
              <a:pathLst>
                <a:path h="647700" w="647700">
                  <a:moveTo>
                    <a:pt x="0" y="0"/>
                  </a:moveTo>
                  <a:lnTo>
                    <a:pt x="647700" y="0"/>
                  </a:lnTo>
                  <a:lnTo>
                    <a:pt x="647700" y="647700"/>
                  </a:lnTo>
                  <a:lnTo>
                    <a:pt x="0" y="6477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-1470" r="0" b="-1470"/>
              </a:stretch>
            </a:blipFill>
          </p:spPr>
        </p:sp>
      </p:grpSp>
      <p:grpSp>
        <p:nvGrpSpPr>
          <p:cNvPr name="Group 22" id="22"/>
          <p:cNvGrpSpPr/>
          <p:nvPr/>
        </p:nvGrpSpPr>
        <p:grpSpPr>
          <a:xfrm rot="0">
            <a:off x="735806" y="2713063"/>
            <a:ext cx="16816388" cy="6329362"/>
            <a:chOff x="0" y="0"/>
            <a:chExt cx="22421850" cy="8439150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22421850" cy="8439150"/>
            </a:xfrm>
            <a:custGeom>
              <a:avLst/>
              <a:gdLst/>
              <a:ahLst/>
              <a:cxnLst/>
              <a:rect r="r" b="b" t="t" l="l"/>
              <a:pathLst>
                <a:path h="8439150" w="22421850">
                  <a:moveTo>
                    <a:pt x="0" y="0"/>
                  </a:moveTo>
                  <a:lnTo>
                    <a:pt x="22421850" y="0"/>
                  </a:lnTo>
                  <a:lnTo>
                    <a:pt x="22421850" y="8439150"/>
                  </a:lnTo>
                  <a:lnTo>
                    <a:pt x="0" y="8439150"/>
                  </a:lnTo>
                </a:path>
              </a:pathLst>
            </a:custGeom>
            <a:solidFill>
              <a:srgbClr val="0F172A"/>
            </a:solidFill>
            <a:ln w="14288" cap="sq">
              <a:solidFill>
                <a:srgbClr val="4A7EBB"/>
              </a:solidFill>
              <a:prstDash val="solid"/>
              <a:miter/>
            </a:ln>
          </p:spPr>
        </p:sp>
      </p:grpSp>
      <p:graphicFrame>
        <p:nvGraphicFramePr>
          <p:cNvPr name="Table 24" id="24"/>
          <p:cNvGraphicFramePr>
            <a:graphicFrameLocks noGrp="true"/>
          </p:cNvGraphicFramePr>
          <p:nvPr/>
        </p:nvGraphicFramePr>
        <p:xfrm>
          <a:off x="742950" y="2720205"/>
          <a:ext cx="16764000" cy="6248400"/>
        </p:xfrm>
        <a:graphic>
          <a:graphicData uri="http://schemas.openxmlformats.org/drawingml/2006/table">
            <a:tbl>
              <a:tblPr/>
              <a:tblGrid>
                <a:gridCol w="3067232"/>
                <a:gridCol w="2523070"/>
                <a:gridCol w="3863746"/>
                <a:gridCol w="7309952"/>
              </a:tblGrid>
              <a:tr h="781050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430"/>
                        </a:lnSpc>
                        <a:defRPr/>
                      </a:pPr>
                      <a:r>
                        <a:rPr lang="en-US" sz="2025" b="true">
                          <a:solidFill>
                            <a:srgbClr val="38BDF8"/>
                          </a:solidFill>
                          <a:latin typeface="Prompt Bold"/>
                          <a:ea typeface="Prompt Bold"/>
                          <a:cs typeface="Prompt Bold"/>
                          <a:sym typeface="Prompt Bold"/>
                        </a:rPr>
                        <a:t>GPIO Pin</a:t>
                      </a:r>
                      <a:endParaRPr lang="en-US" sz="1100"/>
                    </a:p>
                  </a:txBody>
                  <a:tcPr marL="63500" marR="63500" marT="63500" marB="6350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430"/>
                        </a:lnSpc>
                        <a:defRPr/>
                      </a:pPr>
                      <a:r>
                        <a:rPr lang="en-US" sz="2025" b="true">
                          <a:solidFill>
                            <a:srgbClr val="38BDF8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โหมดการทำงาน</a:t>
                      </a:r>
                      <a:endParaRPr lang="en-US" sz="1100"/>
                    </a:p>
                  </a:txBody>
                  <a:tcPr marL="63500" marR="63500" marT="63500" marB="6350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430"/>
                        </a:lnSpc>
                        <a:defRPr/>
                      </a:pPr>
                      <a:r>
                        <a:rPr lang="en-US" sz="2025" b="true">
                          <a:solidFill>
                            <a:srgbClr val="38BDF8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อุปกรณ์ฮาร์ดแวร์</a:t>
                      </a:r>
                      <a:endParaRPr lang="en-US" sz="1100"/>
                    </a:p>
                  </a:txBody>
                  <a:tcPr marL="63500" marR="63500" marT="63500" marB="6350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430"/>
                        </a:lnSpc>
                        <a:defRPr/>
                      </a:pPr>
                      <a:r>
                        <a:rPr lang="en-US" sz="2025" b="true">
                          <a:solidFill>
                            <a:srgbClr val="38BDF8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หน้าที่หลักในตรรกะเกม</a:t>
                      </a:r>
                      <a:endParaRPr lang="en-US" sz="1100"/>
                    </a:p>
                  </a:txBody>
                  <a:tcPr marL="63500" marR="63500" marT="63500" marB="6350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</a:tr>
              <a:tr h="781050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430"/>
                        </a:lnSpc>
                        <a:defRPr/>
                      </a:pPr>
                      <a:r>
                        <a:rPr lang="en-US" sz="2025" b="true">
                          <a:solidFill>
                            <a:srgbClr val="38BDF8"/>
                          </a:solidFill>
                          <a:latin typeface="Space Mono Bold"/>
                          <a:ea typeface="Space Mono Bold"/>
                          <a:cs typeface="Space Mono Bold"/>
                          <a:sym typeface="Space Mono Bold"/>
                        </a:rPr>
                        <a:t>GPIO 34</a:t>
                      </a:r>
                      <a:endParaRPr lang="en-US" sz="1100"/>
                    </a:p>
                  </a:txBody>
                  <a:tcPr marL="63500" marR="63500" marT="63500" marB="6350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679"/>
                        </a:lnSpc>
                        <a:defRPr/>
                      </a:pPr>
                      <a:endParaRPr lang="en-US" sz="1100"/>
                    </a:p>
                  </a:txBody>
                  <a:tcPr marL="63500" marR="63500" marT="63500" marB="6350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430"/>
                        </a:lnSpc>
                        <a:defRPr/>
                      </a:pPr>
                      <a:r>
                        <a:rPr lang="en-US" sz="2025" b="true">
                          <a:solidFill>
                            <a:srgbClr val="FFFFFF"/>
                          </a:solidFill>
                          <a:latin typeface="Sarabun Bold"/>
                          <a:ea typeface="Sarabun Bold"/>
                          <a:cs typeface="Sarabun Bold"/>
                          <a:sym typeface="Sarabun Bold"/>
                        </a:rPr>
                        <a:t>Analog Joystick X</a:t>
                      </a:r>
                      <a:endParaRPr lang="en-US" sz="1100"/>
                    </a:p>
                  </a:txBody>
                  <a:tcPr marL="63500" marR="63500" marT="63500" marB="6350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430"/>
                        </a:lnSpc>
                        <a:defRPr/>
                      </a:pPr>
                      <a:r>
                        <a:rPr lang="en-US" sz="2025">
                          <a:solidFill>
                            <a:srgbClr val="F8FAFC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ควบคุมการเคลื่อนที่แนวแกน X และเลื่อนเมนู</a:t>
                      </a:r>
                      <a:endParaRPr lang="en-US" sz="1100"/>
                    </a:p>
                  </a:txBody>
                  <a:tcPr marL="63500" marR="63500" marT="63500" marB="6350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</a:tr>
              <a:tr h="781050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430"/>
                        </a:lnSpc>
                        <a:defRPr/>
                      </a:pPr>
                      <a:r>
                        <a:rPr lang="en-US" sz="2025" b="true">
                          <a:solidFill>
                            <a:srgbClr val="38BDF8"/>
                          </a:solidFill>
                          <a:latin typeface="Space Mono Bold"/>
                          <a:ea typeface="Space Mono Bold"/>
                          <a:cs typeface="Space Mono Bold"/>
                          <a:sym typeface="Space Mono Bold"/>
                        </a:rPr>
                        <a:t>GPIO 33</a:t>
                      </a:r>
                      <a:endParaRPr lang="en-US" sz="1100"/>
                    </a:p>
                  </a:txBody>
                  <a:tcPr marL="63500" marR="63500" marT="63500" marB="6350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527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679"/>
                        </a:lnSpc>
                        <a:defRPr/>
                      </a:pPr>
                      <a:endParaRPr lang="en-US" sz="1100"/>
                    </a:p>
                  </a:txBody>
                  <a:tcPr marL="63500" marR="63500" marT="63500" marB="6350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527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430"/>
                        </a:lnSpc>
                        <a:defRPr/>
                      </a:pPr>
                      <a:r>
                        <a:rPr lang="en-US" sz="2025" b="true">
                          <a:solidFill>
                            <a:srgbClr val="FFFFFF"/>
                          </a:solidFill>
                          <a:latin typeface="Sarabun Bold"/>
                          <a:ea typeface="Sarabun Bold"/>
                          <a:cs typeface="Sarabun Bold"/>
                          <a:sym typeface="Sarabun Bold"/>
                        </a:rPr>
                        <a:t>Analog Joystick Y</a:t>
                      </a:r>
                      <a:endParaRPr lang="en-US" sz="1100"/>
                    </a:p>
                  </a:txBody>
                  <a:tcPr marL="63500" marR="63500" marT="63500" marB="6350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527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430"/>
                        </a:lnSpc>
                        <a:defRPr/>
                      </a:pPr>
                      <a:r>
                        <a:rPr lang="en-US" sz="2025">
                          <a:solidFill>
                            <a:srgbClr val="F8FAFC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ควบคุมการเคลื่อนที่แนวแกน Y และเลือกเมนูอัปเกรด</a:t>
                      </a:r>
                      <a:endParaRPr lang="en-US" sz="1100"/>
                    </a:p>
                  </a:txBody>
                  <a:tcPr marL="63500" marR="63500" marT="63500" marB="6350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527"/>
                    </a:solidFill>
                  </a:tcPr>
                </a:tc>
              </a:tr>
              <a:tr h="781050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430"/>
                        </a:lnSpc>
                        <a:defRPr/>
                      </a:pPr>
                      <a:r>
                        <a:rPr lang="en-US" sz="2025" b="true">
                          <a:solidFill>
                            <a:srgbClr val="60A5FA"/>
                          </a:solidFill>
                          <a:latin typeface="Space Mono Bold"/>
                          <a:ea typeface="Space Mono Bold"/>
                          <a:cs typeface="Space Mono Bold"/>
                          <a:sym typeface="Space Mono Bold"/>
                        </a:rPr>
                        <a:t>GPIO 25</a:t>
                      </a:r>
                      <a:endParaRPr lang="en-US" sz="1100"/>
                    </a:p>
                  </a:txBody>
                  <a:tcPr marL="63500" marR="63500" marT="63500" marB="6350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679"/>
                        </a:lnSpc>
                        <a:defRPr/>
                      </a:pPr>
                      <a:endParaRPr lang="en-US" sz="1100"/>
                    </a:p>
                  </a:txBody>
                  <a:tcPr marL="63500" marR="63500" marT="63500" marB="6350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430"/>
                        </a:lnSpc>
                        <a:defRPr/>
                      </a:pPr>
                      <a:r>
                        <a:rPr lang="en-US" sz="2025" b="true">
                          <a:solidFill>
                            <a:srgbClr val="FFFFFF"/>
                          </a:solidFill>
                          <a:latin typeface="Sarabun Bold"/>
                          <a:ea typeface="Sarabun Bold"/>
                          <a:cs typeface="Sarabun Bold"/>
                          <a:sym typeface="Sarabun Bold"/>
                        </a:rPr>
                        <a:t>Tactile Push Button</a:t>
                      </a:r>
                      <a:endParaRPr lang="en-US" sz="1100"/>
                    </a:p>
                  </a:txBody>
                  <a:tcPr marL="63500" marR="63500" marT="63500" marB="6350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430"/>
                        </a:lnSpc>
                        <a:defRPr/>
                      </a:pPr>
                      <a:r>
                        <a:rPr lang="en-US" sz="2025">
                          <a:solidFill>
                            <a:srgbClr val="F8FAFC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ปล่อยสกิลระเบิดฉุกเฉิน (AoE) และกดตกลงเมนู</a:t>
                      </a:r>
                      <a:endParaRPr lang="en-US" sz="1100"/>
                    </a:p>
                  </a:txBody>
                  <a:tcPr marL="63500" marR="63500" marT="63500" marB="6350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</a:tr>
              <a:tr h="781050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430"/>
                        </a:lnSpc>
                        <a:defRPr/>
                      </a:pPr>
                      <a:r>
                        <a:rPr lang="en-US" sz="2025" b="true">
                          <a:solidFill>
                            <a:srgbClr val="38BDF8"/>
                          </a:solidFill>
                          <a:latin typeface="Space Mono Bold"/>
                          <a:ea typeface="Space Mono Bold"/>
                          <a:cs typeface="Space Mono Bold"/>
                          <a:sym typeface="Space Mono Bold"/>
                        </a:rPr>
                        <a:t>GPIO 32</a:t>
                      </a:r>
                      <a:endParaRPr lang="en-US" sz="1100"/>
                    </a:p>
                  </a:txBody>
                  <a:tcPr marL="63500" marR="63500" marT="63500" marB="6350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527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679"/>
                        </a:lnSpc>
                        <a:defRPr/>
                      </a:pPr>
                      <a:endParaRPr lang="en-US" sz="1100"/>
                    </a:p>
                  </a:txBody>
                  <a:tcPr marL="63500" marR="63500" marT="63500" marB="6350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527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430"/>
                        </a:lnSpc>
                        <a:defRPr/>
                      </a:pPr>
                      <a:r>
                        <a:rPr lang="en-US" sz="2025" b="true">
                          <a:solidFill>
                            <a:srgbClr val="FFFFFF"/>
                          </a:solidFill>
                          <a:latin typeface="Sarabun Bold"/>
                          <a:ea typeface="Sarabun Bold"/>
                          <a:cs typeface="Sarabun Bold"/>
                          <a:sym typeface="Sarabun Bold"/>
                        </a:rPr>
                        <a:t>Contrast Potentiometer</a:t>
                      </a:r>
                      <a:endParaRPr lang="en-US" sz="1100"/>
                    </a:p>
                  </a:txBody>
                  <a:tcPr marL="63500" marR="63500" marT="63500" marB="6350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527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430"/>
                        </a:lnSpc>
                        <a:defRPr/>
                      </a:pPr>
                      <a:r>
                        <a:rPr lang="en-US" sz="2025">
                          <a:solidFill>
                            <a:srgbClr val="F8FAFC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ปรับความสว่างไฟ Backlight และปิดจอดำเมื่อต่ำสุด</a:t>
                      </a:r>
                      <a:endParaRPr lang="en-US" sz="1100"/>
                    </a:p>
                  </a:txBody>
                  <a:tcPr marL="63500" marR="63500" marT="63500" marB="6350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527"/>
                    </a:solidFill>
                  </a:tcPr>
                </a:tc>
              </a:tr>
              <a:tr h="781050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430"/>
                        </a:lnSpc>
                        <a:defRPr/>
                      </a:pPr>
                      <a:r>
                        <a:rPr lang="en-US" sz="2025" b="true">
                          <a:solidFill>
                            <a:srgbClr val="38BDF8"/>
                          </a:solidFill>
                          <a:latin typeface="Space Mono Bold"/>
                          <a:ea typeface="Space Mono Bold"/>
                          <a:cs typeface="Space Mono Bold"/>
                          <a:sym typeface="Space Mono Bold"/>
                        </a:rPr>
                        <a:t>SPI Pins</a:t>
                      </a:r>
                      <a:endParaRPr lang="en-US" sz="1100"/>
                    </a:p>
                  </a:txBody>
                  <a:tcPr marL="63500" marR="63500" marT="63500" marB="6350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679"/>
                        </a:lnSpc>
                        <a:defRPr/>
                      </a:pPr>
                      <a:endParaRPr lang="en-US" sz="1100"/>
                    </a:p>
                  </a:txBody>
                  <a:tcPr marL="63500" marR="63500" marT="63500" marB="6350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430"/>
                        </a:lnSpc>
                        <a:defRPr/>
                      </a:pPr>
                      <a:r>
                        <a:rPr lang="en-US" sz="2025" b="true">
                          <a:solidFill>
                            <a:srgbClr val="FFFFFF"/>
                          </a:solidFill>
                          <a:latin typeface="Sarabun Bold"/>
                          <a:ea typeface="Sarabun Bold"/>
                          <a:cs typeface="Sarabun Bold"/>
                          <a:sym typeface="Sarabun Bold"/>
                        </a:rPr>
                        <a:t>320x480 TFT LCD Display</a:t>
                      </a:r>
                      <a:endParaRPr lang="en-US" sz="1100"/>
                    </a:p>
                  </a:txBody>
                  <a:tcPr marL="63500" marR="63500" marT="63500" marB="6350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430"/>
                        </a:lnSpc>
                        <a:defRPr/>
                      </a:pPr>
                      <a:r>
                        <a:rPr lang="en-US" sz="2025">
                          <a:solidFill>
                            <a:srgbClr val="F8FAFC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แสดงผลกราฟิก HUD, XP, ตัวละคร และศัตรูเรียลไทม์</a:t>
                      </a:r>
                      <a:endParaRPr lang="en-US" sz="1100"/>
                    </a:p>
                  </a:txBody>
                  <a:tcPr marL="63500" marR="63500" marT="63500" marB="6350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</a:tr>
              <a:tr h="781050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430"/>
                        </a:lnSpc>
                        <a:defRPr/>
                      </a:pPr>
                      <a:r>
                        <a:rPr lang="en-US" sz="2025" b="true">
                          <a:solidFill>
                            <a:srgbClr val="F43F5E"/>
                          </a:solidFill>
                          <a:latin typeface="Space Mono Bold"/>
                          <a:ea typeface="Space Mono Bold"/>
                          <a:cs typeface="Space Mono Bold"/>
                          <a:sym typeface="Space Mono Bold"/>
                        </a:rPr>
                        <a:t>GPIO 16, 17, 5</a:t>
                      </a:r>
                      <a:endParaRPr lang="en-US" sz="1100"/>
                    </a:p>
                  </a:txBody>
                  <a:tcPr marL="63500" marR="63500" marT="63500" marB="6350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527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679"/>
                        </a:lnSpc>
                        <a:defRPr/>
                      </a:pPr>
                      <a:endParaRPr lang="en-US" sz="1100"/>
                    </a:p>
                  </a:txBody>
                  <a:tcPr marL="63500" marR="63500" marT="63500" marB="6350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527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430"/>
                        </a:lnSpc>
                        <a:defRPr/>
                      </a:pPr>
                      <a:r>
                        <a:rPr lang="en-US" sz="2025" b="true">
                          <a:solidFill>
                            <a:srgbClr val="FFFFFF"/>
                          </a:solidFill>
                          <a:latin typeface="Sarabun Bold"/>
                          <a:ea typeface="Sarabun Bold"/>
                          <a:cs typeface="Sarabun Bold"/>
                          <a:sym typeface="Sarabun Bold"/>
                        </a:rPr>
                        <a:t>Tri-Color LED Array</a:t>
                      </a:r>
                      <a:endParaRPr lang="en-US" sz="1100"/>
                    </a:p>
                  </a:txBody>
                  <a:tcPr marL="63500" marR="63500" marT="63500" marB="6350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527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430"/>
                        </a:lnSpc>
                        <a:defRPr/>
                      </a:pPr>
                      <a:r>
                        <a:rPr lang="en-US" sz="2025">
                          <a:solidFill>
                            <a:srgbClr val="F8FAFC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แสดงไฟสถานะ HP 3 ระดับ (เขียว/เหลือง/แดง)</a:t>
                      </a:r>
                      <a:endParaRPr lang="en-US" sz="1100"/>
                    </a:p>
                  </a:txBody>
                  <a:tcPr marL="63500" marR="63500" marT="63500" marB="6350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527"/>
                    </a:solidFill>
                  </a:tcPr>
                </a:tc>
              </a:tr>
              <a:tr h="781053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430"/>
                        </a:lnSpc>
                        <a:defRPr/>
                      </a:pPr>
                      <a:r>
                        <a:rPr lang="en-US" sz="2025" b="true">
                          <a:solidFill>
                            <a:srgbClr val="FBBF24"/>
                          </a:solidFill>
                          <a:latin typeface="Space Mono Bold"/>
                          <a:ea typeface="Space Mono Bold"/>
                          <a:cs typeface="Space Mono Bold"/>
                          <a:sym typeface="Space Mono Bold"/>
                        </a:rPr>
                        <a:t>GPIO 26</a:t>
                      </a:r>
                      <a:endParaRPr lang="en-US" sz="1100"/>
                    </a:p>
                  </a:txBody>
                  <a:tcPr marL="63500" marR="63500" marT="63500" marB="6350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679"/>
                        </a:lnSpc>
                        <a:defRPr/>
                      </a:pPr>
                      <a:endParaRPr lang="en-US" sz="1100"/>
                    </a:p>
                  </a:txBody>
                  <a:tcPr marL="63500" marR="63500" marT="63500" marB="6350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430"/>
                        </a:lnSpc>
                        <a:defRPr/>
                      </a:pPr>
                      <a:r>
                        <a:rPr lang="en-US" sz="2025" b="true">
                          <a:solidFill>
                            <a:srgbClr val="FFFFFF"/>
                          </a:solidFill>
                          <a:latin typeface="Sarabun Bold"/>
                          <a:ea typeface="Sarabun Bold"/>
                          <a:cs typeface="Sarabun Bold"/>
                          <a:sym typeface="Sarabun Bold"/>
                        </a:rPr>
                        <a:t>Passive Piezo Buzzer</a:t>
                      </a:r>
                      <a:endParaRPr lang="en-US" sz="1100"/>
                    </a:p>
                  </a:txBody>
                  <a:tcPr marL="63500" marR="63500" marT="63500" marB="6350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430"/>
                        </a:lnSpc>
                        <a:defRPr/>
                      </a:pPr>
                      <a:r>
                        <a:rPr lang="en-US" sz="2025">
                          <a:solidFill>
                            <a:srgbClr val="F8FAFC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สังเคราะห์เสียงเอฟเฟกต์ SFX, เพชร, การชน และ Fanfare</a:t>
                      </a:r>
                      <a:endParaRPr lang="en-US" sz="1100"/>
                    </a:p>
                  </a:txBody>
                  <a:tcPr marL="63500" marR="63500" marT="63500" marB="6350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</a:tr>
            </a:tbl>
          </a:graphicData>
        </a:graphic>
      </p:graphicFrame>
      <p:sp>
        <p:nvSpPr>
          <p:cNvPr name="TextBox 25" id="25"/>
          <p:cNvSpPr txBox="true"/>
          <p:nvPr/>
        </p:nvSpPr>
        <p:spPr>
          <a:xfrm rot="0">
            <a:off x="16602075" y="1097232"/>
            <a:ext cx="885825" cy="266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sz="1800" b="true">
                <a:solidFill>
                  <a:srgbClr val="38BDF8"/>
                </a:solidFill>
                <a:latin typeface="Space Mono Bold"/>
                <a:ea typeface="Space Mono Bold"/>
                <a:cs typeface="Space Mono Bold"/>
                <a:sym typeface="Space Mono Bold"/>
              </a:rPr>
              <a:t>02/09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742950" y="571500"/>
            <a:ext cx="12101512" cy="3429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sz="1800" b="true">
                <a:solidFill>
                  <a:srgbClr val="38BDF8"/>
                </a:solidFill>
                <a:latin typeface="Prompt Bold"/>
                <a:ea typeface="Prompt Bold"/>
                <a:cs typeface="Prompt Bold"/>
                <a:sym typeface="Prompt Bold"/>
              </a:rPr>
              <a:t>02 HARDWARE ARCHITECTURE &amp; PINOUT</a:t>
            </a:r>
          </a:p>
        </p:txBody>
      </p:sp>
      <p:grpSp>
        <p:nvGrpSpPr>
          <p:cNvPr name="Group 27" id="27"/>
          <p:cNvGrpSpPr/>
          <p:nvPr/>
        </p:nvGrpSpPr>
        <p:grpSpPr>
          <a:xfrm rot="0">
            <a:off x="1400175" y="971550"/>
            <a:ext cx="15005628" cy="582882"/>
            <a:chOff x="0" y="0"/>
            <a:chExt cx="20007504" cy="777176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20007500" cy="777180"/>
            </a:xfrm>
            <a:custGeom>
              <a:avLst/>
              <a:gdLst/>
              <a:ahLst/>
              <a:cxnLst/>
              <a:rect r="r" b="b" t="t" l="l"/>
              <a:pathLst>
                <a:path h="777180" w="20007500">
                  <a:moveTo>
                    <a:pt x="0" y="0"/>
                  </a:moveTo>
                  <a:lnTo>
                    <a:pt x="20007500" y="0"/>
                  </a:lnTo>
                  <a:lnTo>
                    <a:pt x="20007500" y="777180"/>
                  </a:lnTo>
                  <a:lnTo>
                    <a:pt x="0" y="7771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51617" r="0" b="-451617"/>
              </a:stretch>
            </a:blipFill>
          </p:spPr>
        </p:sp>
        <p:sp>
          <p:nvSpPr>
            <p:cNvPr name="TextBox 29" id="29"/>
            <p:cNvSpPr txBox="true"/>
            <p:nvPr/>
          </p:nvSpPr>
          <p:spPr>
            <a:xfrm>
              <a:off x="0" y="-76200"/>
              <a:ext cx="20007504" cy="85337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590"/>
                </a:lnSpc>
              </a:pPr>
              <a:r>
                <a:rPr lang="en-US" sz="3825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การจัดสรรขาพินและฮาร์ดแวร์ไอโอ (I/O Distribution)</a:t>
              </a:r>
            </a:p>
          </p:txBody>
        </p:sp>
      </p:grpSp>
      <p:sp>
        <p:nvSpPr>
          <p:cNvPr name="TextBox 30" id="30"/>
          <p:cNvSpPr txBox="true"/>
          <p:nvPr/>
        </p:nvSpPr>
        <p:spPr>
          <a:xfrm rot="0">
            <a:off x="4250303" y="3763194"/>
            <a:ext cx="628650" cy="3143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755"/>
              </a:lnSpc>
            </a:pPr>
            <a:r>
              <a:rPr lang="en-US" sz="1462" b="true">
                <a:solidFill>
                  <a:srgbClr val="38BDF8"/>
                </a:solidFill>
                <a:latin typeface="Space Mono Bold"/>
                <a:ea typeface="Space Mono Bold"/>
                <a:cs typeface="Space Mono Bold"/>
                <a:sym typeface="Space Mono Bold"/>
              </a:rPr>
              <a:t>ADC1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4250303" y="4549007"/>
            <a:ext cx="628650" cy="3143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755"/>
              </a:lnSpc>
            </a:pPr>
            <a:r>
              <a:rPr lang="en-US" sz="1462" b="true">
                <a:solidFill>
                  <a:srgbClr val="38BDF8"/>
                </a:solidFill>
                <a:latin typeface="Space Mono Bold"/>
                <a:ea typeface="Space Mono Bold"/>
                <a:cs typeface="Space Mono Bold"/>
                <a:sym typeface="Space Mono Bold"/>
              </a:rPr>
              <a:t>ADC1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4250303" y="5334819"/>
            <a:ext cx="857250" cy="3143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755"/>
              </a:lnSpc>
            </a:pPr>
            <a:r>
              <a:rPr lang="en-US" sz="1462" b="true">
                <a:solidFill>
                  <a:srgbClr val="38BDF8"/>
                </a:solidFill>
                <a:latin typeface="Space Mono Bold"/>
                <a:ea typeface="Space Mono Bold"/>
                <a:cs typeface="Space Mono Bold"/>
                <a:sym typeface="Space Mono Bold"/>
              </a:rPr>
              <a:t>PULLUP</a:t>
            </a:r>
          </a:p>
        </p:txBody>
      </p:sp>
      <p:sp>
        <p:nvSpPr>
          <p:cNvPr name="TextBox 33" id="33"/>
          <p:cNvSpPr txBox="true"/>
          <p:nvPr/>
        </p:nvSpPr>
        <p:spPr>
          <a:xfrm rot="0">
            <a:off x="4250303" y="6120632"/>
            <a:ext cx="628650" cy="3143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755"/>
              </a:lnSpc>
            </a:pPr>
            <a:r>
              <a:rPr lang="en-US" sz="1462" b="true">
                <a:solidFill>
                  <a:srgbClr val="38BDF8"/>
                </a:solidFill>
                <a:latin typeface="Space Mono Bold"/>
                <a:ea typeface="Space Mono Bold"/>
                <a:cs typeface="Space Mono Bold"/>
                <a:sym typeface="Space Mono Bold"/>
              </a:rPr>
              <a:t>ADC1</a:t>
            </a:r>
          </a:p>
        </p:txBody>
      </p:sp>
      <p:sp>
        <p:nvSpPr>
          <p:cNvPr name="TextBox 34" id="34"/>
          <p:cNvSpPr txBox="true"/>
          <p:nvPr/>
        </p:nvSpPr>
        <p:spPr>
          <a:xfrm rot="0">
            <a:off x="4250303" y="6906444"/>
            <a:ext cx="1085850" cy="3143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755"/>
              </a:lnSpc>
            </a:pPr>
            <a:r>
              <a:rPr lang="en-US" sz="1462" b="true">
                <a:solidFill>
                  <a:srgbClr val="38BDF8"/>
                </a:solidFill>
                <a:latin typeface="Space Mono Bold"/>
                <a:ea typeface="Space Mono Bold"/>
                <a:cs typeface="Space Mono Bold"/>
                <a:sym typeface="Space Mono Bold"/>
              </a:rPr>
              <a:t>TFT_eSPI</a:t>
            </a:r>
          </a:p>
        </p:txBody>
      </p:sp>
      <p:sp>
        <p:nvSpPr>
          <p:cNvPr name="TextBox 35" id="35"/>
          <p:cNvSpPr txBox="true"/>
          <p:nvPr/>
        </p:nvSpPr>
        <p:spPr>
          <a:xfrm rot="0">
            <a:off x="4250303" y="7692257"/>
            <a:ext cx="857250" cy="3143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755"/>
              </a:lnSpc>
            </a:pPr>
            <a:r>
              <a:rPr lang="en-US" sz="1462" b="true">
                <a:solidFill>
                  <a:srgbClr val="38BDF8"/>
                </a:solidFill>
                <a:latin typeface="Space Mono Bold"/>
                <a:ea typeface="Space Mono Bold"/>
                <a:cs typeface="Space Mono Bold"/>
                <a:sym typeface="Space Mono Bold"/>
              </a:rPr>
              <a:t>OUTPUT</a:t>
            </a:r>
          </a:p>
        </p:txBody>
      </p:sp>
      <p:sp>
        <p:nvSpPr>
          <p:cNvPr name="TextBox 36" id="36"/>
          <p:cNvSpPr txBox="true"/>
          <p:nvPr/>
        </p:nvSpPr>
        <p:spPr>
          <a:xfrm rot="0">
            <a:off x="4250303" y="8478069"/>
            <a:ext cx="1085850" cy="3143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755"/>
              </a:lnSpc>
            </a:pPr>
            <a:r>
              <a:rPr lang="en-US" sz="1462" b="true">
                <a:solidFill>
                  <a:srgbClr val="38BDF8"/>
                </a:solidFill>
                <a:latin typeface="Space Mono Bold"/>
                <a:ea typeface="Space Mono Bold"/>
                <a:cs typeface="Space Mono Bold"/>
                <a:sym typeface="Space Mono Bold"/>
              </a:rPr>
              <a:t>PWM/Tone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B132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10258425"/>
            <a:ext cx="18288000" cy="28575"/>
            <a:chOff x="0" y="0"/>
            <a:chExt cx="24384000" cy="381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38100"/>
            </a:xfrm>
            <a:custGeom>
              <a:avLst/>
              <a:gdLst/>
              <a:ahLst/>
              <a:cxnLst/>
              <a:rect r="r" b="b" t="t" l="l"/>
              <a:pathLst>
                <a:path h="381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38100"/>
                  </a:lnTo>
                  <a:lnTo>
                    <a:pt x="0" y="38100"/>
                  </a:lnTo>
                  <a:close/>
                </a:path>
              </a:pathLst>
            </a:custGeom>
            <a:solidFill>
              <a:srgbClr val="1E293B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16394906" y="1004364"/>
            <a:ext cx="1157288" cy="557212"/>
            <a:chOff x="0" y="0"/>
            <a:chExt cx="1543050" cy="74295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543177" cy="742950"/>
            </a:xfrm>
            <a:custGeom>
              <a:avLst/>
              <a:gdLst/>
              <a:ahLst/>
              <a:cxnLst/>
              <a:rect r="r" b="b" t="t" l="l"/>
              <a:pathLst>
                <a:path h="742950" w="1543177">
                  <a:moveTo>
                    <a:pt x="0" y="156464"/>
                  </a:moveTo>
                  <a:cubicBezTo>
                    <a:pt x="0" y="69977"/>
                    <a:pt x="69977" y="0"/>
                    <a:pt x="156464" y="0"/>
                  </a:cubicBezTo>
                  <a:lnTo>
                    <a:pt x="1386713" y="0"/>
                  </a:lnTo>
                  <a:cubicBezTo>
                    <a:pt x="1473073" y="0"/>
                    <a:pt x="1543177" y="69977"/>
                    <a:pt x="1543177" y="156464"/>
                  </a:cubicBezTo>
                  <a:lnTo>
                    <a:pt x="1543177" y="586486"/>
                  </a:lnTo>
                  <a:cubicBezTo>
                    <a:pt x="1543177" y="672846"/>
                    <a:pt x="1473200" y="742950"/>
                    <a:pt x="1386713" y="742950"/>
                  </a:cubicBezTo>
                  <a:lnTo>
                    <a:pt x="156464" y="742950"/>
                  </a:lnTo>
                  <a:cubicBezTo>
                    <a:pt x="69977" y="742950"/>
                    <a:pt x="0" y="672973"/>
                    <a:pt x="0" y="586486"/>
                  </a:cubicBezTo>
                  <a:close/>
                </a:path>
              </a:pathLst>
            </a:custGeom>
            <a:solidFill>
              <a:srgbClr val="1E293B"/>
            </a:solidFill>
            <a:ln w="14288" cap="sq">
              <a:solidFill>
                <a:srgbClr val="0284C7"/>
              </a:solidFill>
              <a:prstDash val="solid"/>
              <a:miter/>
            </a:ln>
          </p:spPr>
        </p:sp>
      </p:grpSp>
      <p:grpSp>
        <p:nvGrpSpPr>
          <p:cNvPr name="Group 6" id="6"/>
          <p:cNvGrpSpPr/>
          <p:nvPr/>
        </p:nvGrpSpPr>
        <p:grpSpPr>
          <a:xfrm rot="0">
            <a:off x="742950" y="2068782"/>
            <a:ext cx="8243888" cy="3394624"/>
            <a:chOff x="0" y="0"/>
            <a:chExt cx="10991850" cy="4526166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0991850" cy="4526153"/>
            </a:xfrm>
            <a:custGeom>
              <a:avLst/>
              <a:gdLst/>
              <a:ahLst/>
              <a:cxnLst/>
              <a:rect r="r" b="b" t="t" l="l"/>
              <a:pathLst>
                <a:path h="4526153" w="10991850">
                  <a:moveTo>
                    <a:pt x="0" y="266700"/>
                  </a:moveTo>
                  <a:cubicBezTo>
                    <a:pt x="0" y="119380"/>
                    <a:pt x="119380" y="0"/>
                    <a:pt x="266700" y="0"/>
                  </a:cubicBezTo>
                  <a:lnTo>
                    <a:pt x="10725150" y="0"/>
                  </a:lnTo>
                  <a:cubicBezTo>
                    <a:pt x="10872470" y="0"/>
                    <a:pt x="10991850" y="119380"/>
                    <a:pt x="10991850" y="266700"/>
                  </a:cubicBezTo>
                  <a:lnTo>
                    <a:pt x="10991850" y="4259453"/>
                  </a:lnTo>
                  <a:cubicBezTo>
                    <a:pt x="10991850" y="4406773"/>
                    <a:pt x="10872470" y="4526153"/>
                    <a:pt x="10725150" y="4526153"/>
                  </a:cubicBezTo>
                  <a:lnTo>
                    <a:pt x="266700" y="4526153"/>
                  </a:lnTo>
                  <a:cubicBezTo>
                    <a:pt x="119380" y="4526153"/>
                    <a:pt x="0" y="4406773"/>
                    <a:pt x="0" y="4259453"/>
                  </a:cubicBezTo>
                  <a:close/>
                </a:path>
              </a:pathLst>
            </a:custGeom>
            <a:solidFill>
              <a:srgbClr val="0D1B36"/>
            </a:solidFill>
          </p:spPr>
        </p:sp>
      </p:grpSp>
      <p:grpSp>
        <p:nvGrpSpPr>
          <p:cNvPr name="Group 8" id="8"/>
          <p:cNvGrpSpPr/>
          <p:nvPr/>
        </p:nvGrpSpPr>
        <p:grpSpPr>
          <a:xfrm rot="0">
            <a:off x="9301162" y="2068782"/>
            <a:ext cx="8243888" cy="3394624"/>
            <a:chOff x="0" y="0"/>
            <a:chExt cx="10991850" cy="4526166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0991850" cy="4526153"/>
            </a:xfrm>
            <a:custGeom>
              <a:avLst/>
              <a:gdLst/>
              <a:ahLst/>
              <a:cxnLst/>
              <a:rect r="r" b="b" t="t" l="l"/>
              <a:pathLst>
                <a:path h="4526153" w="10991850">
                  <a:moveTo>
                    <a:pt x="0" y="266700"/>
                  </a:moveTo>
                  <a:cubicBezTo>
                    <a:pt x="0" y="119380"/>
                    <a:pt x="119380" y="0"/>
                    <a:pt x="266700" y="0"/>
                  </a:cubicBezTo>
                  <a:lnTo>
                    <a:pt x="10725150" y="0"/>
                  </a:lnTo>
                  <a:cubicBezTo>
                    <a:pt x="10872470" y="0"/>
                    <a:pt x="10991850" y="119380"/>
                    <a:pt x="10991850" y="266700"/>
                  </a:cubicBezTo>
                  <a:lnTo>
                    <a:pt x="10991850" y="4259453"/>
                  </a:lnTo>
                  <a:cubicBezTo>
                    <a:pt x="10991850" y="4406773"/>
                    <a:pt x="10872470" y="4526153"/>
                    <a:pt x="10725150" y="4526153"/>
                  </a:cubicBezTo>
                  <a:lnTo>
                    <a:pt x="266700" y="4526153"/>
                  </a:lnTo>
                  <a:cubicBezTo>
                    <a:pt x="119380" y="4526153"/>
                    <a:pt x="0" y="4406773"/>
                    <a:pt x="0" y="4259453"/>
                  </a:cubicBezTo>
                  <a:close/>
                </a:path>
              </a:pathLst>
            </a:custGeom>
            <a:solidFill>
              <a:srgbClr val="0D1B36"/>
            </a:solid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742950" y="5777732"/>
            <a:ext cx="8243888" cy="3909193"/>
            <a:chOff x="0" y="0"/>
            <a:chExt cx="10991850" cy="5212258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0991850" cy="5212334"/>
            </a:xfrm>
            <a:custGeom>
              <a:avLst/>
              <a:gdLst/>
              <a:ahLst/>
              <a:cxnLst/>
              <a:rect r="r" b="b" t="t" l="l"/>
              <a:pathLst>
                <a:path h="5212334" w="10991850">
                  <a:moveTo>
                    <a:pt x="0" y="266700"/>
                  </a:moveTo>
                  <a:cubicBezTo>
                    <a:pt x="0" y="119380"/>
                    <a:pt x="119380" y="0"/>
                    <a:pt x="266700" y="0"/>
                  </a:cubicBezTo>
                  <a:lnTo>
                    <a:pt x="10725150" y="0"/>
                  </a:lnTo>
                  <a:cubicBezTo>
                    <a:pt x="10872470" y="0"/>
                    <a:pt x="10991850" y="119380"/>
                    <a:pt x="10991850" y="266700"/>
                  </a:cubicBezTo>
                  <a:lnTo>
                    <a:pt x="10991850" y="4945634"/>
                  </a:lnTo>
                  <a:cubicBezTo>
                    <a:pt x="10991850" y="5092954"/>
                    <a:pt x="10872470" y="5212334"/>
                    <a:pt x="10725150" y="5212334"/>
                  </a:cubicBezTo>
                  <a:lnTo>
                    <a:pt x="266700" y="5212334"/>
                  </a:lnTo>
                  <a:cubicBezTo>
                    <a:pt x="119380" y="5212334"/>
                    <a:pt x="0" y="5092954"/>
                    <a:pt x="0" y="4945634"/>
                  </a:cubicBezTo>
                  <a:close/>
                </a:path>
              </a:pathLst>
            </a:custGeom>
            <a:solidFill>
              <a:srgbClr val="0D1B36"/>
            </a:solid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9301162" y="5777732"/>
            <a:ext cx="8243888" cy="3909193"/>
            <a:chOff x="0" y="0"/>
            <a:chExt cx="10991850" cy="5212258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0991850" cy="5212334"/>
            </a:xfrm>
            <a:custGeom>
              <a:avLst/>
              <a:gdLst/>
              <a:ahLst/>
              <a:cxnLst/>
              <a:rect r="r" b="b" t="t" l="l"/>
              <a:pathLst>
                <a:path h="5212334" w="10991850">
                  <a:moveTo>
                    <a:pt x="0" y="266700"/>
                  </a:moveTo>
                  <a:cubicBezTo>
                    <a:pt x="0" y="119380"/>
                    <a:pt x="119380" y="0"/>
                    <a:pt x="266700" y="0"/>
                  </a:cubicBezTo>
                  <a:lnTo>
                    <a:pt x="10725150" y="0"/>
                  </a:lnTo>
                  <a:cubicBezTo>
                    <a:pt x="10872470" y="0"/>
                    <a:pt x="10991850" y="119380"/>
                    <a:pt x="10991850" y="266700"/>
                  </a:cubicBezTo>
                  <a:lnTo>
                    <a:pt x="10991850" y="4945634"/>
                  </a:lnTo>
                  <a:cubicBezTo>
                    <a:pt x="10991850" y="5092954"/>
                    <a:pt x="10872470" y="5212334"/>
                    <a:pt x="10725150" y="5212334"/>
                  </a:cubicBezTo>
                  <a:lnTo>
                    <a:pt x="266700" y="5212334"/>
                  </a:lnTo>
                  <a:cubicBezTo>
                    <a:pt x="119380" y="5212334"/>
                    <a:pt x="0" y="5092954"/>
                    <a:pt x="0" y="4945634"/>
                  </a:cubicBezTo>
                  <a:close/>
                </a:path>
              </a:pathLst>
            </a:custGeom>
            <a:solidFill>
              <a:srgbClr val="0D1B36"/>
            </a:solid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742950" y="5449119"/>
            <a:ext cx="8243888" cy="14288"/>
            <a:chOff x="0" y="0"/>
            <a:chExt cx="10991850" cy="1905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10991850" cy="19050"/>
            </a:xfrm>
            <a:custGeom>
              <a:avLst/>
              <a:gdLst/>
              <a:ahLst/>
              <a:cxnLst/>
              <a:rect r="r" b="b" t="t" l="l"/>
              <a:pathLst>
                <a:path h="19050" w="10991850">
                  <a:moveTo>
                    <a:pt x="0" y="0"/>
                  </a:moveTo>
                  <a:lnTo>
                    <a:pt x="10991850" y="0"/>
                  </a:lnTo>
                  <a:lnTo>
                    <a:pt x="10991850" y="19050"/>
                  </a:lnTo>
                  <a:lnTo>
                    <a:pt x="0" y="19050"/>
                  </a:lnTo>
                  <a:close/>
                </a:path>
              </a:pathLst>
            </a:custGeom>
            <a:solidFill>
              <a:srgbClr val="1E3A8A"/>
            </a:solidFill>
          </p:spPr>
        </p:sp>
      </p:grpSp>
      <p:grpSp>
        <p:nvGrpSpPr>
          <p:cNvPr name="Group 16" id="16"/>
          <p:cNvGrpSpPr/>
          <p:nvPr/>
        </p:nvGrpSpPr>
        <p:grpSpPr>
          <a:xfrm rot="0">
            <a:off x="742950" y="2068782"/>
            <a:ext cx="8243888" cy="14288"/>
            <a:chOff x="0" y="0"/>
            <a:chExt cx="10991850" cy="1905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10991850" cy="19050"/>
            </a:xfrm>
            <a:custGeom>
              <a:avLst/>
              <a:gdLst/>
              <a:ahLst/>
              <a:cxnLst/>
              <a:rect r="r" b="b" t="t" l="l"/>
              <a:pathLst>
                <a:path h="19050" w="10991850">
                  <a:moveTo>
                    <a:pt x="0" y="0"/>
                  </a:moveTo>
                  <a:lnTo>
                    <a:pt x="10991850" y="0"/>
                  </a:lnTo>
                  <a:lnTo>
                    <a:pt x="10991850" y="19050"/>
                  </a:lnTo>
                  <a:lnTo>
                    <a:pt x="0" y="19050"/>
                  </a:lnTo>
                  <a:close/>
                </a:path>
              </a:pathLst>
            </a:custGeom>
            <a:solidFill>
              <a:srgbClr val="1E3A8A"/>
            </a:solidFill>
          </p:spPr>
        </p:sp>
      </p:grpSp>
      <p:grpSp>
        <p:nvGrpSpPr>
          <p:cNvPr name="Group 18" id="18"/>
          <p:cNvGrpSpPr/>
          <p:nvPr/>
        </p:nvGrpSpPr>
        <p:grpSpPr>
          <a:xfrm rot="0">
            <a:off x="742950" y="2068782"/>
            <a:ext cx="71438" cy="3394624"/>
            <a:chOff x="0" y="0"/>
            <a:chExt cx="95250" cy="4526166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95250" cy="4526153"/>
            </a:xfrm>
            <a:custGeom>
              <a:avLst/>
              <a:gdLst/>
              <a:ahLst/>
              <a:cxnLst/>
              <a:rect r="r" b="b" t="t" l="l"/>
              <a:pathLst>
                <a:path h="4526153" w="95250">
                  <a:moveTo>
                    <a:pt x="0" y="0"/>
                  </a:moveTo>
                  <a:lnTo>
                    <a:pt x="95250" y="0"/>
                  </a:lnTo>
                  <a:lnTo>
                    <a:pt x="95250" y="4526153"/>
                  </a:lnTo>
                  <a:lnTo>
                    <a:pt x="0" y="4526153"/>
                  </a:lnTo>
                  <a:close/>
                </a:path>
              </a:pathLst>
            </a:custGeom>
            <a:solidFill>
              <a:srgbClr val="0EA5E9"/>
            </a:solidFill>
          </p:spPr>
        </p:sp>
      </p:grpSp>
      <p:grpSp>
        <p:nvGrpSpPr>
          <p:cNvPr name="Group 20" id="20"/>
          <p:cNvGrpSpPr/>
          <p:nvPr/>
        </p:nvGrpSpPr>
        <p:grpSpPr>
          <a:xfrm rot="0">
            <a:off x="8972550" y="2068782"/>
            <a:ext cx="14288" cy="3394624"/>
            <a:chOff x="0" y="0"/>
            <a:chExt cx="19050" cy="4526166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19050" cy="4526153"/>
            </a:xfrm>
            <a:custGeom>
              <a:avLst/>
              <a:gdLst/>
              <a:ahLst/>
              <a:cxnLst/>
              <a:rect r="r" b="b" t="t" l="l"/>
              <a:pathLst>
                <a:path h="4526153" w="19050">
                  <a:moveTo>
                    <a:pt x="0" y="0"/>
                  </a:moveTo>
                  <a:lnTo>
                    <a:pt x="19050" y="0"/>
                  </a:lnTo>
                  <a:lnTo>
                    <a:pt x="19050" y="4526153"/>
                  </a:lnTo>
                  <a:lnTo>
                    <a:pt x="0" y="4526153"/>
                  </a:lnTo>
                  <a:close/>
                </a:path>
              </a:pathLst>
            </a:custGeom>
            <a:solidFill>
              <a:srgbClr val="1E3A8A"/>
            </a:solidFill>
          </p:spPr>
        </p:sp>
      </p:grpSp>
      <p:grpSp>
        <p:nvGrpSpPr>
          <p:cNvPr name="Group 22" id="22"/>
          <p:cNvGrpSpPr/>
          <p:nvPr/>
        </p:nvGrpSpPr>
        <p:grpSpPr>
          <a:xfrm rot="0">
            <a:off x="9301162" y="5449119"/>
            <a:ext cx="8243888" cy="14288"/>
            <a:chOff x="0" y="0"/>
            <a:chExt cx="10991850" cy="19050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10991850" cy="19050"/>
            </a:xfrm>
            <a:custGeom>
              <a:avLst/>
              <a:gdLst/>
              <a:ahLst/>
              <a:cxnLst/>
              <a:rect r="r" b="b" t="t" l="l"/>
              <a:pathLst>
                <a:path h="19050" w="10991850">
                  <a:moveTo>
                    <a:pt x="0" y="0"/>
                  </a:moveTo>
                  <a:lnTo>
                    <a:pt x="10991850" y="0"/>
                  </a:lnTo>
                  <a:lnTo>
                    <a:pt x="10991850" y="19050"/>
                  </a:lnTo>
                  <a:lnTo>
                    <a:pt x="0" y="19050"/>
                  </a:lnTo>
                  <a:close/>
                </a:path>
              </a:pathLst>
            </a:custGeom>
            <a:solidFill>
              <a:srgbClr val="1E3A8A"/>
            </a:solidFill>
          </p:spPr>
        </p:sp>
      </p:grpSp>
      <p:grpSp>
        <p:nvGrpSpPr>
          <p:cNvPr name="Group 24" id="24"/>
          <p:cNvGrpSpPr/>
          <p:nvPr/>
        </p:nvGrpSpPr>
        <p:grpSpPr>
          <a:xfrm rot="0">
            <a:off x="9301162" y="2068782"/>
            <a:ext cx="8243888" cy="14288"/>
            <a:chOff x="0" y="0"/>
            <a:chExt cx="10991850" cy="19050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10991850" cy="19050"/>
            </a:xfrm>
            <a:custGeom>
              <a:avLst/>
              <a:gdLst/>
              <a:ahLst/>
              <a:cxnLst/>
              <a:rect r="r" b="b" t="t" l="l"/>
              <a:pathLst>
                <a:path h="19050" w="10991850">
                  <a:moveTo>
                    <a:pt x="0" y="0"/>
                  </a:moveTo>
                  <a:lnTo>
                    <a:pt x="10991850" y="0"/>
                  </a:lnTo>
                  <a:lnTo>
                    <a:pt x="10991850" y="19050"/>
                  </a:lnTo>
                  <a:lnTo>
                    <a:pt x="0" y="19050"/>
                  </a:lnTo>
                  <a:close/>
                </a:path>
              </a:pathLst>
            </a:custGeom>
            <a:solidFill>
              <a:srgbClr val="1E3A8A"/>
            </a:solidFill>
          </p:spPr>
        </p:sp>
      </p:grpSp>
      <p:grpSp>
        <p:nvGrpSpPr>
          <p:cNvPr name="Group 26" id="26"/>
          <p:cNvGrpSpPr/>
          <p:nvPr/>
        </p:nvGrpSpPr>
        <p:grpSpPr>
          <a:xfrm rot="0">
            <a:off x="9301162" y="2068782"/>
            <a:ext cx="71438" cy="3394624"/>
            <a:chOff x="0" y="0"/>
            <a:chExt cx="95250" cy="4526166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95250" cy="4526153"/>
            </a:xfrm>
            <a:custGeom>
              <a:avLst/>
              <a:gdLst/>
              <a:ahLst/>
              <a:cxnLst/>
              <a:rect r="r" b="b" t="t" l="l"/>
              <a:pathLst>
                <a:path h="4526153" w="95250">
                  <a:moveTo>
                    <a:pt x="0" y="0"/>
                  </a:moveTo>
                  <a:lnTo>
                    <a:pt x="95250" y="0"/>
                  </a:lnTo>
                  <a:lnTo>
                    <a:pt x="95250" y="4526153"/>
                  </a:lnTo>
                  <a:lnTo>
                    <a:pt x="0" y="4526153"/>
                  </a:lnTo>
                  <a:close/>
                </a:path>
              </a:pathLst>
            </a:custGeom>
            <a:solidFill>
              <a:srgbClr val="60A5FA"/>
            </a:solidFill>
          </p:spPr>
        </p:sp>
      </p:grpSp>
      <p:grpSp>
        <p:nvGrpSpPr>
          <p:cNvPr name="Group 28" id="28"/>
          <p:cNvGrpSpPr/>
          <p:nvPr/>
        </p:nvGrpSpPr>
        <p:grpSpPr>
          <a:xfrm rot="0">
            <a:off x="17530762" y="2068782"/>
            <a:ext cx="14288" cy="3394624"/>
            <a:chOff x="0" y="0"/>
            <a:chExt cx="19050" cy="4526166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19050" cy="4526153"/>
            </a:xfrm>
            <a:custGeom>
              <a:avLst/>
              <a:gdLst/>
              <a:ahLst/>
              <a:cxnLst/>
              <a:rect r="r" b="b" t="t" l="l"/>
              <a:pathLst>
                <a:path h="4526153" w="19050">
                  <a:moveTo>
                    <a:pt x="0" y="0"/>
                  </a:moveTo>
                  <a:lnTo>
                    <a:pt x="19050" y="0"/>
                  </a:lnTo>
                  <a:lnTo>
                    <a:pt x="19050" y="4526153"/>
                  </a:lnTo>
                  <a:lnTo>
                    <a:pt x="0" y="4526153"/>
                  </a:lnTo>
                  <a:close/>
                </a:path>
              </a:pathLst>
            </a:custGeom>
            <a:solidFill>
              <a:srgbClr val="1E3A8A"/>
            </a:solidFill>
          </p:spPr>
        </p:sp>
      </p:grpSp>
      <p:grpSp>
        <p:nvGrpSpPr>
          <p:cNvPr name="Group 30" id="30"/>
          <p:cNvGrpSpPr/>
          <p:nvPr/>
        </p:nvGrpSpPr>
        <p:grpSpPr>
          <a:xfrm rot="0">
            <a:off x="742950" y="9672638"/>
            <a:ext cx="8243888" cy="14288"/>
            <a:chOff x="0" y="0"/>
            <a:chExt cx="10991850" cy="19050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10991850" cy="19050"/>
            </a:xfrm>
            <a:custGeom>
              <a:avLst/>
              <a:gdLst/>
              <a:ahLst/>
              <a:cxnLst/>
              <a:rect r="r" b="b" t="t" l="l"/>
              <a:pathLst>
                <a:path h="19050" w="10991850">
                  <a:moveTo>
                    <a:pt x="0" y="0"/>
                  </a:moveTo>
                  <a:lnTo>
                    <a:pt x="10991850" y="0"/>
                  </a:lnTo>
                  <a:lnTo>
                    <a:pt x="10991850" y="19050"/>
                  </a:lnTo>
                  <a:lnTo>
                    <a:pt x="0" y="19050"/>
                  </a:lnTo>
                  <a:close/>
                </a:path>
              </a:pathLst>
            </a:custGeom>
            <a:solidFill>
              <a:srgbClr val="1E3A8A"/>
            </a:solidFill>
          </p:spPr>
        </p:sp>
      </p:grpSp>
      <p:grpSp>
        <p:nvGrpSpPr>
          <p:cNvPr name="Group 32" id="32"/>
          <p:cNvGrpSpPr/>
          <p:nvPr/>
        </p:nvGrpSpPr>
        <p:grpSpPr>
          <a:xfrm rot="0">
            <a:off x="742950" y="5777732"/>
            <a:ext cx="8243888" cy="14288"/>
            <a:chOff x="0" y="0"/>
            <a:chExt cx="10991850" cy="19050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10991850" cy="19050"/>
            </a:xfrm>
            <a:custGeom>
              <a:avLst/>
              <a:gdLst/>
              <a:ahLst/>
              <a:cxnLst/>
              <a:rect r="r" b="b" t="t" l="l"/>
              <a:pathLst>
                <a:path h="19050" w="10991850">
                  <a:moveTo>
                    <a:pt x="0" y="0"/>
                  </a:moveTo>
                  <a:lnTo>
                    <a:pt x="10991850" y="0"/>
                  </a:lnTo>
                  <a:lnTo>
                    <a:pt x="10991850" y="19050"/>
                  </a:lnTo>
                  <a:lnTo>
                    <a:pt x="0" y="19050"/>
                  </a:lnTo>
                  <a:close/>
                </a:path>
              </a:pathLst>
            </a:custGeom>
            <a:solidFill>
              <a:srgbClr val="1E3A8A"/>
            </a:solidFill>
          </p:spPr>
        </p:sp>
      </p:grpSp>
      <p:grpSp>
        <p:nvGrpSpPr>
          <p:cNvPr name="Group 34" id="34"/>
          <p:cNvGrpSpPr/>
          <p:nvPr/>
        </p:nvGrpSpPr>
        <p:grpSpPr>
          <a:xfrm rot="0">
            <a:off x="742950" y="5777732"/>
            <a:ext cx="71438" cy="3909193"/>
            <a:chOff x="0" y="0"/>
            <a:chExt cx="95250" cy="5212258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95250" cy="5212207"/>
            </a:xfrm>
            <a:custGeom>
              <a:avLst/>
              <a:gdLst/>
              <a:ahLst/>
              <a:cxnLst/>
              <a:rect r="r" b="b" t="t" l="l"/>
              <a:pathLst>
                <a:path h="5212207" w="95250">
                  <a:moveTo>
                    <a:pt x="0" y="0"/>
                  </a:moveTo>
                  <a:lnTo>
                    <a:pt x="95250" y="0"/>
                  </a:lnTo>
                  <a:lnTo>
                    <a:pt x="95250" y="5212207"/>
                  </a:lnTo>
                  <a:lnTo>
                    <a:pt x="0" y="5212207"/>
                  </a:lnTo>
                  <a:close/>
                </a:path>
              </a:pathLst>
            </a:custGeom>
            <a:solidFill>
              <a:srgbClr val="38BDF8"/>
            </a:solidFill>
          </p:spPr>
        </p:sp>
      </p:grpSp>
      <p:grpSp>
        <p:nvGrpSpPr>
          <p:cNvPr name="Group 36" id="36"/>
          <p:cNvGrpSpPr/>
          <p:nvPr/>
        </p:nvGrpSpPr>
        <p:grpSpPr>
          <a:xfrm rot="0">
            <a:off x="8972550" y="5777732"/>
            <a:ext cx="14288" cy="3909193"/>
            <a:chOff x="0" y="0"/>
            <a:chExt cx="19050" cy="5212258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19050" cy="5212207"/>
            </a:xfrm>
            <a:custGeom>
              <a:avLst/>
              <a:gdLst/>
              <a:ahLst/>
              <a:cxnLst/>
              <a:rect r="r" b="b" t="t" l="l"/>
              <a:pathLst>
                <a:path h="5212207" w="19050">
                  <a:moveTo>
                    <a:pt x="0" y="0"/>
                  </a:moveTo>
                  <a:lnTo>
                    <a:pt x="19050" y="0"/>
                  </a:lnTo>
                  <a:lnTo>
                    <a:pt x="19050" y="5212207"/>
                  </a:lnTo>
                  <a:lnTo>
                    <a:pt x="0" y="5212207"/>
                  </a:lnTo>
                  <a:close/>
                </a:path>
              </a:pathLst>
            </a:custGeom>
            <a:solidFill>
              <a:srgbClr val="1E3A8A"/>
            </a:solidFill>
          </p:spPr>
        </p:sp>
      </p:grpSp>
      <p:grpSp>
        <p:nvGrpSpPr>
          <p:cNvPr name="Group 38" id="38"/>
          <p:cNvGrpSpPr/>
          <p:nvPr/>
        </p:nvGrpSpPr>
        <p:grpSpPr>
          <a:xfrm rot="0">
            <a:off x="9301162" y="9672638"/>
            <a:ext cx="8243888" cy="14288"/>
            <a:chOff x="0" y="0"/>
            <a:chExt cx="10991850" cy="19050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10991850" cy="19050"/>
            </a:xfrm>
            <a:custGeom>
              <a:avLst/>
              <a:gdLst/>
              <a:ahLst/>
              <a:cxnLst/>
              <a:rect r="r" b="b" t="t" l="l"/>
              <a:pathLst>
                <a:path h="19050" w="10991850">
                  <a:moveTo>
                    <a:pt x="0" y="0"/>
                  </a:moveTo>
                  <a:lnTo>
                    <a:pt x="10991850" y="0"/>
                  </a:lnTo>
                  <a:lnTo>
                    <a:pt x="10991850" y="19050"/>
                  </a:lnTo>
                  <a:lnTo>
                    <a:pt x="0" y="19050"/>
                  </a:lnTo>
                  <a:close/>
                </a:path>
              </a:pathLst>
            </a:custGeom>
            <a:solidFill>
              <a:srgbClr val="1E3A8A"/>
            </a:solidFill>
          </p:spPr>
        </p:sp>
      </p:grpSp>
      <p:grpSp>
        <p:nvGrpSpPr>
          <p:cNvPr name="Group 40" id="40"/>
          <p:cNvGrpSpPr/>
          <p:nvPr/>
        </p:nvGrpSpPr>
        <p:grpSpPr>
          <a:xfrm rot="0">
            <a:off x="9301162" y="5777732"/>
            <a:ext cx="8243888" cy="14288"/>
            <a:chOff x="0" y="0"/>
            <a:chExt cx="10991850" cy="19050"/>
          </a:xfrm>
        </p:grpSpPr>
        <p:sp>
          <p:nvSpPr>
            <p:cNvPr name="Freeform 41" id="41"/>
            <p:cNvSpPr/>
            <p:nvPr/>
          </p:nvSpPr>
          <p:spPr>
            <a:xfrm flipH="false" flipV="false" rot="0">
              <a:off x="0" y="0"/>
              <a:ext cx="10991850" cy="19050"/>
            </a:xfrm>
            <a:custGeom>
              <a:avLst/>
              <a:gdLst/>
              <a:ahLst/>
              <a:cxnLst/>
              <a:rect r="r" b="b" t="t" l="l"/>
              <a:pathLst>
                <a:path h="19050" w="10991850">
                  <a:moveTo>
                    <a:pt x="0" y="0"/>
                  </a:moveTo>
                  <a:lnTo>
                    <a:pt x="10991850" y="0"/>
                  </a:lnTo>
                  <a:lnTo>
                    <a:pt x="10991850" y="19050"/>
                  </a:lnTo>
                  <a:lnTo>
                    <a:pt x="0" y="19050"/>
                  </a:lnTo>
                  <a:close/>
                </a:path>
              </a:pathLst>
            </a:custGeom>
            <a:solidFill>
              <a:srgbClr val="1E3A8A"/>
            </a:solidFill>
          </p:spPr>
        </p:sp>
      </p:grpSp>
      <p:grpSp>
        <p:nvGrpSpPr>
          <p:cNvPr name="Group 42" id="42"/>
          <p:cNvGrpSpPr/>
          <p:nvPr/>
        </p:nvGrpSpPr>
        <p:grpSpPr>
          <a:xfrm rot="0">
            <a:off x="9301162" y="5777732"/>
            <a:ext cx="71438" cy="3909193"/>
            <a:chOff x="0" y="0"/>
            <a:chExt cx="95250" cy="5212258"/>
          </a:xfrm>
        </p:grpSpPr>
        <p:sp>
          <p:nvSpPr>
            <p:cNvPr name="Freeform 43" id="43"/>
            <p:cNvSpPr/>
            <p:nvPr/>
          </p:nvSpPr>
          <p:spPr>
            <a:xfrm flipH="false" flipV="false" rot="0">
              <a:off x="0" y="0"/>
              <a:ext cx="95250" cy="5212207"/>
            </a:xfrm>
            <a:custGeom>
              <a:avLst/>
              <a:gdLst/>
              <a:ahLst/>
              <a:cxnLst/>
              <a:rect r="r" b="b" t="t" l="l"/>
              <a:pathLst>
                <a:path h="5212207" w="95250">
                  <a:moveTo>
                    <a:pt x="0" y="0"/>
                  </a:moveTo>
                  <a:lnTo>
                    <a:pt x="95250" y="0"/>
                  </a:lnTo>
                  <a:lnTo>
                    <a:pt x="95250" y="5212207"/>
                  </a:lnTo>
                  <a:lnTo>
                    <a:pt x="0" y="5212207"/>
                  </a:lnTo>
                  <a:close/>
                </a:path>
              </a:pathLst>
            </a:custGeom>
            <a:solidFill>
              <a:srgbClr val="F43F5E"/>
            </a:solidFill>
          </p:spPr>
        </p:sp>
      </p:grpSp>
      <p:grpSp>
        <p:nvGrpSpPr>
          <p:cNvPr name="Group 44" id="44"/>
          <p:cNvGrpSpPr/>
          <p:nvPr/>
        </p:nvGrpSpPr>
        <p:grpSpPr>
          <a:xfrm rot="0">
            <a:off x="17530762" y="5777732"/>
            <a:ext cx="14288" cy="3909193"/>
            <a:chOff x="0" y="0"/>
            <a:chExt cx="19050" cy="5212258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0" y="0"/>
              <a:ext cx="19050" cy="5212207"/>
            </a:xfrm>
            <a:custGeom>
              <a:avLst/>
              <a:gdLst/>
              <a:ahLst/>
              <a:cxnLst/>
              <a:rect r="r" b="b" t="t" l="l"/>
              <a:pathLst>
                <a:path h="5212207" w="19050">
                  <a:moveTo>
                    <a:pt x="0" y="0"/>
                  </a:moveTo>
                  <a:lnTo>
                    <a:pt x="19050" y="0"/>
                  </a:lnTo>
                  <a:lnTo>
                    <a:pt x="19050" y="5212207"/>
                  </a:lnTo>
                  <a:lnTo>
                    <a:pt x="0" y="5212207"/>
                  </a:lnTo>
                  <a:close/>
                </a:path>
              </a:pathLst>
            </a:custGeom>
            <a:solidFill>
              <a:srgbClr val="1E3A8A"/>
            </a:solidFill>
          </p:spPr>
        </p:sp>
      </p:grpSp>
      <p:grpSp>
        <p:nvGrpSpPr>
          <p:cNvPr name="Group 46" id="46"/>
          <p:cNvGrpSpPr/>
          <p:nvPr/>
        </p:nvGrpSpPr>
        <p:grpSpPr>
          <a:xfrm rot="0">
            <a:off x="9765506" y="7846514"/>
            <a:ext cx="7372350" cy="842962"/>
            <a:chOff x="0" y="0"/>
            <a:chExt cx="9829800" cy="1123950"/>
          </a:xfrm>
        </p:grpSpPr>
        <p:sp>
          <p:nvSpPr>
            <p:cNvPr name="Freeform 47" id="47"/>
            <p:cNvSpPr/>
            <p:nvPr/>
          </p:nvSpPr>
          <p:spPr>
            <a:xfrm flipH="false" flipV="false" rot="0">
              <a:off x="0" y="0"/>
              <a:ext cx="9829800" cy="1123950"/>
            </a:xfrm>
            <a:custGeom>
              <a:avLst/>
              <a:gdLst/>
              <a:ahLst/>
              <a:cxnLst/>
              <a:rect r="r" b="b" t="t" l="l"/>
              <a:pathLst>
                <a:path h="1123950" w="9829800">
                  <a:moveTo>
                    <a:pt x="0" y="193802"/>
                  </a:moveTo>
                  <a:cubicBezTo>
                    <a:pt x="0" y="86741"/>
                    <a:pt x="86741" y="0"/>
                    <a:pt x="193802" y="0"/>
                  </a:cubicBezTo>
                  <a:lnTo>
                    <a:pt x="9635998" y="0"/>
                  </a:lnTo>
                  <a:cubicBezTo>
                    <a:pt x="9743059" y="0"/>
                    <a:pt x="9829800" y="86741"/>
                    <a:pt x="9829800" y="193802"/>
                  </a:cubicBezTo>
                  <a:lnTo>
                    <a:pt x="9829800" y="930148"/>
                  </a:lnTo>
                  <a:cubicBezTo>
                    <a:pt x="9829800" y="1037209"/>
                    <a:pt x="9743059" y="1123950"/>
                    <a:pt x="9635998" y="1123950"/>
                  </a:cubicBezTo>
                  <a:lnTo>
                    <a:pt x="193802" y="1123950"/>
                  </a:lnTo>
                  <a:cubicBezTo>
                    <a:pt x="86741" y="1123950"/>
                    <a:pt x="0" y="1037209"/>
                    <a:pt x="0" y="930148"/>
                  </a:cubicBezTo>
                  <a:close/>
                </a:path>
              </a:pathLst>
            </a:custGeom>
            <a:solidFill>
              <a:srgbClr val="030712"/>
            </a:solidFill>
            <a:ln w="14288" cap="sq">
              <a:solidFill>
                <a:srgbClr val="0284C7"/>
              </a:solidFill>
              <a:prstDash val="solid"/>
              <a:miter/>
            </a:ln>
          </p:spPr>
        </p:sp>
      </p:grpSp>
      <p:grpSp>
        <p:nvGrpSpPr>
          <p:cNvPr name="Group 48" id="48"/>
          <p:cNvGrpSpPr/>
          <p:nvPr/>
        </p:nvGrpSpPr>
        <p:grpSpPr>
          <a:xfrm rot="0">
            <a:off x="742950" y="1019994"/>
            <a:ext cx="614362" cy="485775"/>
            <a:chOff x="0" y="0"/>
            <a:chExt cx="819150" cy="647700"/>
          </a:xfrm>
        </p:grpSpPr>
        <p:sp>
          <p:nvSpPr>
            <p:cNvPr name="Freeform 49" id="49" descr="image.png"/>
            <p:cNvSpPr/>
            <p:nvPr/>
          </p:nvSpPr>
          <p:spPr>
            <a:xfrm flipH="false" flipV="false" rot="0">
              <a:off x="0" y="0"/>
              <a:ext cx="819150" cy="647700"/>
            </a:xfrm>
            <a:custGeom>
              <a:avLst/>
              <a:gdLst/>
              <a:ahLst/>
              <a:cxnLst/>
              <a:rect r="r" b="b" t="t" l="l"/>
              <a:pathLst>
                <a:path h="647700" w="819150">
                  <a:moveTo>
                    <a:pt x="0" y="0"/>
                  </a:moveTo>
                  <a:lnTo>
                    <a:pt x="819150" y="0"/>
                  </a:lnTo>
                  <a:lnTo>
                    <a:pt x="819150" y="647700"/>
                  </a:lnTo>
                  <a:lnTo>
                    <a:pt x="0" y="6477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-1470" r="0" b="-1470"/>
              </a:stretch>
            </a:blipFill>
          </p:spPr>
        </p:sp>
      </p:grpSp>
      <p:grpSp>
        <p:nvGrpSpPr>
          <p:cNvPr name="Group 50" id="50"/>
          <p:cNvGrpSpPr/>
          <p:nvPr/>
        </p:nvGrpSpPr>
        <p:grpSpPr>
          <a:xfrm rot="0">
            <a:off x="1138238" y="3058858"/>
            <a:ext cx="314325" cy="314325"/>
            <a:chOff x="0" y="0"/>
            <a:chExt cx="419100" cy="419100"/>
          </a:xfrm>
        </p:grpSpPr>
        <p:sp>
          <p:nvSpPr>
            <p:cNvPr name="Freeform 51" id="51" descr="image.png"/>
            <p:cNvSpPr/>
            <p:nvPr/>
          </p:nvSpPr>
          <p:spPr>
            <a:xfrm flipH="false" flipV="false" rot="0">
              <a:off x="0" y="0"/>
              <a:ext cx="419100" cy="419100"/>
            </a:xfrm>
            <a:custGeom>
              <a:avLst/>
              <a:gdLst/>
              <a:ahLst/>
              <a:cxnLst/>
              <a:rect r="r" b="b" t="t" l="l"/>
              <a:pathLst>
                <a:path h="419100" w="419100">
                  <a:moveTo>
                    <a:pt x="0" y="0"/>
                  </a:moveTo>
                  <a:lnTo>
                    <a:pt x="419100" y="0"/>
                  </a:lnTo>
                  <a:lnTo>
                    <a:pt x="419100" y="419100"/>
                  </a:lnTo>
                  <a:lnTo>
                    <a:pt x="0" y="4191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-2272" r="0" b="-2272"/>
              </a:stretch>
            </a:blipFill>
          </p:spPr>
        </p:sp>
      </p:grpSp>
      <p:grpSp>
        <p:nvGrpSpPr>
          <p:cNvPr name="Group 52" id="52"/>
          <p:cNvGrpSpPr/>
          <p:nvPr/>
        </p:nvGrpSpPr>
        <p:grpSpPr>
          <a:xfrm rot="0">
            <a:off x="9695407" y="3087434"/>
            <a:ext cx="314325" cy="314325"/>
            <a:chOff x="0" y="0"/>
            <a:chExt cx="419100" cy="419100"/>
          </a:xfrm>
        </p:grpSpPr>
        <p:sp>
          <p:nvSpPr>
            <p:cNvPr name="Freeform 53" id="53" descr="image.png"/>
            <p:cNvSpPr/>
            <p:nvPr/>
          </p:nvSpPr>
          <p:spPr>
            <a:xfrm flipH="false" flipV="false" rot="0">
              <a:off x="0" y="0"/>
              <a:ext cx="419100" cy="419100"/>
            </a:xfrm>
            <a:custGeom>
              <a:avLst/>
              <a:gdLst/>
              <a:ahLst/>
              <a:cxnLst/>
              <a:rect r="r" b="b" t="t" l="l"/>
              <a:pathLst>
                <a:path h="419100" w="419100">
                  <a:moveTo>
                    <a:pt x="0" y="0"/>
                  </a:moveTo>
                  <a:lnTo>
                    <a:pt x="419100" y="0"/>
                  </a:lnTo>
                  <a:lnTo>
                    <a:pt x="419100" y="419100"/>
                  </a:lnTo>
                  <a:lnTo>
                    <a:pt x="0" y="4191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-2272" r="0" b="-2272"/>
              </a:stretch>
            </a:blipFill>
          </p:spPr>
        </p:sp>
      </p:grpSp>
      <p:grpSp>
        <p:nvGrpSpPr>
          <p:cNvPr name="Group 54" id="54"/>
          <p:cNvGrpSpPr/>
          <p:nvPr/>
        </p:nvGrpSpPr>
        <p:grpSpPr>
          <a:xfrm rot="0">
            <a:off x="1057275" y="7082133"/>
            <a:ext cx="314325" cy="314325"/>
            <a:chOff x="0" y="0"/>
            <a:chExt cx="419100" cy="419100"/>
          </a:xfrm>
        </p:grpSpPr>
        <p:sp>
          <p:nvSpPr>
            <p:cNvPr name="Freeform 55" id="55" descr="image.png"/>
            <p:cNvSpPr/>
            <p:nvPr/>
          </p:nvSpPr>
          <p:spPr>
            <a:xfrm flipH="false" flipV="false" rot="0">
              <a:off x="0" y="0"/>
              <a:ext cx="419100" cy="419100"/>
            </a:xfrm>
            <a:custGeom>
              <a:avLst/>
              <a:gdLst/>
              <a:ahLst/>
              <a:cxnLst/>
              <a:rect r="r" b="b" t="t" l="l"/>
              <a:pathLst>
                <a:path h="419100" w="419100">
                  <a:moveTo>
                    <a:pt x="0" y="0"/>
                  </a:moveTo>
                  <a:lnTo>
                    <a:pt x="419100" y="0"/>
                  </a:lnTo>
                  <a:lnTo>
                    <a:pt x="419100" y="419100"/>
                  </a:lnTo>
                  <a:lnTo>
                    <a:pt x="0" y="4191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-2272" r="0" b="-2272"/>
              </a:stretch>
            </a:blipFill>
          </p:spPr>
        </p:sp>
      </p:grpSp>
      <p:grpSp>
        <p:nvGrpSpPr>
          <p:cNvPr name="Group 56" id="56"/>
          <p:cNvGrpSpPr/>
          <p:nvPr/>
        </p:nvGrpSpPr>
        <p:grpSpPr>
          <a:xfrm rot="0">
            <a:off x="9686925" y="6796383"/>
            <a:ext cx="314325" cy="314325"/>
            <a:chOff x="0" y="0"/>
            <a:chExt cx="419100" cy="419100"/>
          </a:xfrm>
        </p:grpSpPr>
        <p:sp>
          <p:nvSpPr>
            <p:cNvPr name="Freeform 57" id="57" descr="image.png"/>
            <p:cNvSpPr/>
            <p:nvPr/>
          </p:nvSpPr>
          <p:spPr>
            <a:xfrm flipH="false" flipV="false" rot="0">
              <a:off x="0" y="0"/>
              <a:ext cx="419100" cy="419100"/>
            </a:xfrm>
            <a:custGeom>
              <a:avLst/>
              <a:gdLst/>
              <a:ahLst/>
              <a:cxnLst/>
              <a:rect r="r" b="b" t="t" l="l"/>
              <a:pathLst>
                <a:path h="419100" w="419100">
                  <a:moveTo>
                    <a:pt x="0" y="0"/>
                  </a:moveTo>
                  <a:lnTo>
                    <a:pt x="419100" y="0"/>
                  </a:lnTo>
                  <a:lnTo>
                    <a:pt x="419100" y="419100"/>
                  </a:lnTo>
                  <a:lnTo>
                    <a:pt x="0" y="4191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-2272" r="0" b="-2272"/>
              </a:stretch>
            </a:blipFill>
          </p:spPr>
        </p:sp>
      </p:grpSp>
      <p:grpSp>
        <p:nvGrpSpPr>
          <p:cNvPr name="Group 58" id="58"/>
          <p:cNvGrpSpPr/>
          <p:nvPr/>
        </p:nvGrpSpPr>
        <p:grpSpPr>
          <a:xfrm rot="0">
            <a:off x="10072688" y="8132264"/>
            <a:ext cx="300038" cy="271462"/>
            <a:chOff x="0" y="0"/>
            <a:chExt cx="400050" cy="361950"/>
          </a:xfrm>
        </p:grpSpPr>
        <p:sp>
          <p:nvSpPr>
            <p:cNvPr name="Freeform 59" id="59" descr="image.png"/>
            <p:cNvSpPr/>
            <p:nvPr/>
          </p:nvSpPr>
          <p:spPr>
            <a:xfrm flipH="false" flipV="false" rot="0">
              <a:off x="0" y="0"/>
              <a:ext cx="400050" cy="361950"/>
            </a:xfrm>
            <a:custGeom>
              <a:avLst/>
              <a:gdLst/>
              <a:ahLst/>
              <a:cxnLst/>
              <a:rect r="r" b="b" t="t" l="l"/>
              <a:pathLst>
                <a:path h="361950" w="400050">
                  <a:moveTo>
                    <a:pt x="0" y="0"/>
                  </a:moveTo>
                  <a:lnTo>
                    <a:pt x="400050" y="0"/>
                  </a:lnTo>
                  <a:lnTo>
                    <a:pt x="400050" y="361950"/>
                  </a:lnTo>
                  <a:lnTo>
                    <a:pt x="0" y="36195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0" t="-2631" r="0" b="-2631"/>
              </a:stretch>
            </a:blipFill>
          </p:spPr>
        </p:sp>
      </p:grpSp>
      <p:sp>
        <p:nvSpPr>
          <p:cNvPr name="TextBox 60" id="60"/>
          <p:cNvSpPr txBox="true"/>
          <p:nvPr/>
        </p:nvSpPr>
        <p:spPr>
          <a:xfrm rot="0">
            <a:off x="16602075" y="1097232"/>
            <a:ext cx="885825" cy="266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sz="1800" b="true">
                <a:solidFill>
                  <a:srgbClr val="38BDF8"/>
                </a:solidFill>
                <a:latin typeface="Space Mono Bold"/>
                <a:ea typeface="Space Mono Bold"/>
                <a:cs typeface="Space Mono Bold"/>
                <a:sym typeface="Space Mono Bold"/>
              </a:rPr>
              <a:t>03/09</a:t>
            </a:r>
          </a:p>
        </p:txBody>
      </p:sp>
      <p:sp>
        <p:nvSpPr>
          <p:cNvPr name="TextBox 61" id="61"/>
          <p:cNvSpPr txBox="true"/>
          <p:nvPr/>
        </p:nvSpPr>
        <p:spPr>
          <a:xfrm rot="0">
            <a:off x="742950" y="571500"/>
            <a:ext cx="13215938" cy="3429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sz="1800" b="true">
                <a:solidFill>
                  <a:srgbClr val="38BDF8"/>
                </a:solidFill>
                <a:latin typeface="Prompt Bold"/>
                <a:ea typeface="Prompt Bold"/>
                <a:cs typeface="Prompt Bold"/>
                <a:sym typeface="Prompt Bold"/>
              </a:rPr>
              <a:t>03 CORE GAME MECHANICS</a:t>
            </a:r>
          </a:p>
        </p:txBody>
      </p:sp>
      <p:grpSp>
        <p:nvGrpSpPr>
          <p:cNvPr name="Group 62" id="62"/>
          <p:cNvGrpSpPr/>
          <p:nvPr/>
        </p:nvGrpSpPr>
        <p:grpSpPr>
          <a:xfrm rot="0">
            <a:off x="1528762" y="878194"/>
            <a:ext cx="13901206" cy="769595"/>
            <a:chOff x="0" y="0"/>
            <a:chExt cx="18534941" cy="1026127"/>
          </a:xfrm>
        </p:grpSpPr>
        <p:sp>
          <p:nvSpPr>
            <p:cNvPr name="Freeform 63" id="63"/>
            <p:cNvSpPr/>
            <p:nvPr/>
          </p:nvSpPr>
          <p:spPr>
            <a:xfrm flipH="false" flipV="false" rot="0">
              <a:off x="0" y="0"/>
              <a:ext cx="18534943" cy="1026130"/>
            </a:xfrm>
            <a:custGeom>
              <a:avLst/>
              <a:gdLst/>
              <a:ahLst/>
              <a:cxnLst/>
              <a:rect r="r" b="b" t="t" l="l"/>
              <a:pathLst>
                <a:path h="1026130" w="18534943">
                  <a:moveTo>
                    <a:pt x="0" y="0"/>
                  </a:moveTo>
                  <a:lnTo>
                    <a:pt x="18534943" y="0"/>
                  </a:lnTo>
                  <a:lnTo>
                    <a:pt x="18534943" y="1026130"/>
                  </a:lnTo>
                  <a:lnTo>
                    <a:pt x="0" y="1026130"/>
                  </a:lnTo>
                  <a:close/>
                </a:path>
              </a:pathLst>
            </a:custGeom>
            <a:blipFill>
              <a:blip r:embed="rId8">
                <a:alphaModFix amt="0"/>
              </a:blip>
              <a:stretch>
                <a:fillRect l="0" t="-375664" r="-17495" b="-351403"/>
              </a:stretch>
            </a:blipFill>
          </p:spPr>
        </p:sp>
        <p:sp>
          <p:nvSpPr>
            <p:cNvPr name="TextBox 64" id="64"/>
            <p:cNvSpPr txBox="true"/>
            <p:nvPr/>
          </p:nvSpPr>
          <p:spPr>
            <a:xfrm>
              <a:off x="0" y="-76200"/>
              <a:ext cx="18534941" cy="110232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590"/>
                </a:lnSpc>
              </a:pPr>
              <a:r>
                <a:rPr lang="en-US" sz="3825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วงลูปการเล่นและการออกแบบระบบต่อสู้ (Combat Design)</a:t>
              </a:r>
            </a:p>
          </p:txBody>
        </p:sp>
      </p:grpSp>
      <p:sp>
        <p:nvSpPr>
          <p:cNvPr name="TextBox 65" id="65"/>
          <p:cNvSpPr txBox="true"/>
          <p:nvPr/>
        </p:nvSpPr>
        <p:spPr>
          <a:xfrm rot="0">
            <a:off x="1500188" y="3073146"/>
            <a:ext cx="7590234" cy="4714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70"/>
              </a:lnSpc>
            </a:pPr>
            <a:r>
              <a:rPr lang="en-US" sz="2475" b="true">
                <a:solidFill>
                  <a:srgbClr val="38BDF8"/>
                </a:solidFill>
                <a:latin typeface="Prompt Bold"/>
                <a:ea typeface="Prompt Bold"/>
                <a:cs typeface="Prompt Bold"/>
                <a:sym typeface="Prompt Bold"/>
              </a:rPr>
              <a:t>Automated Combat Engine</a:t>
            </a:r>
          </a:p>
        </p:txBody>
      </p:sp>
      <p:sp>
        <p:nvSpPr>
          <p:cNvPr name="TextBox 66" id="66"/>
          <p:cNvSpPr txBox="true"/>
          <p:nvPr/>
        </p:nvSpPr>
        <p:spPr>
          <a:xfrm rot="0">
            <a:off x="1214438" y="3592258"/>
            <a:ext cx="7500938" cy="8667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37"/>
              </a:lnSpc>
            </a:pPr>
            <a:r>
              <a:rPr lang="en-US" sz="2025">
                <a:solidFill>
                  <a:srgbClr val="E2E8F0"/>
                </a:solidFill>
                <a:latin typeface="Calibri (MS)"/>
                <a:ea typeface="Calibri (MS)"/>
                <a:cs typeface="Calibri (MS)"/>
                <a:sym typeface="Calibri (MS)"/>
              </a:rPr>
              <a:t>ระบบการโจมตีรอบตัวอัตโนมัติทำงานด้วยเวลา Internal Timer เพื่อให้ผู้เล่นเน้นความสำคัญที่การควบคุมทิศทาง และการหลบหลีกฝูงศัตรู</a:t>
            </a:r>
          </a:p>
        </p:txBody>
      </p:sp>
      <p:sp>
        <p:nvSpPr>
          <p:cNvPr name="TextBox 67" id="67"/>
          <p:cNvSpPr txBox="true"/>
          <p:nvPr/>
        </p:nvSpPr>
        <p:spPr>
          <a:xfrm rot="0">
            <a:off x="10058400" y="3073146"/>
            <a:ext cx="7590234" cy="4714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70"/>
              </a:lnSpc>
            </a:pPr>
            <a:r>
              <a:rPr lang="en-US" sz="2475" b="true">
                <a:solidFill>
                  <a:srgbClr val="60A5FA"/>
                </a:solidFill>
                <a:latin typeface="Prompt Bold"/>
                <a:ea typeface="Prompt Bold"/>
                <a:cs typeface="Prompt Bold"/>
                <a:sym typeface="Prompt Bold"/>
              </a:rPr>
              <a:t>Manual Emergency Ability</a:t>
            </a:r>
          </a:p>
        </p:txBody>
      </p:sp>
      <p:sp>
        <p:nvSpPr>
          <p:cNvPr name="TextBox 68" id="68"/>
          <p:cNvSpPr txBox="true"/>
          <p:nvPr/>
        </p:nvSpPr>
        <p:spPr>
          <a:xfrm rot="0">
            <a:off x="9772650" y="3592258"/>
            <a:ext cx="7500938" cy="8667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37"/>
              </a:lnSpc>
            </a:pPr>
            <a:r>
              <a:rPr lang="en-US" sz="2025">
                <a:solidFill>
                  <a:srgbClr val="E2E8F0"/>
                </a:solidFill>
                <a:latin typeface="Calibri (MS)"/>
                <a:ea typeface="Calibri (MS)"/>
                <a:cs typeface="Calibri (MS)"/>
                <a:sym typeface="Calibri (MS)"/>
              </a:rPr>
              <a:t>การกดปุ่มสร้างคลื่นระเบิดกระจายรัศมี 55px ทำลายศัตรูทันทีเพื่อเอาชีวิตรอด ถูกควบคุมด้วยระบบคูลดาวน์ทางฮาร์ดแวร์ 4 วินาที</a:t>
            </a:r>
          </a:p>
        </p:txBody>
      </p:sp>
      <p:sp>
        <p:nvSpPr>
          <p:cNvPr name="TextBox 69" id="69"/>
          <p:cNvSpPr txBox="true"/>
          <p:nvPr/>
        </p:nvSpPr>
        <p:spPr>
          <a:xfrm rot="0">
            <a:off x="1500188" y="7039270"/>
            <a:ext cx="7590234" cy="4714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70"/>
              </a:lnSpc>
            </a:pPr>
            <a:r>
              <a:rPr lang="en-US" sz="2475" b="true">
                <a:solidFill>
                  <a:srgbClr val="38BDF8"/>
                </a:solidFill>
                <a:latin typeface="Prompt Bold"/>
                <a:ea typeface="Prompt Bold"/>
                <a:cs typeface="Prompt Bold"/>
                <a:sym typeface="Prompt Bold"/>
              </a:rPr>
              <a:t>Drop Economy &amp; Experience</a:t>
            </a:r>
          </a:p>
        </p:txBody>
      </p:sp>
      <p:sp>
        <p:nvSpPr>
          <p:cNvPr name="TextBox 70" id="70"/>
          <p:cNvSpPr txBox="true"/>
          <p:nvPr/>
        </p:nvSpPr>
        <p:spPr>
          <a:xfrm rot="0">
            <a:off x="1214438" y="7558383"/>
            <a:ext cx="7500938" cy="8667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37"/>
              </a:lnSpc>
            </a:pPr>
            <a:r>
              <a:rPr lang="en-US" sz="2025">
                <a:solidFill>
                  <a:srgbClr val="E2E8F0"/>
                </a:solidFill>
                <a:latin typeface="Calibri (MS)"/>
                <a:ea typeface="Calibri (MS)"/>
                <a:cs typeface="Calibri (MS)"/>
                <a:sym typeface="Calibri (MS)"/>
              </a:rPr>
              <a:t>เมื่อศัตรูถูกกำจัดจะดรอปอัญมณี XP การสะสม Gem จะเติมแถบประสบการณ์บน HUD พร้อมส่งเสียง Chime สังเคราะห์</a:t>
            </a:r>
          </a:p>
        </p:txBody>
      </p:sp>
      <p:sp>
        <p:nvSpPr>
          <p:cNvPr name="TextBox 71" id="71"/>
          <p:cNvSpPr txBox="true"/>
          <p:nvPr/>
        </p:nvSpPr>
        <p:spPr>
          <a:xfrm rot="0">
            <a:off x="10058400" y="6782095"/>
            <a:ext cx="7590234" cy="4714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70"/>
              </a:lnSpc>
            </a:pPr>
            <a:r>
              <a:rPr lang="en-US" sz="2475" b="true">
                <a:solidFill>
                  <a:srgbClr val="F43F5E"/>
                </a:solidFill>
                <a:latin typeface="Prompt Bold"/>
                <a:ea typeface="Prompt Bold"/>
                <a:cs typeface="Prompt Bold"/>
                <a:sym typeface="Prompt Bold"/>
              </a:rPr>
              <a:t>Dynamic Wave Scaling</a:t>
            </a:r>
          </a:p>
        </p:txBody>
      </p:sp>
      <p:sp>
        <p:nvSpPr>
          <p:cNvPr name="TextBox 72" id="72"/>
          <p:cNvSpPr txBox="true"/>
          <p:nvPr/>
        </p:nvSpPr>
        <p:spPr>
          <a:xfrm rot="0">
            <a:off x="9772650" y="7358358"/>
            <a:ext cx="8515350" cy="3524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95"/>
              </a:lnSpc>
            </a:pPr>
            <a:r>
              <a:rPr lang="en-US" sz="1912">
                <a:solidFill>
                  <a:srgbClr val="E2E8F0"/>
                </a:solidFill>
                <a:latin typeface="Calibri (MS)"/>
                <a:ea typeface="Calibri (MS)"/>
                <a:cs typeface="Calibri (MS)"/>
                <a:sym typeface="Calibri (MS)"/>
              </a:rPr>
              <a:t>ความเร็วและการเกิดของศัตรูจะสเกลเพิ่มขึ้นอย่างต่อเนื่องตามเวลารอดชีวิต:</a:t>
            </a:r>
          </a:p>
        </p:txBody>
      </p:sp>
      <p:sp>
        <p:nvSpPr>
          <p:cNvPr name="TextBox 73" id="73"/>
          <p:cNvSpPr txBox="true"/>
          <p:nvPr/>
        </p:nvSpPr>
        <p:spPr>
          <a:xfrm rot="0">
            <a:off x="10572750" y="8058445"/>
            <a:ext cx="6215062" cy="4095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65"/>
              </a:lnSpc>
            </a:pPr>
            <a:r>
              <a:rPr lang="en-US" sz="2137" b="true">
                <a:solidFill>
                  <a:srgbClr val="38BDF8"/>
                </a:solidFill>
                <a:latin typeface="Space Mono Bold"/>
                <a:ea typeface="Space Mono Bold"/>
                <a:cs typeface="Space Mono Bold"/>
                <a:sym typeface="Space Mono Bold"/>
              </a:rPr>
              <a:t>v_base = 0.70 + t_sec * 0.008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B132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10258425"/>
            <a:ext cx="18288000" cy="28575"/>
            <a:chOff x="0" y="0"/>
            <a:chExt cx="24384000" cy="381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38100"/>
            </a:xfrm>
            <a:custGeom>
              <a:avLst/>
              <a:gdLst/>
              <a:ahLst/>
              <a:cxnLst/>
              <a:rect r="r" b="b" t="t" l="l"/>
              <a:pathLst>
                <a:path h="381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38100"/>
                  </a:lnTo>
                  <a:lnTo>
                    <a:pt x="0" y="38100"/>
                  </a:lnTo>
                  <a:close/>
                </a:path>
              </a:pathLst>
            </a:custGeom>
            <a:solidFill>
              <a:srgbClr val="1E293B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16394906" y="1004364"/>
            <a:ext cx="1157288" cy="557212"/>
            <a:chOff x="0" y="0"/>
            <a:chExt cx="1543050" cy="74295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543177" cy="742950"/>
            </a:xfrm>
            <a:custGeom>
              <a:avLst/>
              <a:gdLst/>
              <a:ahLst/>
              <a:cxnLst/>
              <a:rect r="r" b="b" t="t" l="l"/>
              <a:pathLst>
                <a:path h="742950" w="1543177">
                  <a:moveTo>
                    <a:pt x="0" y="156464"/>
                  </a:moveTo>
                  <a:cubicBezTo>
                    <a:pt x="0" y="69977"/>
                    <a:pt x="69977" y="0"/>
                    <a:pt x="156464" y="0"/>
                  </a:cubicBezTo>
                  <a:lnTo>
                    <a:pt x="1386713" y="0"/>
                  </a:lnTo>
                  <a:cubicBezTo>
                    <a:pt x="1473073" y="0"/>
                    <a:pt x="1543177" y="69977"/>
                    <a:pt x="1543177" y="156464"/>
                  </a:cubicBezTo>
                  <a:lnTo>
                    <a:pt x="1543177" y="586486"/>
                  </a:lnTo>
                  <a:cubicBezTo>
                    <a:pt x="1543177" y="672846"/>
                    <a:pt x="1473200" y="742950"/>
                    <a:pt x="1386713" y="742950"/>
                  </a:cubicBezTo>
                  <a:lnTo>
                    <a:pt x="156464" y="742950"/>
                  </a:lnTo>
                  <a:cubicBezTo>
                    <a:pt x="69977" y="742950"/>
                    <a:pt x="0" y="672973"/>
                    <a:pt x="0" y="586486"/>
                  </a:cubicBezTo>
                  <a:close/>
                </a:path>
              </a:pathLst>
            </a:custGeom>
            <a:solidFill>
              <a:srgbClr val="1E293B"/>
            </a:solidFill>
            <a:ln w="14288" cap="sq">
              <a:solidFill>
                <a:srgbClr val="0284C7"/>
              </a:solidFill>
              <a:prstDash val="solid"/>
              <a:miter/>
            </a:ln>
          </p:spPr>
        </p:sp>
      </p:grpSp>
      <p:grpSp>
        <p:nvGrpSpPr>
          <p:cNvPr name="Group 6" id="6"/>
          <p:cNvGrpSpPr/>
          <p:nvPr/>
        </p:nvGrpSpPr>
        <p:grpSpPr>
          <a:xfrm rot="0">
            <a:off x="728662" y="2054495"/>
            <a:ext cx="7733776" cy="7646718"/>
            <a:chOff x="0" y="0"/>
            <a:chExt cx="10311702" cy="10195624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0311638" cy="10195560"/>
            </a:xfrm>
            <a:custGeom>
              <a:avLst/>
              <a:gdLst/>
              <a:ahLst/>
              <a:cxnLst/>
              <a:rect r="r" b="b" t="t" l="l"/>
              <a:pathLst>
                <a:path h="10195560" w="10311638">
                  <a:moveTo>
                    <a:pt x="0" y="267589"/>
                  </a:moveTo>
                  <a:cubicBezTo>
                    <a:pt x="0" y="119761"/>
                    <a:pt x="119761" y="0"/>
                    <a:pt x="267589" y="0"/>
                  </a:cubicBezTo>
                  <a:lnTo>
                    <a:pt x="10044049" y="0"/>
                  </a:lnTo>
                  <a:cubicBezTo>
                    <a:pt x="10191877" y="0"/>
                    <a:pt x="10311638" y="119761"/>
                    <a:pt x="10311638" y="267589"/>
                  </a:cubicBezTo>
                  <a:lnTo>
                    <a:pt x="10311638" y="9927971"/>
                  </a:lnTo>
                  <a:cubicBezTo>
                    <a:pt x="10311638" y="10075799"/>
                    <a:pt x="10191877" y="10195560"/>
                    <a:pt x="10044049" y="10195560"/>
                  </a:cubicBezTo>
                  <a:lnTo>
                    <a:pt x="267589" y="10195560"/>
                  </a:lnTo>
                  <a:cubicBezTo>
                    <a:pt x="119761" y="10195560"/>
                    <a:pt x="0" y="10075799"/>
                    <a:pt x="0" y="9927971"/>
                  </a:cubicBezTo>
                  <a:close/>
                </a:path>
              </a:pathLst>
            </a:custGeom>
            <a:solidFill>
              <a:srgbClr val="0F172A"/>
            </a:solidFill>
            <a:ln w="28575" cap="sq">
              <a:solidFill>
                <a:srgbClr val="0284C7"/>
              </a:solidFill>
              <a:prstDash val="solid"/>
              <a:miter/>
            </a:ln>
          </p:spPr>
        </p:sp>
      </p:grpSp>
      <p:grpSp>
        <p:nvGrpSpPr>
          <p:cNvPr name="Group 8" id="8"/>
          <p:cNvGrpSpPr/>
          <p:nvPr/>
        </p:nvGrpSpPr>
        <p:grpSpPr>
          <a:xfrm rot="0">
            <a:off x="1228725" y="4736306"/>
            <a:ext cx="1957388" cy="428625"/>
            <a:chOff x="0" y="0"/>
            <a:chExt cx="2609850" cy="5715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609850" cy="571500"/>
            </a:xfrm>
            <a:custGeom>
              <a:avLst/>
              <a:gdLst/>
              <a:ahLst/>
              <a:cxnLst/>
              <a:rect r="r" b="b" t="t" l="l"/>
              <a:pathLst>
                <a:path h="571500" w="2609850">
                  <a:moveTo>
                    <a:pt x="0" y="114300"/>
                  </a:moveTo>
                  <a:cubicBezTo>
                    <a:pt x="0" y="51181"/>
                    <a:pt x="51181" y="0"/>
                    <a:pt x="114300" y="0"/>
                  </a:cubicBezTo>
                  <a:lnTo>
                    <a:pt x="2495550" y="0"/>
                  </a:lnTo>
                  <a:cubicBezTo>
                    <a:pt x="2558669" y="0"/>
                    <a:pt x="2609850" y="51181"/>
                    <a:pt x="2609850" y="114300"/>
                  </a:cubicBezTo>
                  <a:lnTo>
                    <a:pt x="2609850" y="457200"/>
                  </a:lnTo>
                  <a:cubicBezTo>
                    <a:pt x="2609850" y="520319"/>
                    <a:pt x="2558669" y="571500"/>
                    <a:pt x="2495550" y="571500"/>
                  </a:cubicBezTo>
                  <a:lnTo>
                    <a:pt x="114300" y="571500"/>
                  </a:lnTo>
                  <a:cubicBezTo>
                    <a:pt x="51181" y="571500"/>
                    <a:pt x="0" y="520319"/>
                    <a:pt x="0" y="457200"/>
                  </a:cubicBezTo>
                  <a:close/>
                </a:path>
              </a:pathLst>
            </a:custGeom>
            <a:solidFill>
              <a:srgbClr val="0284C7"/>
            </a:solid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8791051" y="2770213"/>
            <a:ext cx="8753999" cy="1900238"/>
            <a:chOff x="0" y="0"/>
            <a:chExt cx="11671998" cy="253365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1672062" cy="2533650"/>
            </a:xfrm>
            <a:custGeom>
              <a:avLst/>
              <a:gdLst/>
              <a:ahLst/>
              <a:cxnLst/>
              <a:rect r="r" b="b" t="t" l="l"/>
              <a:pathLst>
                <a:path h="2533650" w="11672062">
                  <a:moveTo>
                    <a:pt x="0" y="266700"/>
                  </a:moveTo>
                  <a:cubicBezTo>
                    <a:pt x="0" y="119380"/>
                    <a:pt x="119380" y="0"/>
                    <a:pt x="266700" y="0"/>
                  </a:cubicBezTo>
                  <a:lnTo>
                    <a:pt x="11405362" y="0"/>
                  </a:lnTo>
                  <a:cubicBezTo>
                    <a:pt x="11552682" y="0"/>
                    <a:pt x="11672062" y="119380"/>
                    <a:pt x="11672062" y="266700"/>
                  </a:cubicBezTo>
                  <a:lnTo>
                    <a:pt x="11672062" y="2266950"/>
                  </a:lnTo>
                  <a:cubicBezTo>
                    <a:pt x="11672062" y="2414270"/>
                    <a:pt x="11552682" y="2533650"/>
                    <a:pt x="11405362" y="2533650"/>
                  </a:cubicBezTo>
                  <a:lnTo>
                    <a:pt x="266700" y="2533650"/>
                  </a:lnTo>
                  <a:cubicBezTo>
                    <a:pt x="119380" y="2533650"/>
                    <a:pt x="0" y="2414270"/>
                    <a:pt x="0" y="2266950"/>
                  </a:cubicBezTo>
                  <a:close/>
                </a:path>
              </a:pathLst>
            </a:custGeom>
            <a:solidFill>
              <a:srgbClr val="0D1B36"/>
            </a:solid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8791051" y="4927625"/>
            <a:ext cx="8753999" cy="1900238"/>
            <a:chOff x="0" y="0"/>
            <a:chExt cx="11671998" cy="253365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1672062" cy="2533650"/>
            </a:xfrm>
            <a:custGeom>
              <a:avLst/>
              <a:gdLst/>
              <a:ahLst/>
              <a:cxnLst/>
              <a:rect r="r" b="b" t="t" l="l"/>
              <a:pathLst>
                <a:path h="2533650" w="11672062">
                  <a:moveTo>
                    <a:pt x="0" y="266700"/>
                  </a:moveTo>
                  <a:cubicBezTo>
                    <a:pt x="0" y="119380"/>
                    <a:pt x="119380" y="0"/>
                    <a:pt x="266700" y="0"/>
                  </a:cubicBezTo>
                  <a:lnTo>
                    <a:pt x="11405362" y="0"/>
                  </a:lnTo>
                  <a:cubicBezTo>
                    <a:pt x="11552682" y="0"/>
                    <a:pt x="11672062" y="119380"/>
                    <a:pt x="11672062" y="266700"/>
                  </a:cubicBezTo>
                  <a:lnTo>
                    <a:pt x="11672062" y="2266950"/>
                  </a:lnTo>
                  <a:cubicBezTo>
                    <a:pt x="11672062" y="2414270"/>
                    <a:pt x="11552682" y="2533650"/>
                    <a:pt x="11405362" y="2533650"/>
                  </a:cubicBezTo>
                  <a:lnTo>
                    <a:pt x="266700" y="2533650"/>
                  </a:lnTo>
                  <a:cubicBezTo>
                    <a:pt x="119380" y="2533650"/>
                    <a:pt x="0" y="2414270"/>
                    <a:pt x="0" y="2266950"/>
                  </a:cubicBezTo>
                  <a:close/>
                </a:path>
              </a:pathLst>
            </a:custGeom>
            <a:solidFill>
              <a:srgbClr val="0D1B36"/>
            </a:solid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8783907" y="7077894"/>
            <a:ext cx="8768286" cy="1914525"/>
            <a:chOff x="0" y="0"/>
            <a:chExt cx="11691048" cy="255270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11691112" cy="2552700"/>
            </a:xfrm>
            <a:custGeom>
              <a:avLst/>
              <a:gdLst/>
              <a:ahLst/>
              <a:cxnLst/>
              <a:rect r="r" b="b" t="t" l="l"/>
              <a:pathLst>
                <a:path h="2552700" w="11691112">
                  <a:moveTo>
                    <a:pt x="0" y="268732"/>
                  </a:moveTo>
                  <a:cubicBezTo>
                    <a:pt x="0" y="120269"/>
                    <a:pt x="120269" y="0"/>
                    <a:pt x="268732" y="0"/>
                  </a:cubicBezTo>
                  <a:lnTo>
                    <a:pt x="11422380" y="0"/>
                  </a:lnTo>
                  <a:cubicBezTo>
                    <a:pt x="11570716" y="0"/>
                    <a:pt x="11691112" y="120269"/>
                    <a:pt x="11691112" y="268732"/>
                  </a:cubicBezTo>
                  <a:lnTo>
                    <a:pt x="11691112" y="2283968"/>
                  </a:lnTo>
                  <a:cubicBezTo>
                    <a:pt x="11691112" y="2432304"/>
                    <a:pt x="11570843" y="2552700"/>
                    <a:pt x="11422380" y="2552700"/>
                  </a:cubicBezTo>
                  <a:lnTo>
                    <a:pt x="268732" y="2552700"/>
                  </a:lnTo>
                  <a:cubicBezTo>
                    <a:pt x="120269" y="2552700"/>
                    <a:pt x="0" y="2432431"/>
                    <a:pt x="0" y="2283968"/>
                  </a:cubicBezTo>
                  <a:close/>
                </a:path>
              </a:pathLst>
            </a:custGeom>
            <a:solidFill>
              <a:srgbClr val="062C43"/>
            </a:solidFill>
            <a:ln w="14288" cap="sq">
              <a:solidFill>
                <a:srgbClr val="0284C7"/>
              </a:solidFill>
              <a:prstDash val="solid"/>
              <a:miter/>
            </a:ln>
          </p:spPr>
        </p:sp>
      </p:grpSp>
      <p:grpSp>
        <p:nvGrpSpPr>
          <p:cNvPr name="Group 16" id="16"/>
          <p:cNvGrpSpPr/>
          <p:nvPr/>
        </p:nvGrpSpPr>
        <p:grpSpPr>
          <a:xfrm rot="0">
            <a:off x="8791051" y="4656163"/>
            <a:ext cx="8753999" cy="14288"/>
            <a:chOff x="0" y="0"/>
            <a:chExt cx="11671998" cy="1905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11671935" cy="19050"/>
            </a:xfrm>
            <a:custGeom>
              <a:avLst/>
              <a:gdLst/>
              <a:ahLst/>
              <a:cxnLst/>
              <a:rect r="r" b="b" t="t" l="l"/>
              <a:pathLst>
                <a:path h="19050" w="11671935">
                  <a:moveTo>
                    <a:pt x="0" y="0"/>
                  </a:moveTo>
                  <a:lnTo>
                    <a:pt x="11671935" y="0"/>
                  </a:lnTo>
                  <a:lnTo>
                    <a:pt x="11671935" y="19050"/>
                  </a:lnTo>
                  <a:lnTo>
                    <a:pt x="0" y="19050"/>
                  </a:lnTo>
                  <a:close/>
                </a:path>
              </a:pathLst>
            </a:custGeom>
            <a:solidFill>
              <a:srgbClr val="1E3A8A"/>
            </a:solidFill>
          </p:spPr>
        </p:sp>
      </p:grpSp>
      <p:grpSp>
        <p:nvGrpSpPr>
          <p:cNvPr name="Group 18" id="18"/>
          <p:cNvGrpSpPr/>
          <p:nvPr/>
        </p:nvGrpSpPr>
        <p:grpSpPr>
          <a:xfrm rot="0">
            <a:off x="8791051" y="2770213"/>
            <a:ext cx="8753999" cy="14288"/>
            <a:chOff x="0" y="0"/>
            <a:chExt cx="11671998" cy="1905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11671935" cy="19050"/>
            </a:xfrm>
            <a:custGeom>
              <a:avLst/>
              <a:gdLst/>
              <a:ahLst/>
              <a:cxnLst/>
              <a:rect r="r" b="b" t="t" l="l"/>
              <a:pathLst>
                <a:path h="19050" w="11671935">
                  <a:moveTo>
                    <a:pt x="0" y="0"/>
                  </a:moveTo>
                  <a:lnTo>
                    <a:pt x="11671935" y="0"/>
                  </a:lnTo>
                  <a:lnTo>
                    <a:pt x="11671935" y="19050"/>
                  </a:lnTo>
                  <a:lnTo>
                    <a:pt x="0" y="19050"/>
                  </a:lnTo>
                  <a:close/>
                </a:path>
              </a:pathLst>
            </a:custGeom>
            <a:solidFill>
              <a:srgbClr val="1E3A8A"/>
            </a:solidFill>
          </p:spPr>
        </p:sp>
      </p:grpSp>
      <p:grpSp>
        <p:nvGrpSpPr>
          <p:cNvPr name="Group 20" id="20"/>
          <p:cNvGrpSpPr/>
          <p:nvPr/>
        </p:nvGrpSpPr>
        <p:grpSpPr>
          <a:xfrm rot="0">
            <a:off x="8791051" y="2770213"/>
            <a:ext cx="71438" cy="1900238"/>
            <a:chOff x="0" y="0"/>
            <a:chExt cx="95250" cy="253365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95250" cy="2533650"/>
            </a:xfrm>
            <a:custGeom>
              <a:avLst/>
              <a:gdLst/>
              <a:ahLst/>
              <a:cxnLst/>
              <a:rect r="r" b="b" t="t" l="l"/>
              <a:pathLst>
                <a:path h="2533650" w="95250">
                  <a:moveTo>
                    <a:pt x="0" y="0"/>
                  </a:moveTo>
                  <a:lnTo>
                    <a:pt x="95250" y="0"/>
                  </a:lnTo>
                  <a:lnTo>
                    <a:pt x="95250" y="2533650"/>
                  </a:lnTo>
                  <a:lnTo>
                    <a:pt x="0" y="2533650"/>
                  </a:lnTo>
                  <a:close/>
                </a:path>
              </a:pathLst>
            </a:custGeom>
            <a:solidFill>
              <a:srgbClr val="38BDF8"/>
            </a:solidFill>
          </p:spPr>
        </p:sp>
      </p:grpSp>
      <p:grpSp>
        <p:nvGrpSpPr>
          <p:cNvPr name="Group 22" id="22"/>
          <p:cNvGrpSpPr/>
          <p:nvPr/>
        </p:nvGrpSpPr>
        <p:grpSpPr>
          <a:xfrm rot="0">
            <a:off x="17530762" y="2770213"/>
            <a:ext cx="14288" cy="1900238"/>
            <a:chOff x="0" y="0"/>
            <a:chExt cx="19050" cy="2533650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19050" cy="2533650"/>
            </a:xfrm>
            <a:custGeom>
              <a:avLst/>
              <a:gdLst/>
              <a:ahLst/>
              <a:cxnLst/>
              <a:rect r="r" b="b" t="t" l="l"/>
              <a:pathLst>
                <a:path h="2533650" w="19050">
                  <a:moveTo>
                    <a:pt x="0" y="0"/>
                  </a:moveTo>
                  <a:lnTo>
                    <a:pt x="19050" y="0"/>
                  </a:lnTo>
                  <a:lnTo>
                    <a:pt x="19050" y="2533650"/>
                  </a:lnTo>
                  <a:lnTo>
                    <a:pt x="0" y="2533650"/>
                  </a:lnTo>
                  <a:close/>
                </a:path>
              </a:pathLst>
            </a:custGeom>
            <a:solidFill>
              <a:srgbClr val="1E3A8A"/>
            </a:solidFill>
          </p:spPr>
        </p:sp>
      </p:grpSp>
      <p:grpSp>
        <p:nvGrpSpPr>
          <p:cNvPr name="Group 24" id="24"/>
          <p:cNvGrpSpPr/>
          <p:nvPr/>
        </p:nvGrpSpPr>
        <p:grpSpPr>
          <a:xfrm rot="0">
            <a:off x="8791051" y="6813575"/>
            <a:ext cx="8753999" cy="14288"/>
            <a:chOff x="0" y="0"/>
            <a:chExt cx="11671998" cy="19050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11671935" cy="19050"/>
            </a:xfrm>
            <a:custGeom>
              <a:avLst/>
              <a:gdLst/>
              <a:ahLst/>
              <a:cxnLst/>
              <a:rect r="r" b="b" t="t" l="l"/>
              <a:pathLst>
                <a:path h="19050" w="11671935">
                  <a:moveTo>
                    <a:pt x="0" y="0"/>
                  </a:moveTo>
                  <a:lnTo>
                    <a:pt x="11671935" y="0"/>
                  </a:lnTo>
                  <a:lnTo>
                    <a:pt x="11671935" y="19050"/>
                  </a:lnTo>
                  <a:lnTo>
                    <a:pt x="0" y="19050"/>
                  </a:lnTo>
                  <a:close/>
                </a:path>
              </a:pathLst>
            </a:custGeom>
            <a:solidFill>
              <a:srgbClr val="1E3A8A"/>
            </a:solidFill>
          </p:spPr>
        </p:sp>
      </p:grpSp>
      <p:grpSp>
        <p:nvGrpSpPr>
          <p:cNvPr name="Group 26" id="26"/>
          <p:cNvGrpSpPr/>
          <p:nvPr/>
        </p:nvGrpSpPr>
        <p:grpSpPr>
          <a:xfrm rot="0">
            <a:off x="8791051" y="4927625"/>
            <a:ext cx="8753999" cy="14288"/>
            <a:chOff x="0" y="0"/>
            <a:chExt cx="11671998" cy="19050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11671935" cy="19050"/>
            </a:xfrm>
            <a:custGeom>
              <a:avLst/>
              <a:gdLst/>
              <a:ahLst/>
              <a:cxnLst/>
              <a:rect r="r" b="b" t="t" l="l"/>
              <a:pathLst>
                <a:path h="19050" w="11671935">
                  <a:moveTo>
                    <a:pt x="0" y="0"/>
                  </a:moveTo>
                  <a:lnTo>
                    <a:pt x="11671935" y="0"/>
                  </a:lnTo>
                  <a:lnTo>
                    <a:pt x="11671935" y="19050"/>
                  </a:lnTo>
                  <a:lnTo>
                    <a:pt x="0" y="19050"/>
                  </a:lnTo>
                  <a:close/>
                </a:path>
              </a:pathLst>
            </a:custGeom>
            <a:solidFill>
              <a:srgbClr val="1E3A8A"/>
            </a:solidFill>
          </p:spPr>
        </p:sp>
      </p:grpSp>
      <p:grpSp>
        <p:nvGrpSpPr>
          <p:cNvPr name="Group 28" id="28"/>
          <p:cNvGrpSpPr/>
          <p:nvPr/>
        </p:nvGrpSpPr>
        <p:grpSpPr>
          <a:xfrm rot="0">
            <a:off x="8791051" y="4927625"/>
            <a:ext cx="71438" cy="1900238"/>
            <a:chOff x="0" y="0"/>
            <a:chExt cx="95250" cy="2533650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95250" cy="2533650"/>
            </a:xfrm>
            <a:custGeom>
              <a:avLst/>
              <a:gdLst/>
              <a:ahLst/>
              <a:cxnLst/>
              <a:rect r="r" b="b" t="t" l="l"/>
              <a:pathLst>
                <a:path h="2533650" w="95250">
                  <a:moveTo>
                    <a:pt x="0" y="0"/>
                  </a:moveTo>
                  <a:lnTo>
                    <a:pt x="95250" y="0"/>
                  </a:lnTo>
                  <a:lnTo>
                    <a:pt x="95250" y="2533650"/>
                  </a:lnTo>
                  <a:lnTo>
                    <a:pt x="0" y="2533650"/>
                  </a:lnTo>
                  <a:close/>
                </a:path>
              </a:pathLst>
            </a:custGeom>
            <a:solidFill>
              <a:srgbClr val="60A5FA"/>
            </a:solidFill>
          </p:spPr>
        </p:sp>
      </p:grpSp>
      <p:grpSp>
        <p:nvGrpSpPr>
          <p:cNvPr name="Group 30" id="30"/>
          <p:cNvGrpSpPr/>
          <p:nvPr/>
        </p:nvGrpSpPr>
        <p:grpSpPr>
          <a:xfrm rot="0">
            <a:off x="17530762" y="4927625"/>
            <a:ext cx="14288" cy="1900238"/>
            <a:chOff x="0" y="0"/>
            <a:chExt cx="19050" cy="2533650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19050" cy="2533650"/>
            </a:xfrm>
            <a:custGeom>
              <a:avLst/>
              <a:gdLst/>
              <a:ahLst/>
              <a:cxnLst/>
              <a:rect r="r" b="b" t="t" l="l"/>
              <a:pathLst>
                <a:path h="2533650" w="19050">
                  <a:moveTo>
                    <a:pt x="0" y="0"/>
                  </a:moveTo>
                  <a:lnTo>
                    <a:pt x="19050" y="0"/>
                  </a:lnTo>
                  <a:lnTo>
                    <a:pt x="19050" y="2533650"/>
                  </a:lnTo>
                  <a:lnTo>
                    <a:pt x="0" y="2533650"/>
                  </a:lnTo>
                  <a:close/>
                </a:path>
              </a:pathLst>
            </a:custGeom>
            <a:solidFill>
              <a:srgbClr val="1E3A8A"/>
            </a:solidFill>
          </p:spPr>
        </p:sp>
      </p:grpSp>
      <p:grpSp>
        <p:nvGrpSpPr>
          <p:cNvPr name="Group 32" id="32"/>
          <p:cNvGrpSpPr/>
          <p:nvPr/>
        </p:nvGrpSpPr>
        <p:grpSpPr>
          <a:xfrm rot="0">
            <a:off x="742950" y="1019994"/>
            <a:ext cx="542925" cy="485775"/>
            <a:chOff x="0" y="0"/>
            <a:chExt cx="723900" cy="647700"/>
          </a:xfrm>
        </p:grpSpPr>
        <p:sp>
          <p:nvSpPr>
            <p:cNvPr name="Freeform 33" id="33" descr="image.png"/>
            <p:cNvSpPr/>
            <p:nvPr/>
          </p:nvSpPr>
          <p:spPr>
            <a:xfrm flipH="false" flipV="false" rot="0">
              <a:off x="0" y="0"/>
              <a:ext cx="723900" cy="647700"/>
            </a:xfrm>
            <a:custGeom>
              <a:avLst/>
              <a:gdLst/>
              <a:ahLst/>
              <a:cxnLst/>
              <a:rect r="r" b="b" t="t" l="l"/>
              <a:pathLst>
                <a:path h="647700" w="723900">
                  <a:moveTo>
                    <a:pt x="0" y="0"/>
                  </a:moveTo>
                  <a:lnTo>
                    <a:pt x="723900" y="0"/>
                  </a:lnTo>
                  <a:lnTo>
                    <a:pt x="723900" y="647700"/>
                  </a:lnTo>
                  <a:lnTo>
                    <a:pt x="0" y="6477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-1470" r="0" b="-1470"/>
              </a:stretch>
            </a:blipFill>
          </p:spPr>
        </p:sp>
      </p:grpSp>
      <p:grpSp>
        <p:nvGrpSpPr>
          <p:cNvPr name="Group 34" id="34"/>
          <p:cNvGrpSpPr/>
          <p:nvPr/>
        </p:nvGrpSpPr>
        <p:grpSpPr>
          <a:xfrm rot="0">
            <a:off x="8986838" y="7443006"/>
            <a:ext cx="314325" cy="314325"/>
            <a:chOff x="0" y="0"/>
            <a:chExt cx="419100" cy="419100"/>
          </a:xfrm>
        </p:grpSpPr>
        <p:sp>
          <p:nvSpPr>
            <p:cNvPr name="Freeform 35" id="35" descr="image.png"/>
            <p:cNvSpPr/>
            <p:nvPr/>
          </p:nvSpPr>
          <p:spPr>
            <a:xfrm flipH="false" flipV="false" rot="0">
              <a:off x="0" y="0"/>
              <a:ext cx="419100" cy="419100"/>
            </a:xfrm>
            <a:custGeom>
              <a:avLst/>
              <a:gdLst/>
              <a:ahLst/>
              <a:cxnLst/>
              <a:rect r="r" b="b" t="t" l="l"/>
              <a:pathLst>
                <a:path h="419100" w="419100">
                  <a:moveTo>
                    <a:pt x="0" y="0"/>
                  </a:moveTo>
                  <a:lnTo>
                    <a:pt x="419100" y="0"/>
                  </a:lnTo>
                  <a:lnTo>
                    <a:pt x="419100" y="419100"/>
                  </a:lnTo>
                  <a:lnTo>
                    <a:pt x="0" y="4191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  <p:sp>
        <p:nvSpPr>
          <p:cNvPr name="TextBox 36" id="36"/>
          <p:cNvSpPr txBox="true"/>
          <p:nvPr/>
        </p:nvSpPr>
        <p:spPr>
          <a:xfrm rot="0">
            <a:off x="16602075" y="1097232"/>
            <a:ext cx="885825" cy="5334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sz="1800" b="true">
                <a:solidFill>
                  <a:srgbClr val="38BDF8"/>
                </a:solidFill>
                <a:latin typeface="Space Mono Bold"/>
                <a:ea typeface="Space Mono Bold"/>
                <a:cs typeface="Space Mono Bold"/>
                <a:sym typeface="Space Mono Bold"/>
              </a:rPr>
              <a:t>04/09</a:t>
            </a:r>
          </a:p>
          <a:p>
            <a:pPr algn="l">
              <a:lnSpc>
                <a:spcPts val="2160"/>
              </a:lnSpc>
            </a:pPr>
          </a:p>
        </p:txBody>
      </p:sp>
      <p:sp>
        <p:nvSpPr>
          <p:cNvPr name="TextBox 37" id="37"/>
          <p:cNvSpPr txBox="true"/>
          <p:nvPr/>
        </p:nvSpPr>
        <p:spPr>
          <a:xfrm rot="0">
            <a:off x="742950" y="571500"/>
            <a:ext cx="12858750" cy="3429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sz="1800" b="true">
                <a:solidFill>
                  <a:srgbClr val="38BDF8"/>
                </a:solidFill>
                <a:latin typeface="Prompt Bold"/>
                <a:ea typeface="Prompt Bold"/>
                <a:cs typeface="Prompt Bold"/>
                <a:sym typeface="Prompt Bold"/>
              </a:rPr>
              <a:t>04 INTERACTIVE LEVEL-UP SYSTEM</a:t>
            </a:r>
          </a:p>
        </p:txBody>
      </p:sp>
      <p:grpSp>
        <p:nvGrpSpPr>
          <p:cNvPr name="Group 38" id="38"/>
          <p:cNvGrpSpPr/>
          <p:nvPr/>
        </p:nvGrpSpPr>
        <p:grpSpPr>
          <a:xfrm rot="0">
            <a:off x="1457325" y="878194"/>
            <a:ext cx="14265456" cy="769595"/>
            <a:chOff x="0" y="0"/>
            <a:chExt cx="19020608" cy="1026127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19020614" cy="1026130"/>
            </a:xfrm>
            <a:custGeom>
              <a:avLst/>
              <a:gdLst/>
              <a:ahLst/>
              <a:cxnLst/>
              <a:rect r="r" b="b" t="t" l="l"/>
              <a:pathLst>
                <a:path h="1026130" w="19020614">
                  <a:moveTo>
                    <a:pt x="0" y="0"/>
                  </a:moveTo>
                  <a:lnTo>
                    <a:pt x="19020614" y="0"/>
                  </a:lnTo>
                  <a:lnTo>
                    <a:pt x="19020614" y="1026130"/>
                  </a:lnTo>
                  <a:lnTo>
                    <a:pt x="0" y="102613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365694" r="-11734" b="-341432"/>
              </a:stretch>
            </a:blipFill>
          </p:spPr>
        </p:sp>
        <p:sp>
          <p:nvSpPr>
            <p:cNvPr name="TextBox 40" id="40"/>
            <p:cNvSpPr txBox="true"/>
            <p:nvPr/>
          </p:nvSpPr>
          <p:spPr>
            <a:xfrm>
              <a:off x="0" y="-76200"/>
              <a:ext cx="19020608" cy="110232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590"/>
                </a:lnSpc>
              </a:pPr>
              <a:r>
                <a:rPr lang="en-US" sz="3825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ระบบพัฒนาตัวละครและการฟื้นฟูพลังชีวิต (Progression)</a:t>
              </a:r>
            </a:p>
          </p:txBody>
        </p:sp>
      </p:grpSp>
      <p:sp>
        <p:nvSpPr>
          <p:cNvPr name="TextBox 41" id="41"/>
          <p:cNvSpPr txBox="true"/>
          <p:nvPr/>
        </p:nvSpPr>
        <p:spPr>
          <a:xfrm rot="0">
            <a:off x="1371600" y="4793456"/>
            <a:ext cx="1814512" cy="3143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25"/>
              </a:lnSpc>
            </a:pPr>
            <a:r>
              <a:rPr lang="en-US" sz="1687" b="true">
                <a:solidFill>
                  <a:srgbClr val="FFFFFF"/>
                </a:solidFill>
                <a:latin typeface="Space Mono Bold"/>
                <a:ea typeface="Space Mono Bold"/>
                <a:cs typeface="Space Mono Bold"/>
                <a:sym typeface="Space Mono Bold"/>
              </a:rPr>
              <a:t>STATE_LEVELUP</a:t>
            </a:r>
          </a:p>
        </p:txBody>
      </p:sp>
      <p:sp>
        <p:nvSpPr>
          <p:cNvPr name="TextBox 42" id="42"/>
          <p:cNvSpPr txBox="true"/>
          <p:nvPr/>
        </p:nvSpPr>
        <p:spPr>
          <a:xfrm rot="0">
            <a:off x="1228725" y="5326856"/>
            <a:ext cx="7220360" cy="6238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10"/>
              </a:lnSpc>
            </a:pPr>
            <a:r>
              <a:rPr lang="en-US" sz="2925" b="true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การหยุดเกมชั่วคราว</a:t>
            </a:r>
          </a:p>
        </p:txBody>
      </p:sp>
      <p:sp>
        <p:nvSpPr>
          <p:cNvPr name="TextBox 43" id="43"/>
          <p:cNvSpPr txBox="true"/>
          <p:nvPr/>
        </p:nvSpPr>
        <p:spPr>
          <a:xfrm rot="0">
            <a:off x="1228725" y="6026944"/>
            <a:ext cx="6876526" cy="9922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18"/>
              </a:lnSpc>
            </a:pPr>
            <a:r>
              <a:rPr lang="en-US" sz="2137">
                <a:solidFill>
                  <a:srgbClr val="CBD5E1"/>
                </a:solidFill>
                <a:latin typeface="Calibri (MS)"/>
                <a:ea typeface="Calibri (MS)"/>
                <a:cs typeface="Calibri (MS)"/>
                <a:sym typeface="Calibri (MS)"/>
              </a:rPr>
              <a:t>เมื่อสะสม XP จนเต็มแถบ ระบบจะทำการแช่แข็งวงลูปเกมชั่วคราว เพื่อเข้าสู่หน้าจอตัวเลือกอัปเกรดความสามารถให้ผู้เล่น</a:t>
            </a:r>
          </a:p>
        </p:txBody>
      </p:sp>
      <p:sp>
        <p:nvSpPr>
          <p:cNvPr name="TextBox 44" id="44"/>
          <p:cNvSpPr txBox="true"/>
          <p:nvPr/>
        </p:nvSpPr>
        <p:spPr>
          <a:xfrm rot="0">
            <a:off x="9176814" y="3646513"/>
            <a:ext cx="8182499" cy="6953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30"/>
              </a:lnSpc>
            </a:pPr>
            <a:r>
              <a:rPr lang="en-US" sz="2025">
                <a:solidFill>
                  <a:srgbClr val="E2E8F0"/>
                </a:solidFill>
                <a:latin typeface="Calibri (MS)"/>
                <a:ea typeface="Calibri (MS)"/>
                <a:cs typeface="Calibri (MS)"/>
                <a:sym typeface="Calibri (MS)"/>
              </a:rPr>
              <a:t>ลดระยะเวลาคูลดาวน์การโจมตีอัตโนมัติลงครั้งละ 150 ms โดยกำหนดขีดจำกัดความเร็วไว้ที่ 350 ms</a:t>
            </a:r>
          </a:p>
        </p:txBody>
      </p:sp>
      <p:sp>
        <p:nvSpPr>
          <p:cNvPr name="TextBox 45" id="45"/>
          <p:cNvSpPr txBox="true"/>
          <p:nvPr/>
        </p:nvSpPr>
        <p:spPr>
          <a:xfrm rot="0">
            <a:off x="9176814" y="5803925"/>
            <a:ext cx="8182499" cy="6953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30"/>
              </a:lnSpc>
            </a:pPr>
            <a:r>
              <a:rPr lang="en-US" sz="2025">
                <a:solidFill>
                  <a:srgbClr val="E2E8F0"/>
                </a:solidFill>
                <a:latin typeface="Calibri (MS)"/>
                <a:ea typeface="Calibri (MS)"/>
                <a:cs typeface="Calibri (MS)"/>
                <a:sym typeface="Calibri (MS)"/>
              </a:rPr>
              <a:t>เพิ่มรัศมีวงกลมการโจมตีขึ้นครั้งละ 6 px โดยกำหนดขีดจำกัดรัศมีสูงสุดไว้ที่ 70 px</a:t>
            </a:r>
          </a:p>
        </p:txBody>
      </p:sp>
      <p:sp>
        <p:nvSpPr>
          <p:cNvPr name="TextBox 46" id="46"/>
          <p:cNvSpPr txBox="true"/>
          <p:nvPr/>
        </p:nvSpPr>
        <p:spPr>
          <a:xfrm rot="0">
            <a:off x="9329214" y="7413650"/>
            <a:ext cx="8442074" cy="4714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70"/>
              </a:lnSpc>
            </a:pPr>
            <a:r>
              <a:rPr lang="en-US" sz="2475" b="true">
                <a:solidFill>
                  <a:srgbClr val="38BDF8"/>
                </a:solidFill>
                <a:latin typeface="Prompt Bold"/>
                <a:ea typeface="Prompt Bold"/>
                <a:cs typeface="Prompt Bold"/>
                <a:sym typeface="Prompt Bold"/>
              </a:rPr>
              <a:t>Survival Milestone Bonus</a:t>
            </a:r>
          </a:p>
        </p:txBody>
      </p:sp>
      <p:sp>
        <p:nvSpPr>
          <p:cNvPr name="TextBox 47" id="47"/>
          <p:cNvSpPr txBox="true"/>
          <p:nvPr/>
        </p:nvSpPr>
        <p:spPr>
          <a:xfrm rot="0">
            <a:off x="9119664" y="7961338"/>
            <a:ext cx="8239649" cy="6953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30"/>
              </a:lnSpc>
            </a:pPr>
            <a:r>
              <a:rPr lang="en-US" sz="2025">
                <a:solidFill>
                  <a:srgbClr val="E2E8F0"/>
                </a:solidFill>
                <a:latin typeface="Calibri (MS)"/>
                <a:ea typeface="Calibri (MS)"/>
                <a:cs typeface="Calibri (MS)"/>
                <a:sym typeface="Calibri (MS)"/>
              </a:rPr>
              <a:t>ทุกๆ 5 เลเวล (Lv 5, 10, 15...) ระบบจะมอบโบนัสฟื้นฟู +1 HP พร้อมเปิดไฟ LED และเล่นเพลง victory fanfare</a:t>
            </a:r>
          </a:p>
        </p:txBody>
      </p:sp>
      <p:sp>
        <p:nvSpPr>
          <p:cNvPr name="TextBox 48" id="48"/>
          <p:cNvSpPr txBox="true"/>
          <p:nvPr/>
        </p:nvSpPr>
        <p:spPr>
          <a:xfrm rot="0">
            <a:off x="9176814" y="3098825"/>
            <a:ext cx="4125516" cy="4714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70"/>
              </a:lnSpc>
            </a:pPr>
            <a:r>
              <a:rPr lang="en-US" sz="2475" b="true">
                <a:solidFill>
                  <a:srgbClr val="38BDF8"/>
                </a:solidFill>
                <a:latin typeface="Prompt Bold"/>
                <a:ea typeface="Prompt Bold"/>
                <a:cs typeface="Prompt Bold"/>
                <a:sym typeface="Prompt Bold"/>
              </a:rPr>
              <a:t>OPTION A: Attack Speed</a:t>
            </a:r>
          </a:p>
        </p:txBody>
      </p:sp>
      <p:sp>
        <p:nvSpPr>
          <p:cNvPr name="TextBox 49" id="49"/>
          <p:cNvSpPr txBox="true"/>
          <p:nvPr/>
        </p:nvSpPr>
        <p:spPr>
          <a:xfrm rot="0">
            <a:off x="15287625" y="3177407"/>
            <a:ext cx="2411016" cy="3143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25"/>
              </a:lnSpc>
            </a:pPr>
            <a:r>
              <a:rPr lang="en-US" sz="1687" b="true">
                <a:solidFill>
                  <a:srgbClr val="60A5FA"/>
                </a:solidFill>
                <a:latin typeface="Space Mono Bold"/>
                <a:ea typeface="Space Mono Bold"/>
                <a:cs typeface="Space Mono Bold"/>
                <a:sym typeface="Space Mono Bold"/>
              </a:rPr>
              <a:t>-150 ms / level</a:t>
            </a:r>
          </a:p>
        </p:txBody>
      </p:sp>
      <p:sp>
        <p:nvSpPr>
          <p:cNvPr name="TextBox 50" id="50"/>
          <p:cNvSpPr txBox="true"/>
          <p:nvPr/>
        </p:nvSpPr>
        <p:spPr>
          <a:xfrm rot="0">
            <a:off x="9176814" y="5256238"/>
            <a:ext cx="4080510" cy="4714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70"/>
              </a:lnSpc>
            </a:pPr>
            <a:r>
              <a:rPr lang="en-US" sz="2475" b="true">
                <a:solidFill>
                  <a:srgbClr val="60A5FA"/>
                </a:solidFill>
                <a:latin typeface="Prompt Bold"/>
                <a:ea typeface="Prompt Bold"/>
                <a:cs typeface="Prompt Bold"/>
                <a:sym typeface="Prompt Bold"/>
              </a:rPr>
              <a:t>OPTION B: Attack Range</a:t>
            </a:r>
          </a:p>
        </p:txBody>
      </p:sp>
      <p:sp>
        <p:nvSpPr>
          <p:cNvPr name="TextBox 51" id="51"/>
          <p:cNvSpPr txBox="true"/>
          <p:nvPr/>
        </p:nvSpPr>
        <p:spPr>
          <a:xfrm rot="0">
            <a:off x="15544800" y="5334819"/>
            <a:ext cx="2100262" cy="3143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25"/>
              </a:lnSpc>
            </a:pPr>
            <a:r>
              <a:rPr lang="en-US" sz="1687" b="true">
                <a:solidFill>
                  <a:srgbClr val="38BDF8"/>
                </a:solidFill>
                <a:latin typeface="Space Mono Bold"/>
                <a:ea typeface="Space Mono Bold"/>
                <a:cs typeface="Space Mono Bold"/>
                <a:sym typeface="Space Mono Bold"/>
              </a:rPr>
              <a:t>+6 px / level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B132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10258425"/>
            <a:ext cx="18288000" cy="28575"/>
            <a:chOff x="0" y="0"/>
            <a:chExt cx="24384000" cy="381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38100"/>
            </a:xfrm>
            <a:custGeom>
              <a:avLst/>
              <a:gdLst/>
              <a:ahLst/>
              <a:cxnLst/>
              <a:rect r="r" b="b" t="t" l="l"/>
              <a:pathLst>
                <a:path h="381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38100"/>
                  </a:lnTo>
                  <a:lnTo>
                    <a:pt x="0" y="38100"/>
                  </a:lnTo>
                  <a:close/>
                </a:path>
              </a:pathLst>
            </a:custGeom>
            <a:solidFill>
              <a:srgbClr val="1E293B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16394906" y="1004364"/>
            <a:ext cx="1157288" cy="557212"/>
            <a:chOff x="0" y="0"/>
            <a:chExt cx="1543050" cy="74295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543177" cy="742950"/>
            </a:xfrm>
            <a:custGeom>
              <a:avLst/>
              <a:gdLst/>
              <a:ahLst/>
              <a:cxnLst/>
              <a:rect r="r" b="b" t="t" l="l"/>
              <a:pathLst>
                <a:path h="742950" w="1543177">
                  <a:moveTo>
                    <a:pt x="0" y="156464"/>
                  </a:moveTo>
                  <a:cubicBezTo>
                    <a:pt x="0" y="69977"/>
                    <a:pt x="69977" y="0"/>
                    <a:pt x="156464" y="0"/>
                  </a:cubicBezTo>
                  <a:lnTo>
                    <a:pt x="1386713" y="0"/>
                  </a:lnTo>
                  <a:cubicBezTo>
                    <a:pt x="1473073" y="0"/>
                    <a:pt x="1543177" y="69977"/>
                    <a:pt x="1543177" y="156464"/>
                  </a:cubicBezTo>
                  <a:lnTo>
                    <a:pt x="1543177" y="586486"/>
                  </a:lnTo>
                  <a:cubicBezTo>
                    <a:pt x="1543177" y="672846"/>
                    <a:pt x="1473200" y="742950"/>
                    <a:pt x="1386713" y="742950"/>
                  </a:cubicBezTo>
                  <a:lnTo>
                    <a:pt x="156464" y="742950"/>
                  </a:lnTo>
                  <a:cubicBezTo>
                    <a:pt x="69977" y="742950"/>
                    <a:pt x="0" y="672973"/>
                    <a:pt x="0" y="586486"/>
                  </a:cubicBezTo>
                  <a:close/>
                </a:path>
              </a:pathLst>
            </a:custGeom>
            <a:solidFill>
              <a:srgbClr val="1E293B"/>
            </a:solidFill>
            <a:ln w="14288" cap="sq">
              <a:solidFill>
                <a:srgbClr val="0284C7"/>
              </a:solidFill>
              <a:prstDash val="solid"/>
              <a:miter/>
            </a:ln>
          </p:spPr>
        </p:sp>
      </p:grpSp>
      <p:grpSp>
        <p:nvGrpSpPr>
          <p:cNvPr name="Group 6" id="6"/>
          <p:cNvGrpSpPr/>
          <p:nvPr/>
        </p:nvGrpSpPr>
        <p:grpSpPr>
          <a:xfrm rot="0">
            <a:off x="735806" y="6344764"/>
            <a:ext cx="16816388" cy="1671638"/>
            <a:chOff x="0" y="0"/>
            <a:chExt cx="22421850" cy="222885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2421850" cy="2228850"/>
            </a:xfrm>
            <a:custGeom>
              <a:avLst/>
              <a:gdLst/>
              <a:ahLst/>
              <a:cxnLst/>
              <a:rect r="r" b="b" t="t" l="l"/>
              <a:pathLst>
                <a:path h="2228850" w="22421850">
                  <a:moveTo>
                    <a:pt x="0" y="268986"/>
                  </a:moveTo>
                  <a:cubicBezTo>
                    <a:pt x="0" y="120396"/>
                    <a:pt x="120396" y="0"/>
                    <a:pt x="268986" y="0"/>
                  </a:cubicBezTo>
                  <a:lnTo>
                    <a:pt x="22152863" y="0"/>
                  </a:lnTo>
                  <a:cubicBezTo>
                    <a:pt x="22301453" y="0"/>
                    <a:pt x="22421850" y="120396"/>
                    <a:pt x="22421850" y="268986"/>
                  </a:cubicBezTo>
                  <a:lnTo>
                    <a:pt x="22421850" y="1959864"/>
                  </a:lnTo>
                  <a:cubicBezTo>
                    <a:pt x="22421850" y="2108454"/>
                    <a:pt x="22301453" y="2228850"/>
                    <a:pt x="22152863" y="2228850"/>
                  </a:cubicBezTo>
                  <a:lnTo>
                    <a:pt x="268986" y="2228850"/>
                  </a:lnTo>
                  <a:cubicBezTo>
                    <a:pt x="120396" y="2228850"/>
                    <a:pt x="0" y="2108454"/>
                    <a:pt x="0" y="1959864"/>
                  </a:cubicBezTo>
                  <a:close/>
                </a:path>
              </a:pathLst>
            </a:custGeom>
            <a:solidFill>
              <a:srgbClr val="021024"/>
            </a:solidFill>
            <a:ln w="14288" cap="sq">
              <a:solidFill>
                <a:srgbClr val="0284C7"/>
              </a:solidFill>
              <a:prstDash val="solid"/>
              <a:miter/>
            </a:ln>
          </p:spPr>
        </p:sp>
      </p:grpSp>
      <p:grpSp>
        <p:nvGrpSpPr>
          <p:cNvPr name="Group 8" id="8"/>
          <p:cNvGrpSpPr/>
          <p:nvPr/>
        </p:nvGrpSpPr>
        <p:grpSpPr>
          <a:xfrm rot="0">
            <a:off x="742950" y="3746230"/>
            <a:ext cx="4029075" cy="2319928"/>
            <a:chOff x="0" y="0"/>
            <a:chExt cx="5372100" cy="3093237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5372100" cy="3093212"/>
            </a:xfrm>
            <a:custGeom>
              <a:avLst/>
              <a:gdLst/>
              <a:ahLst/>
              <a:cxnLst/>
              <a:rect r="r" b="b" t="t" l="l"/>
              <a:pathLst>
                <a:path h="3093212" w="5372100">
                  <a:moveTo>
                    <a:pt x="0" y="266700"/>
                  </a:moveTo>
                  <a:cubicBezTo>
                    <a:pt x="0" y="119380"/>
                    <a:pt x="119380" y="0"/>
                    <a:pt x="266700" y="0"/>
                  </a:cubicBezTo>
                  <a:lnTo>
                    <a:pt x="5105400" y="0"/>
                  </a:lnTo>
                  <a:cubicBezTo>
                    <a:pt x="5252720" y="0"/>
                    <a:pt x="5372100" y="119380"/>
                    <a:pt x="5372100" y="266700"/>
                  </a:cubicBezTo>
                  <a:lnTo>
                    <a:pt x="5372100" y="2826512"/>
                  </a:lnTo>
                  <a:cubicBezTo>
                    <a:pt x="5372100" y="2973832"/>
                    <a:pt x="5252720" y="3093212"/>
                    <a:pt x="5105400" y="3093212"/>
                  </a:cubicBezTo>
                  <a:lnTo>
                    <a:pt x="266700" y="3093212"/>
                  </a:lnTo>
                  <a:cubicBezTo>
                    <a:pt x="119380" y="3093212"/>
                    <a:pt x="0" y="2973832"/>
                    <a:pt x="0" y="2826512"/>
                  </a:cubicBezTo>
                  <a:close/>
                </a:path>
              </a:pathLst>
            </a:custGeom>
            <a:solidFill>
              <a:srgbClr val="0D172A"/>
            </a:solid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5000625" y="3746230"/>
            <a:ext cx="4029075" cy="2319928"/>
            <a:chOff x="0" y="0"/>
            <a:chExt cx="5372100" cy="3093237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5372100" cy="3093212"/>
            </a:xfrm>
            <a:custGeom>
              <a:avLst/>
              <a:gdLst/>
              <a:ahLst/>
              <a:cxnLst/>
              <a:rect r="r" b="b" t="t" l="l"/>
              <a:pathLst>
                <a:path h="3093212" w="5372100">
                  <a:moveTo>
                    <a:pt x="0" y="266700"/>
                  </a:moveTo>
                  <a:cubicBezTo>
                    <a:pt x="0" y="119380"/>
                    <a:pt x="119380" y="0"/>
                    <a:pt x="266700" y="0"/>
                  </a:cubicBezTo>
                  <a:lnTo>
                    <a:pt x="5105400" y="0"/>
                  </a:lnTo>
                  <a:cubicBezTo>
                    <a:pt x="5252720" y="0"/>
                    <a:pt x="5372100" y="119380"/>
                    <a:pt x="5372100" y="266700"/>
                  </a:cubicBezTo>
                  <a:lnTo>
                    <a:pt x="5372100" y="2826512"/>
                  </a:lnTo>
                  <a:cubicBezTo>
                    <a:pt x="5372100" y="2973832"/>
                    <a:pt x="5252720" y="3093212"/>
                    <a:pt x="5105400" y="3093212"/>
                  </a:cubicBezTo>
                  <a:lnTo>
                    <a:pt x="266700" y="3093212"/>
                  </a:lnTo>
                  <a:cubicBezTo>
                    <a:pt x="119380" y="3093212"/>
                    <a:pt x="0" y="2973832"/>
                    <a:pt x="0" y="2826512"/>
                  </a:cubicBezTo>
                  <a:close/>
                </a:path>
              </a:pathLst>
            </a:custGeom>
            <a:solidFill>
              <a:srgbClr val="0D172A"/>
            </a:solid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9258300" y="3746230"/>
            <a:ext cx="4029075" cy="2319928"/>
            <a:chOff x="0" y="0"/>
            <a:chExt cx="5372100" cy="3093237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5372100" cy="3093212"/>
            </a:xfrm>
            <a:custGeom>
              <a:avLst/>
              <a:gdLst/>
              <a:ahLst/>
              <a:cxnLst/>
              <a:rect r="r" b="b" t="t" l="l"/>
              <a:pathLst>
                <a:path h="3093212" w="5372100">
                  <a:moveTo>
                    <a:pt x="0" y="266700"/>
                  </a:moveTo>
                  <a:cubicBezTo>
                    <a:pt x="0" y="119380"/>
                    <a:pt x="119380" y="0"/>
                    <a:pt x="266700" y="0"/>
                  </a:cubicBezTo>
                  <a:lnTo>
                    <a:pt x="5105400" y="0"/>
                  </a:lnTo>
                  <a:cubicBezTo>
                    <a:pt x="5252720" y="0"/>
                    <a:pt x="5372100" y="119380"/>
                    <a:pt x="5372100" y="266700"/>
                  </a:cubicBezTo>
                  <a:lnTo>
                    <a:pt x="5372100" y="2826512"/>
                  </a:lnTo>
                  <a:cubicBezTo>
                    <a:pt x="5372100" y="2973832"/>
                    <a:pt x="5252720" y="3093212"/>
                    <a:pt x="5105400" y="3093212"/>
                  </a:cubicBezTo>
                  <a:lnTo>
                    <a:pt x="266700" y="3093212"/>
                  </a:lnTo>
                  <a:cubicBezTo>
                    <a:pt x="119380" y="3093212"/>
                    <a:pt x="0" y="2973832"/>
                    <a:pt x="0" y="2826512"/>
                  </a:cubicBezTo>
                  <a:close/>
                </a:path>
              </a:pathLst>
            </a:custGeom>
            <a:solidFill>
              <a:srgbClr val="0D172A"/>
            </a:solid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13515975" y="3746230"/>
            <a:ext cx="4029075" cy="2319928"/>
            <a:chOff x="0" y="0"/>
            <a:chExt cx="5372100" cy="3093237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5372100" cy="3093212"/>
            </a:xfrm>
            <a:custGeom>
              <a:avLst/>
              <a:gdLst/>
              <a:ahLst/>
              <a:cxnLst/>
              <a:rect r="r" b="b" t="t" l="l"/>
              <a:pathLst>
                <a:path h="3093212" w="5372100">
                  <a:moveTo>
                    <a:pt x="0" y="266700"/>
                  </a:moveTo>
                  <a:cubicBezTo>
                    <a:pt x="0" y="119380"/>
                    <a:pt x="119380" y="0"/>
                    <a:pt x="266700" y="0"/>
                  </a:cubicBezTo>
                  <a:lnTo>
                    <a:pt x="5105400" y="0"/>
                  </a:lnTo>
                  <a:cubicBezTo>
                    <a:pt x="5252720" y="0"/>
                    <a:pt x="5372100" y="119380"/>
                    <a:pt x="5372100" y="266700"/>
                  </a:cubicBezTo>
                  <a:lnTo>
                    <a:pt x="5372100" y="2826512"/>
                  </a:lnTo>
                  <a:cubicBezTo>
                    <a:pt x="5372100" y="2973832"/>
                    <a:pt x="5252720" y="3093212"/>
                    <a:pt x="5105400" y="3093212"/>
                  </a:cubicBezTo>
                  <a:lnTo>
                    <a:pt x="266700" y="3093212"/>
                  </a:lnTo>
                  <a:cubicBezTo>
                    <a:pt x="119380" y="3093212"/>
                    <a:pt x="0" y="2973832"/>
                    <a:pt x="0" y="2826512"/>
                  </a:cubicBezTo>
                  <a:close/>
                </a:path>
              </a:pathLst>
            </a:custGeom>
            <a:solidFill>
              <a:srgbClr val="0D172A"/>
            </a:solidFill>
          </p:spPr>
        </p:sp>
      </p:grpSp>
      <p:grpSp>
        <p:nvGrpSpPr>
          <p:cNvPr name="Group 16" id="16"/>
          <p:cNvGrpSpPr/>
          <p:nvPr/>
        </p:nvGrpSpPr>
        <p:grpSpPr>
          <a:xfrm rot="0">
            <a:off x="742950" y="6051871"/>
            <a:ext cx="4029075" cy="14288"/>
            <a:chOff x="0" y="0"/>
            <a:chExt cx="5372100" cy="1905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5372100" cy="19050"/>
            </a:xfrm>
            <a:custGeom>
              <a:avLst/>
              <a:gdLst/>
              <a:ahLst/>
              <a:cxnLst/>
              <a:rect r="r" b="b" t="t" l="l"/>
              <a:pathLst>
                <a:path h="19050" w="5372100">
                  <a:moveTo>
                    <a:pt x="0" y="0"/>
                  </a:moveTo>
                  <a:lnTo>
                    <a:pt x="5372100" y="0"/>
                  </a:lnTo>
                  <a:lnTo>
                    <a:pt x="5372100" y="19050"/>
                  </a:lnTo>
                  <a:lnTo>
                    <a:pt x="0" y="19050"/>
                  </a:lnTo>
                  <a:close/>
                </a:path>
              </a:pathLst>
            </a:custGeom>
            <a:solidFill>
              <a:srgbClr val="1E3A8A"/>
            </a:solidFill>
          </p:spPr>
        </p:sp>
      </p:grpSp>
      <p:grpSp>
        <p:nvGrpSpPr>
          <p:cNvPr name="Group 18" id="18"/>
          <p:cNvGrpSpPr/>
          <p:nvPr/>
        </p:nvGrpSpPr>
        <p:grpSpPr>
          <a:xfrm rot="0">
            <a:off x="742950" y="3746230"/>
            <a:ext cx="4029075" cy="71438"/>
            <a:chOff x="0" y="0"/>
            <a:chExt cx="5372100" cy="9525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5372100" cy="95250"/>
            </a:xfrm>
            <a:custGeom>
              <a:avLst/>
              <a:gdLst/>
              <a:ahLst/>
              <a:cxnLst/>
              <a:rect r="r" b="b" t="t" l="l"/>
              <a:pathLst>
                <a:path h="95250" w="5372100">
                  <a:moveTo>
                    <a:pt x="0" y="0"/>
                  </a:moveTo>
                  <a:lnTo>
                    <a:pt x="5372100" y="0"/>
                  </a:lnTo>
                  <a:lnTo>
                    <a:pt x="5372100" y="95250"/>
                  </a:lnTo>
                  <a:lnTo>
                    <a:pt x="0" y="95250"/>
                  </a:lnTo>
                  <a:close/>
                </a:path>
              </a:pathLst>
            </a:custGeom>
            <a:solidFill>
              <a:srgbClr val="38BDF8"/>
            </a:solidFill>
          </p:spPr>
        </p:sp>
      </p:grpSp>
      <p:grpSp>
        <p:nvGrpSpPr>
          <p:cNvPr name="Group 20" id="20"/>
          <p:cNvGrpSpPr/>
          <p:nvPr/>
        </p:nvGrpSpPr>
        <p:grpSpPr>
          <a:xfrm rot="0">
            <a:off x="742950" y="3746230"/>
            <a:ext cx="14288" cy="2319928"/>
            <a:chOff x="0" y="0"/>
            <a:chExt cx="19050" cy="3093237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19050" cy="3093212"/>
            </a:xfrm>
            <a:custGeom>
              <a:avLst/>
              <a:gdLst/>
              <a:ahLst/>
              <a:cxnLst/>
              <a:rect r="r" b="b" t="t" l="l"/>
              <a:pathLst>
                <a:path h="3093212" w="19050">
                  <a:moveTo>
                    <a:pt x="0" y="0"/>
                  </a:moveTo>
                  <a:lnTo>
                    <a:pt x="19050" y="0"/>
                  </a:lnTo>
                  <a:lnTo>
                    <a:pt x="19050" y="3093212"/>
                  </a:lnTo>
                  <a:lnTo>
                    <a:pt x="0" y="3093212"/>
                  </a:lnTo>
                  <a:close/>
                </a:path>
              </a:pathLst>
            </a:custGeom>
            <a:solidFill>
              <a:srgbClr val="1E3A8A"/>
            </a:solidFill>
          </p:spPr>
        </p:sp>
      </p:grpSp>
      <p:grpSp>
        <p:nvGrpSpPr>
          <p:cNvPr name="Group 22" id="22"/>
          <p:cNvGrpSpPr/>
          <p:nvPr/>
        </p:nvGrpSpPr>
        <p:grpSpPr>
          <a:xfrm rot="0">
            <a:off x="4757738" y="3746230"/>
            <a:ext cx="14288" cy="2319928"/>
            <a:chOff x="0" y="0"/>
            <a:chExt cx="19050" cy="3093237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19050" cy="3093212"/>
            </a:xfrm>
            <a:custGeom>
              <a:avLst/>
              <a:gdLst/>
              <a:ahLst/>
              <a:cxnLst/>
              <a:rect r="r" b="b" t="t" l="l"/>
              <a:pathLst>
                <a:path h="3093212" w="19050">
                  <a:moveTo>
                    <a:pt x="0" y="0"/>
                  </a:moveTo>
                  <a:lnTo>
                    <a:pt x="19050" y="0"/>
                  </a:lnTo>
                  <a:lnTo>
                    <a:pt x="19050" y="3093212"/>
                  </a:lnTo>
                  <a:lnTo>
                    <a:pt x="0" y="3093212"/>
                  </a:lnTo>
                  <a:close/>
                </a:path>
              </a:pathLst>
            </a:custGeom>
            <a:solidFill>
              <a:srgbClr val="1E3A8A"/>
            </a:solidFill>
          </p:spPr>
        </p:sp>
      </p:grpSp>
      <p:grpSp>
        <p:nvGrpSpPr>
          <p:cNvPr name="Group 24" id="24"/>
          <p:cNvGrpSpPr/>
          <p:nvPr/>
        </p:nvGrpSpPr>
        <p:grpSpPr>
          <a:xfrm rot="0">
            <a:off x="5000625" y="6051871"/>
            <a:ext cx="4029075" cy="14288"/>
            <a:chOff x="0" y="0"/>
            <a:chExt cx="5372100" cy="19050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5372100" cy="19050"/>
            </a:xfrm>
            <a:custGeom>
              <a:avLst/>
              <a:gdLst/>
              <a:ahLst/>
              <a:cxnLst/>
              <a:rect r="r" b="b" t="t" l="l"/>
              <a:pathLst>
                <a:path h="19050" w="5372100">
                  <a:moveTo>
                    <a:pt x="0" y="0"/>
                  </a:moveTo>
                  <a:lnTo>
                    <a:pt x="5372100" y="0"/>
                  </a:lnTo>
                  <a:lnTo>
                    <a:pt x="5372100" y="19050"/>
                  </a:lnTo>
                  <a:lnTo>
                    <a:pt x="0" y="19050"/>
                  </a:lnTo>
                  <a:close/>
                </a:path>
              </a:pathLst>
            </a:custGeom>
            <a:solidFill>
              <a:srgbClr val="1E3A8A"/>
            </a:solidFill>
          </p:spPr>
        </p:sp>
      </p:grpSp>
      <p:grpSp>
        <p:nvGrpSpPr>
          <p:cNvPr name="Group 26" id="26"/>
          <p:cNvGrpSpPr/>
          <p:nvPr/>
        </p:nvGrpSpPr>
        <p:grpSpPr>
          <a:xfrm rot="0">
            <a:off x="5000625" y="3746230"/>
            <a:ext cx="4029075" cy="71438"/>
            <a:chOff x="0" y="0"/>
            <a:chExt cx="5372100" cy="95250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5372100" cy="95250"/>
            </a:xfrm>
            <a:custGeom>
              <a:avLst/>
              <a:gdLst/>
              <a:ahLst/>
              <a:cxnLst/>
              <a:rect r="r" b="b" t="t" l="l"/>
              <a:pathLst>
                <a:path h="95250" w="5372100">
                  <a:moveTo>
                    <a:pt x="0" y="0"/>
                  </a:moveTo>
                  <a:lnTo>
                    <a:pt x="5372100" y="0"/>
                  </a:lnTo>
                  <a:lnTo>
                    <a:pt x="5372100" y="95250"/>
                  </a:lnTo>
                  <a:lnTo>
                    <a:pt x="0" y="95250"/>
                  </a:lnTo>
                  <a:close/>
                </a:path>
              </a:pathLst>
            </a:custGeom>
            <a:solidFill>
              <a:srgbClr val="0284C7"/>
            </a:solidFill>
          </p:spPr>
        </p:sp>
      </p:grpSp>
      <p:grpSp>
        <p:nvGrpSpPr>
          <p:cNvPr name="Group 28" id="28"/>
          <p:cNvGrpSpPr/>
          <p:nvPr/>
        </p:nvGrpSpPr>
        <p:grpSpPr>
          <a:xfrm rot="0">
            <a:off x="5000625" y="3746230"/>
            <a:ext cx="14288" cy="2319928"/>
            <a:chOff x="0" y="0"/>
            <a:chExt cx="19050" cy="3093237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19050" cy="3093212"/>
            </a:xfrm>
            <a:custGeom>
              <a:avLst/>
              <a:gdLst/>
              <a:ahLst/>
              <a:cxnLst/>
              <a:rect r="r" b="b" t="t" l="l"/>
              <a:pathLst>
                <a:path h="3093212" w="19050">
                  <a:moveTo>
                    <a:pt x="0" y="0"/>
                  </a:moveTo>
                  <a:lnTo>
                    <a:pt x="19050" y="0"/>
                  </a:lnTo>
                  <a:lnTo>
                    <a:pt x="19050" y="3093212"/>
                  </a:lnTo>
                  <a:lnTo>
                    <a:pt x="0" y="3093212"/>
                  </a:lnTo>
                  <a:close/>
                </a:path>
              </a:pathLst>
            </a:custGeom>
            <a:solidFill>
              <a:srgbClr val="1E3A8A"/>
            </a:solidFill>
          </p:spPr>
        </p:sp>
      </p:grpSp>
      <p:grpSp>
        <p:nvGrpSpPr>
          <p:cNvPr name="Group 30" id="30"/>
          <p:cNvGrpSpPr/>
          <p:nvPr/>
        </p:nvGrpSpPr>
        <p:grpSpPr>
          <a:xfrm rot="0">
            <a:off x="9015412" y="3746230"/>
            <a:ext cx="14288" cy="2319928"/>
            <a:chOff x="0" y="0"/>
            <a:chExt cx="19050" cy="3093237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19050" cy="3093212"/>
            </a:xfrm>
            <a:custGeom>
              <a:avLst/>
              <a:gdLst/>
              <a:ahLst/>
              <a:cxnLst/>
              <a:rect r="r" b="b" t="t" l="l"/>
              <a:pathLst>
                <a:path h="3093212" w="19050">
                  <a:moveTo>
                    <a:pt x="0" y="0"/>
                  </a:moveTo>
                  <a:lnTo>
                    <a:pt x="19050" y="0"/>
                  </a:lnTo>
                  <a:lnTo>
                    <a:pt x="19050" y="3093212"/>
                  </a:lnTo>
                  <a:lnTo>
                    <a:pt x="0" y="3093212"/>
                  </a:lnTo>
                  <a:close/>
                </a:path>
              </a:pathLst>
            </a:custGeom>
            <a:solidFill>
              <a:srgbClr val="1E3A8A"/>
            </a:solidFill>
          </p:spPr>
        </p:sp>
      </p:grpSp>
      <p:grpSp>
        <p:nvGrpSpPr>
          <p:cNvPr name="Group 32" id="32"/>
          <p:cNvGrpSpPr/>
          <p:nvPr/>
        </p:nvGrpSpPr>
        <p:grpSpPr>
          <a:xfrm rot="0">
            <a:off x="9258300" y="6051871"/>
            <a:ext cx="4029075" cy="14288"/>
            <a:chOff x="0" y="0"/>
            <a:chExt cx="5372100" cy="19050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5372100" cy="19050"/>
            </a:xfrm>
            <a:custGeom>
              <a:avLst/>
              <a:gdLst/>
              <a:ahLst/>
              <a:cxnLst/>
              <a:rect r="r" b="b" t="t" l="l"/>
              <a:pathLst>
                <a:path h="19050" w="5372100">
                  <a:moveTo>
                    <a:pt x="0" y="0"/>
                  </a:moveTo>
                  <a:lnTo>
                    <a:pt x="5372100" y="0"/>
                  </a:lnTo>
                  <a:lnTo>
                    <a:pt x="5372100" y="19050"/>
                  </a:lnTo>
                  <a:lnTo>
                    <a:pt x="0" y="19050"/>
                  </a:lnTo>
                  <a:close/>
                </a:path>
              </a:pathLst>
            </a:custGeom>
            <a:solidFill>
              <a:srgbClr val="1E3A8A"/>
            </a:solidFill>
          </p:spPr>
        </p:sp>
      </p:grpSp>
      <p:grpSp>
        <p:nvGrpSpPr>
          <p:cNvPr name="Group 34" id="34"/>
          <p:cNvGrpSpPr/>
          <p:nvPr/>
        </p:nvGrpSpPr>
        <p:grpSpPr>
          <a:xfrm rot="0">
            <a:off x="9258300" y="3746230"/>
            <a:ext cx="4029075" cy="71438"/>
            <a:chOff x="0" y="0"/>
            <a:chExt cx="5372100" cy="95250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5372100" cy="95250"/>
            </a:xfrm>
            <a:custGeom>
              <a:avLst/>
              <a:gdLst/>
              <a:ahLst/>
              <a:cxnLst/>
              <a:rect r="r" b="b" t="t" l="l"/>
              <a:pathLst>
                <a:path h="95250" w="5372100">
                  <a:moveTo>
                    <a:pt x="0" y="0"/>
                  </a:moveTo>
                  <a:lnTo>
                    <a:pt x="5372100" y="0"/>
                  </a:lnTo>
                  <a:lnTo>
                    <a:pt x="5372100" y="95250"/>
                  </a:lnTo>
                  <a:lnTo>
                    <a:pt x="0" y="95250"/>
                  </a:lnTo>
                  <a:close/>
                </a:path>
              </a:pathLst>
            </a:custGeom>
            <a:solidFill>
              <a:srgbClr val="60A5FA"/>
            </a:solidFill>
          </p:spPr>
        </p:sp>
      </p:grpSp>
      <p:grpSp>
        <p:nvGrpSpPr>
          <p:cNvPr name="Group 36" id="36"/>
          <p:cNvGrpSpPr/>
          <p:nvPr/>
        </p:nvGrpSpPr>
        <p:grpSpPr>
          <a:xfrm rot="0">
            <a:off x="9258300" y="3746230"/>
            <a:ext cx="14288" cy="2319928"/>
            <a:chOff x="0" y="0"/>
            <a:chExt cx="19050" cy="3093237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19050" cy="3093212"/>
            </a:xfrm>
            <a:custGeom>
              <a:avLst/>
              <a:gdLst/>
              <a:ahLst/>
              <a:cxnLst/>
              <a:rect r="r" b="b" t="t" l="l"/>
              <a:pathLst>
                <a:path h="3093212" w="19050">
                  <a:moveTo>
                    <a:pt x="0" y="0"/>
                  </a:moveTo>
                  <a:lnTo>
                    <a:pt x="19050" y="0"/>
                  </a:lnTo>
                  <a:lnTo>
                    <a:pt x="19050" y="3093212"/>
                  </a:lnTo>
                  <a:lnTo>
                    <a:pt x="0" y="3093212"/>
                  </a:lnTo>
                  <a:close/>
                </a:path>
              </a:pathLst>
            </a:custGeom>
            <a:solidFill>
              <a:srgbClr val="1E3A8A"/>
            </a:solidFill>
          </p:spPr>
        </p:sp>
      </p:grpSp>
      <p:grpSp>
        <p:nvGrpSpPr>
          <p:cNvPr name="Group 38" id="38"/>
          <p:cNvGrpSpPr/>
          <p:nvPr/>
        </p:nvGrpSpPr>
        <p:grpSpPr>
          <a:xfrm rot="0">
            <a:off x="13273088" y="3746230"/>
            <a:ext cx="14288" cy="2319928"/>
            <a:chOff x="0" y="0"/>
            <a:chExt cx="19050" cy="3093237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19050" cy="3093212"/>
            </a:xfrm>
            <a:custGeom>
              <a:avLst/>
              <a:gdLst/>
              <a:ahLst/>
              <a:cxnLst/>
              <a:rect r="r" b="b" t="t" l="l"/>
              <a:pathLst>
                <a:path h="3093212" w="19050">
                  <a:moveTo>
                    <a:pt x="0" y="0"/>
                  </a:moveTo>
                  <a:lnTo>
                    <a:pt x="19050" y="0"/>
                  </a:lnTo>
                  <a:lnTo>
                    <a:pt x="19050" y="3093212"/>
                  </a:lnTo>
                  <a:lnTo>
                    <a:pt x="0" y="3093212"/>
                  </a:lnTo>
                  <a:close/>
                </a:path>
              </a:pathLst>
            </a:custGeom>
            <a:solidFill>
              <a:srgbClr val="1E3A8A"/>
            </a:solidFill>
          </p:spPr>
        </p:sp>
      </p:grpSp>
      <p:grpSp>
        <p:nvGrpSpPr>
          <p:cNvPr name="Group 40" id="40"/>
          <p:cNvGrpSpPr/>
          <p:nvPr/>
        </p:nvGrpSpPr>
        <p:grpSpPr>
          <a:xfrm rot="0">
            <a:off x="13515975" y="6051871"/>
            <a:ext cx="4029075" cy="14288"/>
            <a:chOff x="0" y="0"/>
            <a:chExt cx="5372100" cy="19050"/>
          </a:xfrm>
        </p:grpSpPr>
        <p:sp>
          <p:nvSpPr>
            <p:cNvPr name="Freeform 41" id="41"/>
            <p:cNvSpPr/>
            <p:nvPr/>
          </p:nvSpPr>
          <p:spPr>
            <a:xfrm flipH="false" flipV="false" rot="0">
              <a:off x="0" y="0"/>
              <a:ext cx="5372100" cy="19050"/>
            </a:xfrm>
            <a:custGeom>
              <a:avLst/>
              <a:gdLst/>
              <a:ahLst/>
              <a:cxnLst/>
              <a:rect r="r" b="b" t="t" l="l"/>
              <a:pathLst>
                <a:path h="19050" w="5372100">
                  <a:moveTo>
                    <a:pt x="0" y="0"/>
                  </a:moveTo>
                  <a:lnTo>
                    <a:pt x="5372100" y="0"/>
                  </a:lnTo>
                  <a:lnTo>
                    <a:pt x="5372100" y="19050"/>
                  </a:lnTo>
                  <a:lnTo>
                    <a:pt x="0" y="19050"/>
                  </a:lnTo>
                  <a:close/>
                </a:path>
              </a:pathLst>
            </a:custGeom>
            <a:solidFill>
              <a:srgbClr val="1E3A8A"/>
            </a:solidFill>
          </p:spPr>
        </p:sp>
      </p:grpSp>
      <p:grpSp>
        <p:nvGrpSpPr>
          <p:cNvPr name="Group 42" id="42"/>
          <p:cNvGrpSpPr/>
          <p:nvPr/>
        </p:nvGrpSpPr>
        <p:grpSpPr>
          <a:xfrm rot="0">
            <a:off x="13515975" y="3746230"/>
            <a:ext cx="4029075" cy="71438"/>
            <a:chOff x="0" y="0"/>
            <a:chExt cx="5372100" cy="95250"/>
          </a:xfrm>
        </p:grpSpPr>
        <p:sp>
          <p:nvSpPr>
            <p:cNvPr name="Freeform 43" id="43"/>
            <p:cNvSpPr/>
            <p:nvPr/>
          </p:nvSpPr>
          <p:spPr>
            <a:xfrm flipH="false" flipV="false" rot="0">
              <a:off x="0" y="0"/>
              <a:ext cx="5372100" cy="95250"/>
            </a:xfrm>
            <a:custGeom>
              <a:avLst/>
              <a:gdLst/>
              <a:ahLst/>
              <a:cxnLst/>
              <a:rect r="r" b="b" t="t" l="l"/>
              <a:pathLst>
                <a:path h="95250" w="5372100">
                  <a:moveTo>
                    <a:pt x="0" y="0"/>
                  </a:moveTo>
                  <a:lnTo>
                    <a:pt x="5372100" y="0"/>
                  </a:lnTo>
                  <a:lnTo>
                    <a:pt x="5372100" y="95250"/>
                  </a:lnTo>
                  <a:lnTo>
                    <a:pt x="0" y="95250"/>
                  </a:lnTo>
                  <a:close/>
                </a:path>
              </a:pathLst>
            </a:custGeom>
            <a:solidFill>
              <a:srgbClr val="F43F5E"/>
            </a:solidFill>
          </p:spPr>
        </p:sp>
      </p:grpSp>
      <p:grpSp>
        <p:nvGrpSpPr>
          <p:cNvPr name="Group 44" id="44"/>
          <p:cNvGrpSpPr/>
          <p:nvPr/>
        </p:nvGrpSpPr>
        <p:grpSpPr>
          <a:xfrm rot="0">
            <a:off x="13515975" y="3746230"/>
            <a:ext cx="14288" cy="2319928"/>
            <a:chOff x="0" y="0"/>
            <a:chExt cx="19050" cy="3093237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0" y="0"/>
              <a:ext cx="19050" cy="3093212"/>
            </a:xfrm>
            <a:custGeom>
              <a:avLst/>
              <a:gdLst/>
              <a:ahLst/>
              <a:cxnLst/>
              <a:rect r="r" b="b" t="t" l="l"/>
              <a:pathLst>
                <a:path h="3093212" w="19050">
                  <a:moveTo>
                    <a:pt x="0" y="0"/>
                  </a:moveTo>
                  <a:lnTo>
                    <a:pt x="19050" y="0"/>
                  </a:lnTo>
                  <a:lnTo>
                    <a:pt x="19050" y="3093212"/>
                  </a:lnTo>
                  <a:lnTo>
                    <a:pt x="0" y="3093212"/>
                  </a:lnTo>
                  <a:close/>
                </a:path>
              </a:pathLst>
            </a:custGeom>
            <a:solidFill>
              <a:srgbClr val="1E3A8A"/>
            </a:solidFill>
          </p:spPr>
        </p:sp>
      </p:grpSp>
      <p:grpSp>
        <p:nvGrpSpPr>
          <p:cNvPr name="Group 46" id="46"/>
          <p:cNvGrpSpPr/>
          <p:nvPr/>
        </p:nvGrpSpPr>
        <p:grpSpPr>
          <a:xfrm rot="0">
            <a:off x="17530762" y="3746230"/>
            <a:ext cx="14288" cy="2319928"/>
            <a:chOff x="0" y="0"/>
            <a:chExt cx="19050" cy="3093237"/>
          </a:xfrm>
        </p:grpSpPr>
        <p:sp>
          <p:nvSpPr>
            <p:cNvPr name="Freeform 47" id="47"/>
            <p:cNvSpPr/>
            <p:nvPr/>
          </p:nvSpPr>
          <p:spPr>
            <a:xfrm flipH="false" flipV="false" rot="0">
              <a:off x="0" y="0"/>
              <a:ext cx="19050" cy="3093212"/>
            </a:xfrm>
            <a:custGeom>
              <a:avLst/>
              <a:gdLst/>
              <a:ahLst/>
              <a:cxnLst/>
              <a:rect r="r" b="b" t="t" l="l"/>
              <a:pathLst>
                <a:path h="3093212" w="19050">
                  <a:moveTo>
                    <a:pt x="0" y="0"/>
                  </a:moveTo>
                  <a:lnTo>
                    <a:pt x="19050" y="0"/>
                  </a:lnTo>
                  <a:lnTo>
                    <a:pt x="19050" y="3093212"/>
                  </a:lnTo>
                  <a:lnTo>
                    <a:pt x="0" y="3093212"/>
                  </a:lnTo>
                  <a:close/>
                </a:path>
              </a:pathLst>
            </a:custGeom>
            <a:solidFill>
              <a:srgbClr val="1E3A8A"/>
            </a:solidFill>
          </p:spPr>
        </p:sp>
      </p:grpSp>
      <p:grpSp>
        <p:nvGrpSpPr>
          <p:cNvPr name="Group 48" id="48"/>
          <p:cNvGrpSpPr/>
          <p:nvPr/>
        </p:nvGrpSpPr>
        <p:grpSpPr>
          <a:xfrm rot="0">
            <a:off x="742950" y="1019994"/>
            <a:ext cx="542925" cy="485775"/>
            <a:chOff x="0" y="0"/>
            <a:chExt cx="723900" cy="647700"/>
          </a:xfrm>
        </p:grpSpPr>
        <p:sp>
          <p:nvSpPr>
            <p:cNvPr name="Freeform 49" id="49" descr="image.png"/>
            <p:cNvSpPr/>
            <p:nvPr/>
          </p:nvSpPr>
          <p:spPr>
            <a:xfrm flipH="false" flipV="false" rot="0">
              <a:off x="0" y="0"/>
              <a:ext cx="723900" cy="647700"/>
            </a:xfrm>
            <a:custGeom>
              <a:avLst/>
              <a:gdLst/>
              <a:ahLst/>
              <a:cxnLst/>
              <a:rect r="r" b="b" t="t" l="l"/>
              <a:pathLst>
                <a:path h="647700" w="723900">
                  <a:moveTo>
                    <a:pt x="0" y="0"/>
                  </a:moveTo>
                  <a:lnTo>
                    <a:pt x="723900" y="0"/>
                  </a:lnTo>
                  <a:lnTo>
                    <a:pt x="723900" y="647700"/>
                  </a:lnTo>
                  <a:lnTo>
                    <a:pt x="0" y="6477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-1470" r="0" b="-1470"/>
              </a:stretch>
            </a:blipFill>
          </p:spPr>
        </p:sp>
      </p:grpSp>
      <p:grpSp>
        <p:nvGrpSpPr>
          <p:cNvPr name="Group 50" id="50"/>
          <p:cNvGrpSpPr/>
          <p:nvPr/>
        </p:nvGrpSpPr>
        <p:grpSpPr>
          <a:xfrm rot="0">
            <a:off x="1100138" y="6937696"/>
            <a:ext cx="542925" cy="542925"/>
            <a:chOff x="0" y="0"/>
            <a:chExt cx="723900" cy="723900"/>
          </a:xfrm>
        </p:grpSpPr>
        <p:sp>
          <p:nvSpPr>
            <p:cNvPr name="Freeform 51" id="51" descr="image.png"/>
            <p:cNvSpPr/>
            <p:nvPr/>
          </p:nvSpPr>
          <p:spPr>
            <a:xfrm flipH="false" flipV="false" rot="0">
              <a:off x="0" y="0"/>
              <a:ext cx="723900" cy="723900"/>
            </a:xfrm>
            <a:custGeom>
              <a:avLst/>
              <a:gdLst/>
              <a:ahLst/>
              <a:cxnLst/>
              <a:rect r="r" b="b" t="t" l="l"/>
              <a:pathLst>
                <a:path h="723900" w="723900">
                  <a:moveTo>
                    <a:pt x="0" y="0"/>
                  </a:moveTo>
                  <a:lnTo>
                    <a:pt x="723900" y="0"/>
                  </a:lnTo>
                  <a:lnTo>
                    <a:pt x="723900" y="723900"/>
                  </a:lnTo>
                  <a:lnTo>
                    <a:pt x="0" y="7239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-1315" r="0" b="-1315"/>
              </a:stretch>
            </a:blipFill>
          </p:spPr>
        </p:sp>
      </p:grpSp>
      <p:sp>
        <p:nvSpPr>
          <p:cNvPr name="TextBox 52" id="52"/>
          <p:cNvSpPr txBox="true"/>
          <p:nvPr/>
        </p:nvSpPr>
        <p:spPr>
          <a:xfrm rot="0">
            <a:off x="16602075" y="1097232"/>
            <a:ext cx="885825" cy="5334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sz="1800" b="true">
                <a:solidFill>
                  <a:srgbClr val="38BDF8"/>
                </a:solidFill>
                <a:latin typeface="Space Mono Bold"/>
                <a:ea typeface="Space Mono Bold"/>
                <a:cs typeface="Space Mono Bold"/>
                <a:sym typeface="Space Mono Bold"/>
              </a:rPr>
              <a:t>05/09</a:t>
            </a:r>
          </a:p>
          <a:p>
            <a:pPr algn="l">
              <a:lnSpc>
                <a:spcPts val="2160"/>
              </a:lnSpc>
            </a:pPr>
          </a:p>
        </p:txBody>
      </p:sp>
      <p:sp>
        <p:nvSpPr>
          <p:cNvPr name="TextBox 53" id="53"/>
          <p:cNvSpPr txBox="true"/>
          <p:nvPr/>
        </p:nvSpPr>
        <p:spPr>
          <a:xfrm rot="0">
            <a:off x="742950" y="571500"/>
            <a:ext cx="11672888" cy="3429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sz="1800" b="true">
                <a:solidFill>
                  <a:srgbClr val="38BDF8"/>
                </a:solidFill>
                <a:latin typeface="Prompt Bold"/>
                <a:ea typeface="Prompt Bold"/>
                <a:cs typeface="Prompt Bold"/>
                <a:sym typeface="Prompt Bold"/>
              </a:rPr>
              <a:t>05 SOFTWARE ARCHITECTURE &amp; FSM</a:t>
            </a:r>
          </a:p>
        </p:txBody>
      </p:sp>
      <p:grpSp>
        <p:nvGrpSpPr>
          <p:cNvPr name="Group 54" id="54"/>
          <p:cNvGrpSpPr/>
          <p:nvPr/>
        </p:nvGrpSpPr>
        <p:grpSpPr>
          <a:xfrm rot="0">
            <a:off x="1457325" y="971550"/>
            <a:ext cx="14383045" cy="582882"/>
            <a:chOff x="0" y="0"/>
            <a:chExt cx="19177394" cy="777176"/>
          </a:xfrm>
        </p:grpSpPr>
        <p:sp>
          <p:nvSpPr>
            <p:cNvPr name="Freeform 55" id="55"/>
            <p:cNvSpPr/>
            <p:nvPr/>
          </p:nvSpPr>
          <p:spPr>
            <a:xfrm flipH="false" flipV="false" rot="0">
              <a:off x="0" y="0"/>
              <a:ext cx="19177397" cy="777180"/>
            </a:xfrm>
            <a:custGeom>
              <a:avLst/>
              <a:gdLst/>
              <a:ahLst/>
              <a:cxnLst/>
              <a:rect r="r" b="b" t="t" l="l"/>
              <a:pathLst>
                <a:path h="777180" w="19177397">
                  <a:moveTo>
                    <a:pt x="0" y="0"/>
                  </a:moveTo>
                  <a:lnTo>
                    <a:pt x="19177397" y="0"/>
                  </a:lnTo>
                  <a:lnTo>
                    <a:pt x="19177397" y="777180"/>
                  </a:lnTo>
                  <a:lnTo>
                    <a:pt x="0" y="77718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430805" r="0" b="-430805"/>
              </a:stretch>
            </a:blipFill>
          </p:spPr>
        </p:sp>
        <p:sp>
          <p:nvSpPr>
            <p:cNvPr name="TextBox 56" id="56"/>
            <p:cNvSpPr txBox="true"/>
            <p:nvPr/>
          </p:nvSpPr>
          <p:spPr>
            <a:xfrm>
              <a:off x="0" y="-76200"/>
              <a:ext cx="19177394" cy="85337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590"/>
                </a:lnSpc>
              </a:pPr>
              <a:r>
                <a:rPr lang="en-US" sz="3825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สถาปัตยกรรมซอฟต์แวร์และการจัดการสถานะ (FSM)</a:t>
              </a:r>
            </a:p>
          </p:txBody>
        </p:sp>
      </p:grpSp>
      <p:sp>
        <p:nvSpPr>
          <p:cNvPr name="TextBox 57" id="57"/>
          <p:cNvSpPr txBox="true"/>
          <p:nvPr/>
        </p:nvSpPr>
        <p:spPr>
          <a:xfrm rot="0">
            <a:off x="1071562" y="4131993"/>
            <a:ext cx="3514725" cy="2857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755"/>
              </a:lnSpc>
            </a:pPr>
            <a:r>
              <a:rPr lang="en-US" sz="1462" b="true">
                <a:solidFill>
                  <a:srgbClr val="38BDF8"/>
                </a:solidFill>
                <a:latin typeface="Space Mono Bold"/>
                <a:ea typeface="Space Mono Bold"/>
                <a:cs typeface="Space Mono Bold"/>
                <a:sym typeface="Space Mono Bold"/>
              </a:rPr>
              <a:t>STATE TITLE</a:t>
            </a:r>
          </a:p>
        </p:txBody>
      </p:sp>
      <p:sp>
        <p:nvSpPr>
          <p:cNvPr name="TextBox 58" id="58"/>
          <p:cNvSpPr txBox="true"/>
          <p:nvPr/>
        </p:nvSpPr>
        <p:spPr>
          <a:xfrm rot="0">
            <a:off x="1071562" y="4474893"/>
            <a:ext cx="3690461" cy="4857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00"/>
              </a:lnSpc>
            </a:pPr>
            <a:r>
              <a:rPr lang="en-US" sz="2250" b="true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หน้าจอเริ่มต้น</a:t>
            </a:r>
          </a:p>
        </p:txBody>
      </p:sp>
      <p:sp>
        <p:nvSpPr>
          <p:cNvPr name="TextBox 59" id="59"/>
          <p:cNvSpPr txBox="true"/>
          <p:nvPr/>
        </p:nvSpPr>
        <p:spPr>
          <a:xfrm rot="0">
            <a:off x="1071562" y="4989243"/>
            <a:ext cx="3514725" cy="7483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08"/>
              </a:lnSpc>
            </a:pPr>
            <a:r>
              <a:rPr lang="en-US" sz="1800">
                <a:solidFill>
                  <a:srgbClr val="CBD5E1"/>
                </a:solidFill>
                <a:latin typeface="Calibri (MS)"/>
                <a:ea typeface="Calibri (MS)"/>
                <a:cs typeface="Calibri (MS)"/>
                <a:sym typeface="Calibri (MS)"/>
              </a:rPr>
              <a:t>ทำงานลายไฟ LED สลับ แสดงสถิติสูงสุด และรอปุ่มกดเริ่ม</a:t>
            </a:r>
          </a:p>
        </p:txBody>
      </p:sp>
      <p:sp>
        <p:nvSpPr>
          <p:cNvPr name="TextBox 60" id="60"/>
          <p:cNvSpPr txBox="true"/>
          <p:nvPr/>
        </p:nvSpPr>
        <p:spPr>
          <a:xfrm rot="0">
            <a:off x="5329238" y="4131993"/>
            <a:ext cx="3514725" cy="2190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755"/>
              </a:lnSpc>
            </a:pPr>
            <a:r>
              <a:rPr lang="en-US" sz="1462" b="true">
                <a:solidFill>
                  <a:srgbClr val="38BDF8"/>
                </a:solidFill>
                <a:latin typeface="Space Mono Bold"/>
                <a:ea typeface="Space Mono Bold"/>
                <a:cs typeface="Space Mono Bold"/>
                <a:sym typeface="Space Mono Bold"/>
              </a:rPr>
              <a:t>STATE PLAYING</a:t>
            </a:r>
          </a:p>
        </p:txBody>
      </p:sp>
      <p:sp>
        <p:nvSpPr>
          <p:cNvPr name="TextBox 61" id="61"/>
          <p:cNvSpPr txBox="true"/>
          <p:nvPr/>
        </p:nvSpPr>
        <p:spPr>
          <a:xfrm rot="0">
            <a:off x="5329238" y="4474893"/>
            <a:ext cx="3690461" cy="4000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00"/>
              </a:lnSpc>
            </a:pPr>
            <a:r>
              <a:rPr lang="en-US" sz="2250" b="true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ลูปประมวลผลหลัก</a:t>
            </a:r>
          </a:p>
        </p:txBody>
      </p:sp>
      <p:sp>
        <p:nvSpPr>
          <p:cNvPr name="TextBox 62" id="62"/>
          <p:cNvSpPr txBox="true"/>
          <p:nvPr/>
        </p:nvSpPr>
        <p:spPr>
          <a:xfrm rot="0">
            <a:off x="5329238" y="4989243"/>
            <a:ext cx="3514725" cy="7483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08"/>
              </a:lnSpc>
            </a:pPr>
            <a:r>
              <a:rPr lang="en-US" sz="1800">
                <a:solidFill>
                  <a:srgbClr val="CBD5E1"/>
                </a:solidFill>
                <a:latin typeface="Calibri (MS)"/>
                <a:ea typeface="Calibri (MS)"/>
                <a:cs typeface="Calibri (MS)"/>
                <a:sym typeface="Calibri (MS)"/>
              </a:rPr>
              <a:t>คำนวณตำแหน่ง ตรวจจับการชน และเรนเดอร์ภาพเรียลไทม์</a:t>
            </a:r>
          </a:p>
        </p:txBody>
      </p:sp>
      <p:sp>
        <p:nvSpPr>
          <p:cNvPr name="TextBox 63" id="63"/>
          <p:cNvSpPr txBox="true"/>
          <p:nvPr/>
        </p:nvSpPr>
        <p:spPr>
          <a:xfrm rot="0">
            <a:off x="9586912" y="4131993"/>
            <a:ext cx="3514725" cy="2190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755"/>
              </a:lnSpc>
            </a:pPr>
            <a:r>
              <a:rPr lang="en-US" sz="1462" b="true">
                <a:solidFill>
                  <a:srgbClr val="60A5FA"/>
                </a:solidFill>
                <a:latin typeface="Space Mono Bold"/>
                <a:ea typeface="Space Mono Bold"/>
                <a:cs typeface="Space Mono Bold"/>
                <a:sym typeface="Space Mono Bold"/>
              </a:rPr>
              <a:t>STATE LEVELUP</a:t>
            </a:r>
          </a:p>
        </p:txBody>
      </p:sp>
      <p:sp>
        <p:nvSpPr>
          <p:cNvPr name="TextBox 64" id="64"/>
          <p:cNvSpPr txBox="true"/>
          <p:nvPr/>
        </p:nvSpPr>
        <p:spPr>
          <a:xfrm rot="0">
            <a:off x="9586912" y="4474893"/>
            <a:ext cx="3690461" cy="4000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00"/>
              </a:lnSpc>
            </a:pPr>
            <a:r>
              <a:rPr lang="en-US" sz="2250" b="true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หน้าเมนูอัปเกรด</a:t>
            </a:r>
          </a:p>
        </p:txBody>
      </p:sp>
      <p:sp>
        <p:nvSpPr>
          <p:cNvPr name="TextBox 65" id="65"/>
          <p:cNvSpPr txBox="true"/>
          <p:nvPr/>
        </p:nvSpPr>
        <p:spPr>
          <a:xfrm rot="0">
            <a:off x="9586912" y="4989243"/>
            <a:ext cx="3514725" cy="7483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08"/>
              </a:lnSpc>
            </a:pPr>
            <a:r>
              <a:rPr lang="en-US" sz="1800">
                <a:solidFill>
                  <a:srgbClr val="CBD5E1"/>
                </a:solidFill>
                <a:latin typeface="Calibri (MS)"/>
                <a:ea typeface="Calibri (MS)"/>
                <a:cs typeface="Calibri (MS)"/>
                <a:sym typeface="Calibri (MS)"/>
              </a:rPr>
              <a:t>หยุดฟิสิกส์ อ่าน Joystick แกน Y และมอบบัฟให้ตัวละคร</a:t>
            </a:r>
          </a:p>
        </p:txBody>
      </p:sp>
      <p:sp>
        <p:nvSpPr>
          <p:cNvPr name="TextBox 66" id="66"/>
          <p:cNvSpPr txBox="true"/>
          <p:nvPr/>
        </p:nvSpPr>
        <p:spPr>
          <a:xfrm rot="0">
            <a:off x="13844588" y="4131993"/>
            <a:ext cx="3514725" cy="2190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755"/>
              </a:lnSpc>
            </a:pPr>
            <a:r>
              <a:rPr lang="en-US" sz="1462" b="true">
                <a:solidFill>
                  <a:srgbClr val="F43F5E"/>
                </a:solidFill>
                <a:latin typeface="Space Mono Bold"/>
                <a:ea typeface="Space Mono Bold"/>
                <a:cs typeface="Space Mono Bold"/>
                <a:sym typeface="Space Mono Bold"/>
              </a:rPr>
              <a:t>STATE GAMEOVER</a:t>
            </a:r>
          </a:p>
        </p:txBody>
      </p:sp>
      <p:sp>
        <p:nvSpPr>
          <p:cNvPr name="TextBox 67" id="67"/>
          <p:cNvSpPr txBox="true"/>
          <p:nvPr/>
        </p:nvSpPr>
        <p:spPr>
          <a:xfrm rot="0">
            <a:off x="13844588" y="4474893"/>
            <a:ext cx="3690461" cy="4000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00"/>
              </a:lnSpc>
            </a:pPr>
            <a:r>
              <a:rPr lang="en-US" sz="2250" b="true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จบการทำงาน</a:t>
            </a:r>
          </a:p>
        </p:txBody>
      </p:sp>
      <p:sp>
        <p:nvSpPr>
          <p:cNvPr name="TextBox 68" id="68"/>
          <p:cNvSpPr txBox="true"/>
          <p:nvPr/>
        </p:nvSpPr>
        <p:spPr>
          <a:xfrm rot="0">
            <a:off x="13844588" y="4989243"/>
            <a:ext cx="3514725" cy="7483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08"/>
              </a:lnSpc>
            </a:pPr>
            <a:r>
              <a:rPr lang="en-US" sz="1800">
                <a:solidFill>
                  <a:srgbClr val="CBD5E1"/>
                </a:solidFill>
                <a:latin typeface="Calibri (MS)"/>
                <a:ea typeface="Calibri (MS)"/>
                <a:cs typeface="Calibri (MS)"/>
                <a:sym typeface="Calibri (MS)"/>
              </a:rPr>
              <a:t>หยุดวัตถุ กะพริบไฟ LED พร้อมกัน แสดงสถิติ และรีเซ็ต</a:t>
            </a:r>
          </a:p>
        </p:txBody>
      </p:sp>
      <p:sp>
        <p:nvSpPr>
          <p:cNvPr name="TextBox 69" id="69"/>
          <p:cNvSpPr txBox="true"/>
          <p:nvPr/>
        </p:nvSpPr>
        <p:spPr>
          <a:xfrm rot="0">
            <a:off x="1985962" y="6709096"/>
            <a:ext cx="15796974" cy="4714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70"/>
              </a:lnSpc>
            </a:pPr>
            <a:r>
              <a:rPr lang="en-US" sz="2475" b="true">
                <a:solidFill>
                  <a:srgbClr val="38BDF8"/>
                </a:solidFill>
                <a:latin typeface="Prompt Bold"/>
                <a:ea typeface="Prompt Bold"/>
                <a:cs typeface="Prompt Bold"/>
                <a:sym typeface="Prompt Bold"/>
              </a:rPr>
              <a:t>Non-Blocking Timing Architecture</a:t>
            </a:r>
          </a:p>
        </p:txBody>
      </p:sp>
      <p:sp>
        <p:nvSpPr>
          <p:cNvPr name="TextBox 70" id="70"/>
          <p:cNvSpPr txBox="true"/>
          <p:nvPr/>
        </p:nvSpPr>
        <p:spPr>
          <a:xfrm rot="0">
            <a:off x="1985962" y="7171058"/>
            <a:ext cx="16302038" cy="4810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37"/>
              </a:lnSpc>
            </a:pPr>
            <a:r>
              <a:rPr lang="en-US" sz="2025">
                <a:solidFill>
                  <a:srgbClr val="F8FAFC"/>
                </a:solidFill>
                <a:latin typeface="Calibri (MS)"/>
                <a:ea typeface="Calibri (MS)"/>
                <a:cs typeface="Calibri (MS)"/>
                <a:sym typeface="Calibri (MS)"/>
              </a:rPr>
              <a:t>เฟิร์มแวร์ถูกออกแบบด้วยตัวจับเวลาแบบ `millis()` ทั้งหมด ป้องกันการค้างของหน้าจอกราฟิกขณะอ่านค่าสัญญาณอนาล็อกหรือการเล่นเสียง SFX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B132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10258425"/>
            <a:ext cx="18288000" cy="28575"/>
            <a:chOff x="0" y="0"/>
            <a:chExt cx="24384000" cy="381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38100"/>
            </a:xfrm>
            <a:custGeom>
              <a:avLst/>
              <a:gdLst/>
              <a:ahLst/>
              <a:cxnLst/>
              <a:rect r="r" b="b" t="t" l="l"/>
              <a:pathLst>
                <a:path h="381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38100"/>
                  </a:lnTo>
                  <a:lnTo>
                    <a:pt x="0" y="38100"/>
                  </a:lnTo>
                  <a:close/>
                </a:path>
              </a:pathLst>
            </a:custGeom>
            <a:solidFill>
              <a:srgbClr val="1E293B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16394906" y="1004364"/>
            <a:ext cx="1157288" cy="557212"/>
            <a:chOff x="0" y="0"/>
            <a:chExt cx="1543050" cy="74295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543177" cy="742950"/>
            </a:xfrm>
            <a:custGeom>
              <a:avLst/>
              <a:gdLst/>
              <a:ahLst/>
              <a:cxnLst/>
              <a:rect r="r" b="b" t="t" l="l"/>
              <a:pathLst>
                <a:path h="742950" w="1543177">
                  <a:moveTo>
                    <a:pt x="0" y="156464"/>
                  </a:moveTo>
                  <a:cubicBezTo>
                    <a:pt x="0" y="69977"/>
                    <a:pt x="69977" y="0"/>
                    <a:pt x="156464" y="0"/>
                  </a:cubicBezTo>
                  <a:lnTo>
                    <a:pt x="1386713" y="0"/>
                  </a:lnTo>
                  <a:cubicBezTo>
                    <a:pt x="1473073" y="0"/>
                    <a:pt x="1543177" y="69977"/>
                    <a:pt x="1543177" y="156464"/>
                  </a:cubicBezTo>
                  <a:lnTo>
                    <a:pt x="1543177" y="586486"/>
                  </a:lnTo>
                  <a:cubicBezTo>
                    <a:pt x="1543177" y="672846"/>
                    <a:pt x="1473200" y="742950"/>
                    <a:pt x="1386713" y="742950"/>
                  </a:cubicBezTo>
                  <a:lnTo>
                    <a:pt x="156464" y="742950"/>
                  </a:lnTo>
                  <a:cubicBezTo>
                    <a:pt x="69977" y="742950"/>
                    <a:pt x="0" y="672973"/>
                    <a:pt x="0" y="586486"/>
                  </a:cubicBezTo>
                  <a:close/>
                </a:path>
              </a:pathLst>
            </a:custGeom>
            <a:solidFill>
              <a:srgbClr val="1E293B"/>
            </a:solidFill>
            <a:ln w="14288" cap="sq">
              <a:solidFill>
                <a:srgbClr val="0284C7"/>
              </a:solidFill>
              <a:prstDash val="solid"/>
              <a:miter/>
            </a:ln>
          </p:spPr>
        </p:sp>
      </p:grpSp>
      <p:grpSp>
        <p:nvGrpSpPr>
          <p:cNvPr name="Group 6" id="6"/>
          <p:cNvGrpSpPr/>
          <p:nvPr/>
        </p:nvGrpSpPr>
        <p:grpSpPr>
          <a:xfrm rot="0">
            <a:off x="2742830" y="2076395"/>
            <a:ext cx="3091232" cy="1350620"/>
            <a:chOff x="0" y="0"/>
            <a:chExt cx="4121642" cy="1800827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4121646" cy="1800830"/>
            </a:xfrm>
            <a:custGeom>
              <a:avLst/>
              <a:gdLst/>
              <a:ahLst/>
              <a:cxnLst/>
              <a:rect r="r" b="b" t="t" l="l"/>
              <a:pathLst>
                <a:path h="1800830" w="4121646">
                  <a:moveTo>
                    <a:pt x="0" y="0"/>
                  </a:moveTo>
                  <a:lnTo>
                    <a:pt x="4121646" y="0"/>
                  </a:lnTo>
                  <a:lnTo>
                    <a:pt x="4121646" y="1800830"/>
                  </a:lnTo>
                  <a:lnTo>
                    <a:pt x="0" y="180083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85921" r="-365284" b="-129078"/>
              </a:stretch>
            </a:blipFill>
          </p:spPr>
        </p:sp>
        <p:sp>
          <p:nvSpPr>
            <p:cNvPr name="TextBox 8" id="8"/>
            <p:cNvSpPr txBox="true"/>
            <p:nvPr/>
          </p:nvSpPr>
          <p:spPr>
            <a:xfrm>
              <a:off x="0" y="-76200"/>
              <a:ext cx="4121642" cy="187702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590"/>
                </a:lnSpc>
              </a:pPr>
              <a:r>
                <a:rPr lang="en-US" sz="3825" b="true">
                  <a:solidFill>
                    <a:srgbClr val="38BDF8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STATE TITLE</a:t>
              </a:r>
            </a:p>
            <a:p>
              <a:pPr algn="l">
                <a:lnSpc>
                  <a:spcPts val="4590"/>
                </a:lnSpc>
              </a:pPr>
              <a:r>
                <a:rPr lang="en-US" sz="3825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หน้าจอเริ่มต้น</a:t>
              </a:r>
            </a:p>
          </p:txBody>
        </p:sp>
      </p:grpSp>
      <p:sp>
        <p:nvSpPr>
          <p:cNvPr name="Freeform 9" id="9"/>
          <p:cNvSpPr/>
          <p:nvPr/>
        </p:nvSpPr>
        <p:spPr>
          <a:xfrm flipH="false" flipV="false" rot="-5400000">
            <a:off x="2460799" y="3035138"/>
            <a:ext cx="3655295" cy="6412432"/>
          </a:xfrm>
          <a:custGeom>
            <a:avLst/>
            <a:gdLst/>
            <a:ahLst/>
            <a:cxnLst/>
            <a:rect r="r" b="b" t="t" l="l"/>
            <a:pathLst>
              <a:path h="6412432" w="3655295">
                <a:moveTo>
                  <a:pt x="0" y="0"/>
                </a:moveTo>
                <a:lnTo>
                  <a:pt x="3655295" y="0"/>
                </a:lnTo>
                <a:lnTo>
                  <a:pt x="3655295" y="6412432"/>
                </a:lnTo>
                <a:lnTo>
                  <a:pt x="0" y="641243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grpSp>
        <p:nvGrpSpPr>
          <p:cNvPr name="Group 10" id="10"/>
          <p:cNvGrpSpPr/>
          <p:nvPr/>
        </p:nvGrpSpPr>
        <p:grpSpPr>
          <a:xfrm rot="0">
            <a:off x="11154491" y="2076395"/>
            <a:ext cx="3738734" cy="1350620"/>
            <a:chOff x="0" y="0"/>
            <a:chExt cx="4984979" cy="1800827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4984983" cy="1800830"/>
            </a:xfrm>
            <a:custGeom>
              <a:avLst/>
              <a:gdLst/>
              <a:ahLst/>
              <a:cxnLst/>
              <a:rect r="r" b="b" t="t" l="l"/>
              <a:pathLst>
                <a:path h="1800830" w="4984983">
                  <a:moveTo>
                    <a:pt x="0" y="0"/>
                  </a:moveTo>
                  <a:lnTo>
                    <a:pt x="4984983" y="0"/>
                  </a:lnTo>
                  <a:lnTo>
                    <a:pt x="4984983" y="1800830"/>
                  </a:lnTo>
                  <a:lnTo>
                    <a:pt x="0" y="180083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85921" r="-284703" b="-129078"/>
              </a:stretch>
            </a:blip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76200"/>
              <a:ext cx="4984979" cy="187702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590"/>
                </a:lnSpc>
              </a:pPr>
              <a:r>
                <a:rPr lang="en-US" sz="3825" b="true">
                  <a:solidFill>
                    <a:srgbClr val="38BDF8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STATE PLAYING</a:t>
              </a:r>
            </a:p>
            <a:p>
              <a:pPr algn="l">
                <a:lnSpc>
                  <a:spcPts val="4590"/>
                </a:lnSpc>
              </a:pPr>
              <a:r>
                <a:rPr lang="en-US" sz="3825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ลูปประมวลผลหลัก</a:t>
              </a:r>
            </a:p>
          </p:txBody>
        </p:sp>
      </p:grpSp>
      <p:sp>
        <p:nvSpPr>
          <p:cNvPr name="Freeform 13" id="13"/>
          <p:cNvSpPr/>
          <p:nvPr/>
        </p:nvSpPr>
        <p:spPr>
          <a:xfrm flipH="false" flipV="false" rot="-5400000">
            <a:off x="11250254" y="3065952"/>
            <a:ext cx="3796898" cy="6492406"/>
          </a:xfrm>
          <a:custGeom>
            <a:avLst/>
            <a:gdLst/>
            <a:ahLst/>
            <a:cxnLst/>
            <a:rect r="r" b="b" t="t" l="l"/>
            <a:pathLst>
              <a:path h="6492406" w="3796898">
                <a:moveTo>
                  <a:pt x="0" y="0"/>
                </a:moveTo>
                <a:lnTo>
                  <a:pt x="3796898" y="0"/>
                </a:lnTo>
                <a:lnTo>
                  <a:pt x="3796898" y="6492407"/>
                </a:lnTo>
                <a:lnTo>
                  <a:pt x="0" y="6492407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14" id="14"/>
          <p:cNvSpPr txBox="true"/>
          <p:nvPr/>
        </p:nvSpPr>
        <p:spPr>
          <a:xfrm rot="0">
            <a:off x="16602075" y="1097232"/>
            <a:ext cx="885825" cy="5334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sz="1800" b="true">
                <a:solidFill>
                  <a:srgbClr val="38BDF8"/>
                </a:solidFill>
                <a:latin typeface="Space Mono Bold"/>
                <a:ea typeface="Space Mono Bold"/>
                <a:cs typeface="Space Mono Bold"/>
                <a:sym typeface="Space Mono Bold"/>
              </a:rPr>
              <a:t>06/09</a:t>
            </a:r>
          </a:p>
          <a:p>
            <a:pPr algn="l">
              <a:lnSpc>
                <a:spcPts val="2160"/>
              </a:lnSpc>
            </a:pPr>
          </a:p>
        </p:txBody>
      </p:sp>
      <p:sp>
        <p:nvSpPr>
          <p:cNvPr name="TextBox 15" id="15"/>
          <p:cNvSpPr txBox="true"/>
          <p:nvPr/>
        </p:nvSpPr>
        <p:spPr>
          <a:xfrm rot="0">
            <a:off x="742950" y="571500"/>
            <a:ext cx="11672888" cy="3429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sz="1800" b="true">
                <a:solidFill>
                  <a:srgbClr val="38BDF8"/>
                </a:solidFill>
                <a:latin typeface="Prompt Bold"/>
                <a:ea typeface="Prompt Bold"/>
                <a:cs typeface="Prompt Bold"/>
                <a:sym typeface="Prompt Bold"/>
              </a:rPr>
              <a:t>05 SOFTWARE ARCHITECTURE &amp; FSM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B132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10258425"/>
            <a:ext cx="18288000" cy="28575"/>
            <a:chOff x="0" y="0"/>
            <a:chExt cx="24384000" cy="381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38100"/>
            </a:xfrm>
            <a:custGeom>
              <a:avLst/>
              <a:gdLst/>
              <a:ahLst/>
              <a:cxnLst/>
              <a:rect r="r" b="b" t="t" l="l"/>
              <a:pathLst>
                <a:path h="381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38100"/>
                  </a:lnTo>
                  <a:lnTo>
                    <a:pt x="0" y="38100"/>
                  </a:lnTo>
                  <a:close/>
                </a:path>
              </a:pathLst>
            </a:custGeom>
            <a:solidFill>
              <a:srgbClr val="1E293B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16394906" y="1004364"/>
            <a:ext cx="1157288" cy="557212"/>
            <a:chOff x="0" y="0"/>
            <a:chExt cx="1543050" cy="74295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543177" cy="742950"/>
            </a:xfrm>
            <a:custGeom>
              <a:avLst/>
              <a:gdLst/>
              <a:ahLst/>
              <a:cxnLst/>
              <a:rect r="r" b="b" t="t" l="l"/>
              <a:pathLst>
                <a:path h="742950" w="1543177">
                  <a:moveTo>
                    <a:pt x="0" y="156464"/>
                  </a:moveTo>
                  <a:cubicBezTo>
                    <a:pt x="0" y="69977"/>
                    <a:pt x="69977" y="0"/>
                    <a:pt x="156464" y="0"/>
                  </a:cubicBezTo>
                  <a:lnTo>
                    <a:pt x="1386713" y="0"/>
                  </a:lnTo>
                  <a:cubicBezTo>
                    <a:pt x="1473073" y="0"/>
                    <a:pt x="1543177" y="69977"/>
                    <a:pt x="1543177" y="156464"/>
                  </a:cubicBezTo>
                  <a:lnTo>
                    <a:pt x="1543177" y="586486"/>
                  </a:lnTo>
                  <a:cubicBezTo>
                    <a:pt x="1543177" y="672846"/>
                    <a:pt x="1473200" y="742950"/>
                    <a:pt x="1386713" y="742950"/>
                  </a:cubicBezTo>
                  <a:lnTo>
                    <a:pt x="156464" y="742950"/>
                  </a:lnTo>
                  <a:cubicBezTo>
                    <a:pt x="69977" y="742950"/>
                    <a:pt x="0" y="672973"/>
                    <a:pt x="0" y="586486"/>
                  </a:cubicBezTo>
                  <a:close/>
                </a:path>
              </a:pathLst>
            </a:custGeom>
            <a:solidFill>
              <a:srgbClr val="1E293B"/>
            </a:solidFill>
            <a:ln w="14288" cap="sq">
              <a:solidFill>
                <a:srgbClr val="0284C7"/>
              </a:solidFill>
              <a:prstDash val="solid"/>
              <a:miter/>
            </a:ln>
          </p:spPr>
        </p:sp>
      </p:grpSp>
      <p:grpSp>
        <p:nvGrpSpPr>
          <p:cNvPr name="Group 6" id="6"/>
          <p:cNvGrpSpPr/>
          <p:nvPr/>
        </p:nvGrpSpPr>
        <p:grpSpPr>
          <a:xfrm rot="0">
            <a:off x="2720753" y="2130004"/>
            <a:ext cx="3470258" cy="1350620"/>
            <a:chOff x="0" y="0"/>
            <a:chExt cx="4627010" cy="1800827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4627013" cy="1800830"/>
            </a:xfrm>
            <a:custGeom>
              <a:avLst/>
              <a:gdLst/>
              <a:ahLst/>
              <a:cxnLst/>
              <a:rect r="r" b="b" t="t" l="l"/>
              <a:pathLst>
                <a:path h="1800830" w="4627013">
                  <a:moveTo>
                    <a:pt x="0" y="0"/>
                  </a:moveTo>
                  <a:lnTo>
                    <a:pt x="4627013" y="0"/>
                  </a:lnTo>
                  <a:lnTo>
                    <a:pt x="4627013" y="1800830"/>
                  </a:lnTo>
                  <a:lnTo>
                    <a:pt x="0" y="180083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85921" r="-314465" b="-129078"/>
              </a:stretch>
            </a:blipFill>
          </p:spPr>
        </p:sp>
        <p:sp>
          <p:nvSpPr>
            <p:cNvPr name="TextBox 8" id="8"/>
            <p:cNvSpPr txBox="true"/>
            <p:nvPr/>
          </p:nvSpPr>
          <p:spPr>
            <a:xfrm>
              <a:off x="0" y="-76200"/>
              <a:ext cx="4627010" cy="187702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590"/>
                </a:lnSpc>
              </a:pPr>
              <a:r>
                <a:rPr lang="en-US" sz="3825" b="true">
                  <a:solidFill>
                    <a:srgbClr val="38BDF8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STATE LEVELUP</a:t>
              </a:r>
            </a:p>
            <a:p>
              <a:pPr algn="l">
                <a:lnSpc>
                  <a:spcPts val="4590"/>
                </a:lnSpc>
              </a:pPr>
              <a:r>
                <a:rPr lang="en-US" sz="3825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หน้าเมนูอัปเกรด</a:t>
              </a: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11132414" y="2130004"/>
            <a:ext cx="4417822" cy="1350620"/>
            <a:chOff x="0" y="0"/>
            <a:chExt cx="5890430" cy="1800827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5890433" cy="1800830"/>
            </a:xfrm>
            <a:custGeom>
              <a:avLst/>
              <a:gdLst/>
              <a:ahLst/>
              <a:cxnLst/>
              <a:rect r="r" b="b" t="t" l="l"/>
              <a:pathLst>
                <a:path h="1800830" w="5890433">
                  <a:moveTo>
                    <a:pt x="0" y="0"/>
                  </a:moveTo>
                  <a:lnTo>
                    <a:pt x="5890433" y="0"/>
                  </a:lnTo>
                  <a:lnTo>
                    <a:pt x="5890433" y="1800830"/>
                  </a:lnTo>
                  <a:lnTo>
                    <a:pt x="0" y="180083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85921" r="-225568" b="-129078"/>
              </a:stretch>
            </a:blip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76200"/>
              <a:ext cx="5890430" cy="187702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590"/>
                </a:lnSpc>
              </a:pPr>
              <a:r>
                <a:rPr lang="en-US" sz="3825" b="true">
                  <a:solidFill>
                    <a:srgbClr val="F43F5E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STATE GAMEOVER</a:t>
              </a:r>
            </a:p>
            <a:p>
              <a:pPr algn="l">
                <a:lnSpc>
                  <a:spcPts val="4590"/>
                </a:lnSpc>
              </a:pPr>
              <a:r>
                <a:rPr lang="en-US" sz="3825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จบการทำงาน</a:t>
              </a:r>
            </a:p>
          </p:txBody>
        </p:sp>
      </p:grpSp>
      <p:sp>
        <p:nvSpPr>
          <p:cNvPr name="Freeform 12" id="12"/>
          <p:cNvSpPr/>
          <p:nvPr/>
        </p:nvSpPr>
        <p:spPr>
          <a:xfrm flipH="false" flipV="false" rot="-5400000">
            <a:off x="2508448" y="2521940"/>
            <a:ext cx="3894869" cy="6827388"/>
          </a:xfrm>
          <a:custGeom>
            <a:avLst/>
            <a:gdLst/>
            <a:ahLst/>
            <a:cxnLst/>
            <a:rect r="r" b="b" t="t" l="l"/>
            <a:pathLst>
              <a:path h="6827388" w="3894869">
                <a:moveTo>
                  <a:pt x="0" y="0"/>
                </a:moveTo>
                <a:lnTo>
                  <a:pt x="3894869" y="0"/>
                </a:lnTo>
                <a:lnTo>
                  <a:pt x="3894869" y="6827388"/>
                </a:lnTo>
                <a:lnTo>
                  <a:pt x="0" y="682738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-5400000">
            <a:off x="11443766" y="2625010"/>
            <a:ext cx="3795120" cy="6521499"/>
          </a:xfrm>
          <a:custGeom>
            <a:avLst/>
            <a:gdLst/>
            <a:ahLst/>
            <a:cxnLst/>
            <a:rect r="r" b="b" t="t" l="l"/>
            <a:pathLst>
              <a:path h="6521499" w="3795120">
                <a:moveTo>
                  <a:pt x="0" y="0"/>
                </a:moveTo>
                <a:lnTo>
                  <a:pt x="3795119" y="0"/>
                </a:lnTo>
                <a:lnTo>
                  <a:pt x="3795119" y="6521499"/>
                </a:lnTo>
                <a:lnTo>
                  <a:pt x="0" y="6521499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14" id="14"/>
          <p:cNvSpPr txBox="true"/>
          <p:nvPr/>
        </p:nvSpPr>
        <p:spPr>
          <a:xfrm rot="0">
            <a:off x="16602075" y="1097232"/>
            <a:ext cx="885825" cy="5334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sz="1800" b="true">
                <a:solidFill>
                  <a:srgbClr val="38BDF8"/>
                </a:solidFill>
                <a:latin typeface="Space Mono Bold"/>
                <a:ea typeface="Space Mono Bold"/>
                <a:cs typeface="Space Mono Bold"/>
                <a:sym typeface="Space Mono Bold"/>
              </a:rPr>
              <a:t>07/09</a:t>
            </a:r>
          </a:p>
          <a:p>
            <a:pPr algn="l">
              <a:lnSpc>
                <a:spcPts val="2160"/>
              </a:lnSpc>
            </a:pPr>
          </a:p>
        </p:txBody>
      </p:sp>
      <p:sp>
        <p:nvSpPr>
          <p:cNvPr name="TextBox 15" id="15"/>
          <p:cNvSpPr txBox="true"/>
          <p:nvPr/>
        </p:nvSpPr>
        <p:spPr>
          <a:xfrm rot="0">
            <a:off x="742950" y="571500"/>
            <a:ext cx="11672888" cy="3429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sz="1800" b="true">
                <a:solidFill>
                  <a:srgbClr val="38BDF8"/>
                </a:solidFill>
                <a:latin typeface="Prompt Bold"/>
                <a:ea typeface="Prompt Bold"/>
                <a:cs typeface="Prompt Bold"/>
                <a:sym typeface="Prompt Bold"/>
              </a:rPr>
              <a:t>05 SOFTWARE ARCHITECTURE &amp; FSM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B132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10258425"/>
            <a:ext cx="18288000" cy="28575"/>
            <a:chOff x="0" y="0"/>
            <a:chExt cx="24384000" cy="381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38100"/>
            </a:xfrm>
            <a:custGeom>
              <a:avLst/>
              <a:gdLst/>
              <a:ahLst/>
              <a:cxnLst/>
              <a:rect r="r" b="b" t="t" l="l"/>
              <a:pathLst>
                <a:path h="381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38100"/>
                  </a:lnTo>
                  <a:lnTo>
                    <a:pt x="0" y="38100"/>
                  </a:lnTo>
                  <a:close/>
                </a:path>
              </a:pathLst>
            </a:custGeom>
            <a:solidFill>
              <a:srgbClr val="1E293B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16394906" y="1004364"/>
            <a:ext cx="1157288" cy="557212"/>
            <a:chOff x="0" y="0"/>
            <a:chExt cx="1543050" cy="74295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543177" cy="742950"/>
            </a:xfrm>
            <a:custGeom>
              <a:avLst/>
              <a:gdLst/>
              <a:ahLst/>
              <a:cxnLst/>
              <a:rect r="r" b="b" t="t" l="l"/>
              <a:pathLst>
                <a:path h="742950" w="1543177">
                  <a:moveTo>
                    <a:pt x="0" y="156464"/>
                  </a:moveTo>
                  <a:cubicBezTo>
                    <a:pt x="0" y="69977"/>
                    <a:pt x="69977" y="0"/>
                    <a:pt x="156464" y="0"/>
                  </a:cubicBezTo>
                  <a:lnTo>
                    <a:pt x="1386713" y="0"/>
                  </a:lnTo>
                  <a:cubicBezTo>
                    <a:pt x="1473073" y="0"/>
                    <a:pt x="1543177" y="69977"/>
                    <a:pt x="1543177" y="156464"/>
                  </a:cubicBezTo>
                  <a:lnTo>
                    <a:pt x="1543177" y="586486"/>
                  </a:lnTo>
                  <a:cubicBezTo>
                    <a:pt x="1543177" y="672846"/>
                    <a:pt x="1473200" y="742950"/>
                    <a:pt x="1386713" y="742950"/>
                  </a:cubicBezTo>
                  <a:lnTo>
                    <a:pt x="156464" y="742950"/>
                  </a:lnTo>
                  <a:cubicBezTo>
                    <a:pt x="69977" y="742950"/>
                    <a:pt x="0" y="672973"/>
                    <a:pt x="0" y="586486"/>
                  </a:cubicBezTo>
                  <a:close/>
                </a:path>
              </a:pathLst>
            </a:custGeom>
            <a:solidFill>
              <a:srgbClr val="1E293B"/>
            </a:solidFill>
            <a:ln w="14288" cap="sq">
              <a:solidFill>
                <a:srgbClr val="0284C7"/>
              </a:solidFill>
              <a:prstDash val="solid"/>
              <a:miter/>
            </a:ln>
          </p:spPr>
        </p:sp>
      </p:grpSp>
      <p:grpSp>
        <p:nvGrpSpPr>
          <p:cNvPr name="Group 6" id="6"/>
          <p:cNvGrpSpPr/>
          <p:nvPr/>
        </p:nvGrpSpPr>
        <p:grpSpPr>
          <a:xfrm rot="0">
            <a:off x="735806" y="6745710"/>
            <a:ext cx="16816388" cy="1485900"/>
            <a:chOff x="0" y="0"/>
            <a:chExt cx="22421850" cy="19812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2421850" cy="1981200"/>
            </a:xfrm>
            <a:custGeom>
              <a:avLst/>
              <a:gdLst/>
              <a:ahLst/>
              <a:cxnLst/>
              <a:rect r="r" b="b" t="t" l="l"/>
              <a:pathLst>
                <a:path h="1981200" w="22421850">
                  <a:moveTo>
                    <a:pt x="0" y="269240"/>
                  </a:moveTo>
                  <a:cubicBezTo>
                    <a:pt x="0" y="120523"/>
                    <a:pt x="120523" y="0"/>
                    <a:pt x="269240" y="0"/>
                  </a:cubicBezTo>
                  <a:lnTo>
                    <a:pt x="22152611" y="0"/>
                  </a:lnTo>
                  <a:cubicBezTo>
                    <a:pt x="22301327" y="0"/>
                    <a:pt x="22421850" y="120523"/>
                    <a:pt x="22421850" y="269240"/>
                  </a:cubicBezTo>
                  <a:lnTo>
                    <a:pt x="22421850" y="1711960"/>
                  </a:lnTo>
                  <a:cubicBezTo>
                    <a:pt x="22421850" y="1860677"/>
                    <a:pt x="22301327" y="1981200"/>
                    <a:pt x="22152611" y="1981200"/>
                  </a:cubicBezTo>
                  <a:lnTo>
                    <a:pt x="269240" y="1981200"/>
                  </a:lnTo>
                  <a:cubicBezTo>
                    <a:pt x="120523" y="1981200"/>
                    <a:pt x="0" y="1860677"/>
                    <a:pt x="0" y="1711960"/>
                  </a:cubicBezTo>
                  <a:close/>
                </a:path>
              </a:pathLst>
            </a:custGeom>
            <a:solidFill>
              <a:srgbClr val="061830"/>
            </a:solidFill>
            <a:ln w="14288" cap="sq">
              <a:solidFill>
                <a:srgbClr val="0284C7"/>
              </a:solidFill>
              <a:prstDash val="solid"/>
              <a:miter/>
            </a:ln>
          </p:spPr>
        </p:sp>
      </p:grpSp>
      <p:grpSp>
        <p:nvGrpSpPr>
          <p:cNvPr name="Group 8" id="8"/>
          <p:cNvGrpSpPr/>
          <p:nvPr/>
        </p:nvGrpSpPr>
        <p:grpSpPr>
          <a:xfrm rot="0">
            <a:off x="735806" y="3523879"/>
            <a:ext cx="5424335" cy="2950369"/>
            <a:chOff x="0" y="0"/>
            <a:chExt cx="7232447" cy="3933825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7232396" cy="3933825"/>
            </a:xfrm>
            <a:custGeom>
              <a:avLst/>
              <a:gdLst/>
              <a:ahLst/>
              <a:cxnLst/>
              <a:rect r="r" b="b" t="t" l="l"/>
              <a:pathLst>
                <a:path h="3933825" w="7232396">
                  <a:moveTo>
                    <a:pt x="0" y="267970"/>
                  </a:moveTo>
                  <a:cubicBezTo>
                    <a:pt x="0" y="120015"/>
                    <a:pt x="120015" y="0"/>
                    <a:pt x="267970" y="0"/>
                  </a:cubicBezTo>
                  <a:lnTo>
                    <a:pt x="6964426" y="0"/>
                  </a:lnTo>
                  <a:cubicBezTo>
                    <a:pt x="7112381" y="0"/>
                    <a:pt x="7232396" y="120015"/>
                    <a:pt x="7232396" y="267970"/>
                  </a:cubicBezTo>
                  <a:lnTo>
                    <a:pt x="7232396" y="3665855"/>
                  </a:lnTo>
                  <a:cubicBezTo>
                    <a:pt x="7232396" y="3813810"/>
                    <a:pt x="7112381" y="3933825"/>
                    <a:pt x="6964426" y="3933825"/>
                  </a:cubicBezTo>
                  <a:lnTo>
                    <a:pt x="267970" y="3933825"/>
                  </a:lnTo>
                  <a:cubicBezTo>
                    <a:pt x="120015" y="3933825"/>
                    <a:pt x="0" y="3813810"/>
                    <a:pt x="0" y="3665855"/>
                  </a:cubicBezTo>
                  <a:close/>
                </a:path>
              </a:pathLst>
            </a:custGeom>
            <a:solidFill>
              <a:srgbClr val="0D1B36"/>
            </a:solidFill>
            <a:ln w="14288" cap="sq">
              <a:solidFill>
                <a:srgbClr val="1E3A8A"/>
              </a:solidFill>
              <a:prstDash val="solid"/>
              <a:miter/>
            </a:ln>
          </p:spPr>
        </p:sp>
      </p:grpSp>
      <p:grpSp>
        <p:nvGrpSpPr>
          <p:cNvPr name="Group 10" id="10"/>
          <p:cNvGrpSpPr/>
          <p:nvPr/>
        </p:nvGrpSpPr>
        <p:grpSpPr>
          <a:xfrm rot="0">
            <a:off x="6431604" y="3523879"/>
            <a:ext cx="5424564" cy="2950369"/>
            <a:chOff x="0" y="0"/>
            <a:chExt cx="7232752" cy="3933825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7232776" cy="3933825"/>
            </a:xfrm>
            <a:custGeom>
              <a:avLst/>
              <a:gdLst/>
              <a:ahLst/>
              <a:cxnLst/>
              <a:rect r="r" b="b" t="t" l="l"/>
              <a:pathLst>
                <a:path h="3933825" w="7232776">
                  <a:moveTo>
                    <a:pt x="0" y="267970"/>
                  </a:moveTo>
                  <a:cubicBezTo>
                    <a:pt x="0" y="120015"/>
                    <a:pt x="120015" y="0"/>
                    <a:pt x="267970" y="0"/>
                  </a:cubicBezTo>
                  <a:lnTo>
                    <a:pt x="6964807" y="0"/>
                  </a:lnTo>
                  <a:cubicBezTo>
                    <a:pt x="7112762" y="0"/>
                    <a:pt x="7232776" y="120015"/>
                    <a:pt x="7232776" y="267970"/>
                  </a:cubicBezTo>
                  <a:lnTo>
                    <a:pt x="7232776" y="3665855"/>
                  </a:lnTo>
                  <a:cubicBezTo>
                    <a:pt x="7232776" y="3813810"/>
                    <a:pt x="7112762" y="3933825"/>
                    <a:pt x="6964807" y="3933825"/>
                  </a:cubicBezTo>
                  <a:lnTo>
                    <a:pt x="267970" y="3933825"/>
                  </a:lnTo>
                  <a:cubicBezTo>
                    <a:pt x="120015" y="3933825"/>
                    <a:pt x="0" y="3813810"/>
                    <a:pt x="0" y="3665855"/>
                  </a:cubicBezTo>
                  <a:close/>
                </a:path>
              </a:pathLst>
            </a:custGeom>
            <a:solidFill>
              <a:srgbClr val="0D1B36"/>
            </a:solidFill>
            <a:ln w="14288" cap="sq">
              <a:solidFill>
                <a:srgbClr val="1E3A8A"/>
              </a:solidFill>
              <a:prstDash val="solid"/>
              <a:miter/>
            </a:ln>
          </p:spPr>
        </p:sp>
      </p:grpSp>
      <p:grpSp>
        <p:nvGrpSpPr>
          <p:cNvPr name="Group 12" id="12"/>
          <p:cNvGrpSpPr/>
          <p:nvPr/>
        </p:nvGrpSpPr>
        <p:grpSpPr>
          <a:xfrm rot="0">
            <a:off x="12127630" y="3523879"/>
            <a:ext cx="5424335" cy="2950369"/>
            <a:chOff x="0" y="0"/>
            <a:chExt cx="7232447" cy="3933825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7232396" cy="3933825"/>
            </a:xfrm>
            <a:custGeom>
              <a:avLst/>
              <a:gdLst/>
              <a:ahLst/>
              <a:cxnLst/>
              <a:rect r="r" b="b" t="t" l="l"/>
              <a:pathLst>
                <a:path h="3933825" w="7232396">
                  <a:moveTo>
                    <a:pt x="0" y="267970"/>
                  </a:moveTo>
                  <a:cubicBezTo>
                    <a:pt x="0" y="120015"/>
                    <a:pt x="120015" y="0"/>
                    <a:pt x="267970" y="0"/>
                  </a:cubicBezTo>
                  <a:lnTo>
                    <a:pt x="6964426" y="0"/>
                  </a:lnTo>
                  <a:cubicBezTo>
                    <a:pt x="7112381" y="0"/>
                    <a:pt x="7232396" y="120015"/>
                    <a:pt x="7232396" y="267970"/>
                  </a:cubicBezTo>
                  <a:lnTo>
                    <a:pt x="7232396" y="3665855"/>
                  </a:lnTo>
                  <a:cubicBezTo>
                    <a:pt x="7232396" y="3813810"/>
                    <a:pt x="7112381" y="3933825"/>
                    <a:pt x="6964426" y="3933825"/>
                  </a:cubicBezTo>
                  <a:lnTo>
                    <a:pt x="267970" y="3933825"/>
                  </a:lnTo>
                  <a:cubicBezTo>
                    <a:pt x="120015" y="3933825"/>
                    <a:pt x="0" y="3813810"/>
                    <a:pt x="0" y="3665855"/>
                  </a:cubicBezTo>
                  <a:close/>
                </a:path>
              </a:pathLst>
            </a:custGeom>
            <a:solidFill>
              <a:srgbClr val="0D1B36"/>
            </a:solidFill>
            <a:ln w="14288" cap="sq">
              <a:solidFill>
                <a:srgbClr val="1E3A8A"/>
              </a:solidFill>
              <a:prstDash val="solid"/>
              <a:miter/>
            </a:ln>
          </p:spPr>
        </p:sp>
      </p:grpSp>
      <p:grpSp>
        <p:nvGrpSpPr>
          <p:cNvPr name="Group 14" id="14"/>
          <p:cNvGrpSpPr/>
          <p:nvPr/>
        </p:nvGrpSpPr>
        <p:grpSpPr>
          <a:xfrm rot="0">
            <a:off x="742950" y="1019994"/>
            <a:ext cx="485775" cy="485775"/>
            <a:chOff x="0" y="0"/>
            <a:chExt cx="647700" cy="647700"/>
          </a:xfrm>
        </p:grpSpPr>
        <p:sp>
          <p:nvSpPr>
            <p:cNvPr name="Freeform 15" id="15" descr="image.png"/>
            <p:cNvSpPr/>
            <p:nvPr/>
          </p:nvSpPr>
          <p:spPr>
            <a:xfrm flipH="false" flipV="false" rot="0">
              <a:off x="0" y="0"/>
              <a:ext cx="647700" cy="647700"/>
            </a:xfrm>
            <a:custGeom>
              <a:avLst/>
              <a:gdLst/>
              <a:ahLst/>
              <a:cxnLst/>
              <a:rect r="r" b="b" t="t" l="l"/>
              <a:pathLst>
                <a:path h="647700" w="647700">
                  <a:moveTo>
                    <a:pt x="0" y="0"/>
                  </a:moveTo>
                  <a:lnTo>
                    <a:pt x="647700" y="0"/>
                  </a:lnTo>
                  <a:lnTo>
                    <a:pt x="647700" y="647700"/>
                  </a:lnTo>
                  <a:lnTo>
                    <a:pt x="0" y="6477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-1470" r="0" b="-1470"/>
              </a:stretch>
            </a:blipFill>
          </p:spPr>
        </p:sp>
      </p:grpSp>
      <p:sp>
        <p:nvSpPr>
          <p:cNvPr name="TextBox 16" id="16"/>
          <p:cNvSpPr txBox="true"/>
          <p:nvPr/>
        </p:nvSpPr>
        <p:spPr>
          <a:xfrm rot="0">
            <a:off x="16602075" y="1097232"/>
            <a:ext cx="885825" cy="5334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sz="1800" b="true">
                <a:solidFill>
                  <a:srgbClr val="38BDF8"/>
                </a:solidFill>
                <a:latin typeface="Space Mono Bold"/>
                <a:ea typeface="Space Mono Bold"/>
                <a:cs typeface="Space Mono Bold"/>
                <a:sym typeface="Space Mono Bold"/>
              </a:rPr>
              <a:t>08/09</a:t>
            </a:r>
          </a:p>
          <a:p>
            <a:pPr algn="l">
              <a:lnSpc>
                <a:spcPts val="2160"/>
              </a:lnSpc>
            </a:pPr>
          </a:p>
        </p:txBody>
      </p:sp>
      <p:sp>
        <p:nvSpPr>
          <p:cNvPr name="TextBox 17" id="17"/>
          <p:cNvSpPr txBox="true"/>
          <p:nvPr/>
        </p:nvSpPr>
        <p:spPr>
          <a:xfrm rot="0">
            <a:off x="742950" y="571500"/>
            <a:ext cx="14973300" cy="3429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sz="1800" b="true">
                <a:solidFill>
                  <a:srgbClr val="38BDF8"/>
                </a:solidFill>
                <a:latin typeface="Prompt Bold"/>
                <a:ea typeface="Prompt Bold"/>
                <a:cs typeface="Prompt Bold"/>
                <a:sym typeface="Prompt Bold"/>
              </a:rPr>
              <a:t>06 ENGINEERING HIGHLIGHTS &amp; EDGE CASES</a:t>
            </a:r>
          </a:p>
        </p:txBody>
      </p:sp>
      <p:grpSp>
        <p:nvGrpSpPr>
          <p:cNvPr name="Group 18" id="18"/>
          <p:cNvGrpSpPr/>
          <p:nvPr/>
        </p:nvGrpSpPr>
        <p:grpSpPr>
          <a:xfrm rot="0">
            <a:off x="1400175" y="878194"/>
            <a:ext cx="14566291" cy="769595"/>
            <a:chOff x="0" y="0"/>
            <a:chExt cx="19421722" cy="1026127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19421721" cy="1026130"/>
            </a:xfrm>
            <a:custGeom>
              <a:avLst/>
              <a:gdLst/>
              <a:ahLst/>
              <a:cxnLst/>
              <a:rect r="r" b="b" t="t" l="l"/>
              <a:pathLst>
                <a:path h="1026130" w="19421721">
                  <a:moveTo>
                    <a:pt x="0" y="0"/>
                  </a:moveTo>
                  <a:lnTo>
                    <a:pt x="19421721" y="0"/>
                  </a:lnTo>
                  <a:lnTo>
                    <a:pt x="19421721" y="1026130"/>
                  </a:lnTo>
                  <a:lnTo>
                    <a:pt x="0" y="102613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89704" r="-15937" b="-365443"/>
              </a:stretch>
            </a:blipFill>
          </p:spPr>
        </p:sp>
        <p:sp>
          <p:nvSpPr>
            <p:cNvPr name="TextBox 20" id="20"/>
            <p:cNvSpPr txBox="true"/>
            <p:nvPr/>
          </p:nvSpPr>
          <p:spPr>
            <a:xfrm>
              <a:off x="0" y="-76200"/>
              <a:ext cx="19421722" cy="110232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590"/>
                </a:lnSpc>
              </a:pPr>
              <a:r>
                <a:rPr lang="en-US" sz="3825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การปรับแต่งทางวิศวกรรมและฮาร์ดแวร์ (Hardware Optimization)</a:t>
              </a:r>
            </a:p>
          </p:txBody>
        </p:sp>
      </p:grpSp>
      <p:sp>
        <p:nvSpPr>
          <p:cNvPr name="TextBox 21" id="21"/>
          <p:cNvSpPr txBox="true"/>
          <p:nvPr/>
        </p:nvSpPr>
        <p:spPr>
          <a:xfrm rot="0">
            <a:off x="1085850" y="4231110"/>
            <a:ext cx="4867123" cy="18930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89"/>
              </a:lnSpc>
            </a:pPr>
            <a:r>
              <a:rPr lang="en-US" sz="1575" b="true">
                <a:solidFill>
                  <a:srgbClr val="38BDF8"/>
                </a:solidFill>
                <a:latin typeface="Sarabun Bold"/>
                <a:ea typeface="Sarabun Bold"/>
                <a:cs typeface="Sarabun Bold"/>
                <a:sym typeface="Sarabun Bold"/>
              </a:rPr>
              <a:t>1400 ≤ ADC ≤ 2600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6781648" y="4231110"/>
            <a:ext cx="4867351" cy="18930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89"/>
              </a:lnSpc>
            </a:pPr>
            <a:r>
              <a:rPr lang="en-US" sz="1575" b="true">
                <a:solidFill>
                  <a:srgbClr val="38BDF8"/>
                </a:solidFill>
                <a:latin typeface="Sarabun Bold"/>
                <a:ea typeface="Sarabun Bold"/>
                <a:cs typeface="Sarabun Bold"/>
                <a:sym typeface="Sarabun Bold"/>
              </a:rPr>
              <a:t>LEDC PWM 5kHz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12477674" y="4231110"/>
            <a:ext cx="4867123" cy="18930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89"/>
              </a:lnSpc>
            </a:pPr>
            <a:r>
              <a:rPr lang="en-US" sz="1575" b="true">
                <a:solidFill>
                  <a:srgbClr val="38BDF8"/>
                </a:solidFill>
                <a:latin typeface="Sarabun Bold"/>
                <a:ea typeface="Sarabun Bold"/>
                <a:cs typeface="Sarabun Bold"/>
                <a:sym typeface="Sarabun Bold"/>
              </a:rPr>
              <a:t>PIN LOW on Timeout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1071562" y="7081466"/>
            <a:ext cx="17216438" cy="3143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25"/>
              </a:lnSpc>
            </a:pPr>
            <a:r>
              <a:rPr lang="en-US" sz="1687" b="true">
                <a:solidFill>
                  <a:srgbClr val="38BDF8"/>
                </a:solidFill>
                <a:latin typeface="Space Mono Bold"/>
                <a:ea typeface="Space Mono Bold"/>
                <a:cs typeface="Space Mono Bold"/>
                <a:sym typeface="Space Mono Bold"/>
              </a:rPr>
              <a:t>ACOUSTIC FREQUENCY MAP (SFX ENGINE)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1100138" y="3888210"/>
            <a:ext cx="5080473" cy="4714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70"/>
              </a:lnSpc>
            </a:pPr>
            <a:r>
              <a:rPr lang="en-US" sz="2475" b="true">
                <a:solidFill>
                  <a:srgbClr val="FFFFFF"/>
                </a:solidFill>
                <a:latin typeface="Prompt Bold"/>
                <a:ea typeface="Prompt Bold"/>
                <a:cs typeface="Prompt Bold"/>
                <a:sym typeface="Prompt Bold"/>
              </a:rPr>
              <a:t>Joystick Deadband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1100138" y="4407322"/>
            <a:ext cx="4838548" cy="11882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68"/>
              </a:lnSpc>
            </a:pPr>
            <a:r>
              <a:rPr lang="en-US" sz="1912">
                <a:solidFill>
                  <a:srgbClr val="CBD5E1"/>
                </a:solidFill>
                <a:latin typeface="Calibri (MS)"/>
                <a:ea typeface="Calibri (MS)"/>
                <a:cs typeface="Calibri (MS)"/>
                <a:sym typeface="Calibri (MS)"/>
              </a:rPr>
              <a:t>ใช้ซอฟต์แวร์กรองสัญญาณช่วง 1400 ≤ ADC ≤ 2600 ป้องกันการแกว่งของตัวละครเมื่อจอยสติ๊กอยู่ตำแหน่งจุดศูนย์กลาง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6795935" y="3888210"/>
            <a:ext cx="5080711" cy="4714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70"/>
              </a:lnSpc>
            </a:pPr>
            <a:r>
              <a:rPr lang="en-US" sz="2475" b="true">
                <a:solidFill>
                  <a:srgbClr val="FFFFFF"/>
                </a:solidFill>
                <a:latin typeface="Prompt Bold"/>
                <a:ea typeface="Prompt Bold"/>
                <a:cs typeface="Prompt Bold"/>
                <a:sym typeface="Prompt Bold"/>
              </a:rPr>
              <a:t>Display Backlight PWM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6795935" y="4407322"/>
            <a:ext cx="4838776" cy="11882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68"/>
              </a:lnSpc>
            </a:pPr>
            <a:r>
              <a:rPr lang="en-US" sz="1912">
                <a:solidFill>
                  <a:srgbClr val="CBD5E1"/>
                </a:solidFill>
                <a:latin typeface="Calibri (MS)"/>
                <a:ea typeface="Calibri (MS)"/>
                <a:cs typeface="Calibri (MS)"/>
                <a:sym typeface="Calibri (MS)"/>
              </a:rPr>
              <a:t>แมปค่า Potentiometer (150-4095) เข้ากับ PWM LEDC สั่งปิดหน้าจอดำทันทีเมื่อค่าต่ำกว่า 150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12491961" y="3888210"/>
            <a:ext cx="5080473" cy="4714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70"/>
              </a:lnSpc>
            </a:pPr>
            <a:r>
              <a:rPr lang="en-US" sz="2475" b="true">
                <a:solidFill>
                  <a:srgbClr val="FFFFFF"/>
                </a:solidFill>
                <a:latin typeface="Prompt Bold"/>
                <a:ea typeface="Prompt Bold"/>
                <a:cs typeface="Prompt Bold"/>
                <a:sym typeface="Prompt Bold"/>
              </a:rPr>
              <a:t>Acoustic Gating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12491961" y="4407322"/>
            <a:ext cx="4838548" cy="8239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68"/>
              </a:lnSpc>
            </a:pPr>
            <a:r>
              <a:rPr lang="en-US" sz="1912">
                <a:solidFill>
                  <a:srgbClr val="CBD5E1"/>
                </a:solidFill>
                <a:latin typeface="Calibri (MS)"/>
                <a:ea typeface="Calibri (MS)"/>
                <a:cs typeface="Calibri (MS)"/>
                <a:sym typeface="Calibri (MS)"/>
              </a:rPr>
              <a:t>ขจัดเสียงค้างของลำโพง Passive Buzzer โดยการบังคับขาพินเป็น DIGITAL LOW ทันทีหลังจบโน้ต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1071562" y="7557716"/>
            <a:ext cx="3696891" cy="3381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30"/>
              </a:lnSpc>
            </a:pPr>
            <a:r>
              <a:rPr lang="en-US" sz="2025" b="true">
                <a:solidFill>
                  <a:srgbClr val="38BDF8"/>
                </a:solidFill>
                <a:latin typeface="Sarabun Bold"/>
                <a:ea typeface="Sarabun Bold"/>
                <a:cs typeface="Sarabun Bold"/>
                <a:sym typeface="Sarabun Bold"/>
              </a:rPr>
              <a:t>160 Hz:</a:t>
            </a:r>
            <a:r>
              <a:rPr lang="en-US" sz="2025">
                <a:solidFill>
                  <a:srgbClr val="F8FAFC"/>
                </a:solidFill>
                <a:latin typeface="Sarabun"/>
                <a:ea typeface="Sarabun"/>
                <a:cs typeface="Sarabun"/>
                <a:sym typeface="Sarabun"/>
              </a:rPr>
              <a:t> เสียงโดนโจมตี (Hit)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4296966" y="7557716"/>
            <a:ext cx="3714750" cy="3381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30"/>
              </a:lnSpc>
            </a:pPr>
            <a:r>
              <a:rPr lang="en-US" sz="2025" b="true">
                <a:solidFill>
                  <a:srgbClr val="38BDF8"/>
                </a:solidFill>
                <a:latin typeface="Sarabun Bold"/>
                <a:ea typeface="Sarabun Bold"/>
                <a:cs typeface="Sarabun Bold"/>
                <a:sym typeface="Sarabun Bold"/>
              </a:rPr>
              <a:t>850 Hz:</a:t>
            </a:r>
            <a:r>
              <a:rPr lang="en-US" sz="2025">
                <a:solidFill>
                  <a:srgbClr val="F8FAFC"/>
                </a:solidFill>
                <a:latin typeface="Sarabun"/>
                <a:ea typeface="Sarabun"/>
                <a:cs typeface="Sarabun"/>
                <a:sym typeface="Sarabun"/>
              </a:rPr>
              <a:t> เสียงกำจัดศัตรู (Kill)</a:t>
            </a:r>
          </a:p>
        </p:txBody>
      </p:sp>
      <p:sp>
        <p:nvSpPr>
          <p:cNvPr name="TextBox 33" id="33"/>
          <p:cNvSpPr txBox="true"/>
          <p:nvPr/>
        </p:nvSpPr>
        <p:spPr>
          <a:xfrm rot="0">
            <a:off x="7536656" y="7557716"/>
            <a:ext cx="4054078" cy="3381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30"/>
              </a:lnSpc>
            </a:pPr>
            <a:r>
              <a:rPr lang="en-US" sz="2025" b="true">
                <a:solidFill>
                  <a:srgbClr val="38BDF8"/>
                </a:solidFill>
                <a:latin typeface="Sarabun Bold"/>
                <a:ea typeface="Sarabun Bold"/>
                <a:cs typeface="Sarabun Bold"/>
                <a:sym typeface="Sarabun Bold"/>
              </a:rPr>
              <a:t>1400 Hz:</a:t>
            </a:r>
            <a:r>
              <a:rPr lang="en-US" sz="2025">
                <a:solidFill>
                  <a:srgbClr val="F8FAFC"/>
                </a:solidFill>
                <a:latin typeface="Sarabun"/>
                <a:ea typeface="Sarabun"/>
                <a:cs typeface="Sarabun"/>
                <a:sym typeface="Sarabun"/>
              </a:rPr>
              <a:t> เสียงเลื่อนเมนู (Step)</a:t>
            </a:r>
          </a:p>
        </p:txBody>
      </p:sp>
      <p:sp>
        <p:nvSpPr>
          <p:cNvPr name="TextBox 34" id="34"/>
          <p:cNvSpPr txBox="true"/>
          <p:nvPr/>
        </p:nvSpPr>
        <p:spPr>
          <a:xfrm rot="0">
            <a:off x="11047809" y="7557716"/>
            <a:ext cx="4286250" cy="3381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30"/>
              </a:lnSpc>
            </a:pPr>
            <a:r>
              <a:rPr lang="en-US" sz="2025" b="true">
                <a:solidFill>
                  <a:srgbClr val="38BDF8"/>
                </a:solidFill>
                <a:latin typeface="Sarabun Bold"/>
                <a:ea typeface="Sarabun Bold"/>
                <a:cs typeface="Sarabun Bold"/>
                <a:sym typeface="Sarabun Bold"/>
              </a:rPr>
              <a:t>2400 Hz:</a:t>
            </a:r>
            <a:r>
              <a:rPr lang="en-US" sz="2025">
                <a:solidFill>
                  <a:srgbClr val="F8FAFC"/>
                </a:solidFill>
                <a:latin typeface="Sarabun"/>
                <a:ea typeface="Sarabun"/>
                <a:cs typeface="Sarabun"/>
                <a:sym typeface="Sarabun"/>
              </a:rPr>
              <a:t> เสียงเก็บเพชร (Chime)</a:t>
            </a:r>
          </a:p>
        </p:txBody>
      </p:sp>
      <p:sp>
        <p:nvSpPr>
          <p:cNvPr name="TextBox 35" id="35"/>
          <p:cNvSpPr txBox="true"/>
          <p:nvPr/>
        </p:nvSpPr>
        <p:spPr>
          <a:xfrm rot="0">
            <a:off x="14744700" y="7557716"/>
            <a:ext cx="3089672" cy="3381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30"/>
              </a:lnSpc>
            </a:pPr>
            <a:r>
              <a:rPr lang="en-US" sz="2025" b="true">
                <a:solidFill>
                  <a:srgbClr val="38BDF8"/>
                </a:solidFill>
                <a:latin typeface="Sarabun Bold"/>
                <a:ea typeface="Sarabun Bold"/>
                <a:cs typeface="Sarabun Bold"/>
                <a:sym typeface="Sarabun Bold"/>
              </a:rPr>
              <a:t>3000 Hz:</a:t>
            </a:r>
            <a:r>
              <a:rPr lang="en-US" sz="2025">
                <a:solidFill>
                  <a:srgbClr val="F8FAFC"/>
                </a:solidFill>
                <a:latin typeface="Sarabun"/>
                <a:ea typeface="Sarabun"/>
                <a:cs typeface="Sarabun"/>
                <a:sym typeface="Sarabun"/>
              </a:rPr>
              <a:t> เสียง Fanfare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B132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10258425"/>
            <a:ext cx="18288000" cy="28575"/>
            <a:chOff x="0" y="0"/>
            <a:chExt cx="24384000" cy="381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38100"/>
            </a:xfrm>
            <a:custGeom>
              <a:avLst/>
              <a:gdLst/>
              <a:ahLst/>
              <a:cxnLst/>
              <a:rect r="r" b="b" t="t" l="l"/>
              <a:pathLst>
                <a:path h="381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38100"/>
                  </a:lnTo>
                  <a:lnTo>
                    <a:pt x="0" y="38100"/>
                  </a:lnTo>
                  <a:close/>
                </a:path>
              </a:pathLst>
            </a:custGeom>
            <a:solidFill>
              <a:srgbClr val="1E293B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16394906" y="1004364"/>
            <a:ext cx="1157288" cy="557212"/>
            <a:chOff x="0" y="0"/>
            <a:chExt cx="1543050" cy="74295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543177" cy="742950"/>
            </a:xfrm>
            <a:custGeom>
              <a:avLst/>
              <a:gdLst/>
              <a:ahLst/>
              <a:cxnLst/>
              <a:rect r="r" b="b" t="t" l="l"/>
              <a:pathLst>
                <a:path h="742950" w="1543177">
                  <a:moveTo>
                    <a:pt x="0" y="156464"/>
                  </a:moveTo>
                  <a:cubicBezTo>
                    <a:pt x="0" y="69977"/>
                    <a:pt x="69977" y="0"/>
                    <a:pt x="156464" y="0"/>
                  </a:cubicBezTo>
                  <a:lnTo>
                    <a:pt x="1386713" y="0"/>
                  </a:lnTo>
                  <a:cubicBezTo>
                    <a:pt x="1473073" y="0"/>
                    <a:pt x="1543177" y="69977"/>
                    <a:pt x="1543177" y="156464"/>
                  </a:cubicBezTo>
                  <a:lnTo>
                    <a:pt x="1543177" y="586486"/>
                  </a:lnTo>
                  <a:cubicBezTo>
                    <a:pt x="1543177" y="672846"/>
                    <a:pt x="1473200" y="742950"/>
                    <a:pt x="1386713" y="742950"/>
                  </a:cubicBezTo>
                  <a:lnTo>
                    <a:pt x="156464" y="742950"/>
                  </a:lnTo>
                  <a:cubicBezTo>
                    <a:pt x="69977" y="742950"/>
                    <a:pt x="0" y="672973"/>
                    <a:pt x="0" y="586486"/>
                  </a:cubicBezTo>
                  <a:close/>
                </a:path>
              </a:pathLst>
            </a:custGeom>
            <a:solidFill>
              <a:srgbClr val="1E293B"/>
            </a:solidFill>
            <a:ln w="14288" cap="sq">
              <a:solidFill>
                <a:srgbClr val="0284C7"/>
              </a:solidFill>
              <a:prstDash val="solid"/>
              <a:miter/>
            </a:ln>
          </p:spPr>
        </p:sp>
      </p:grpSp>
      <p:grpSp>
        <p:nvGrpSpPr>
          <p:cNvPr name="Group 6" id="6"/>
          <p:cNvGrpSpPr/>
          <p:nvPr/>
        </p:nvGrpSpPr>
        <p:grpSpPr>
          <a:xfrm rot="0">
            <a:off x="735806" y="2061639"/>
            <a:ext cx="8215312" cy="7632430"/>
            <a:chOff x="0" y="0"/>
            <a:chExt cx="10953750" cy="10176574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0953750" cy="10176511"/>
            </a:xfrm>
            <a:custGeom>
              <a:avLst/>
              <a:gdLst/>
              <a:ahLst/>
              <a:cxnLst/>
              <a:rect r="r" b="b" t="t" l="l"/>
              <a:pathLst>
                <a:path h="10176511" w="10953750">
                  <a:moveTo>
                    <a:pt x="0" y="267081"/>
                  </a:moveTo>
                  <a:cubicBezTo>
                    <a:pt x="0" y="119634"/>
                    <a:pt x="119634" y="0"/>
                    <a:pt x="267081" y="0"/>
                  </a:cubicBezTo>
                  <a:lnTo>
                    <a:pt x="10686669" y="0"/>
                  </a:lnTo>
                  <a:cubicBezTo>
                    <a:pt x="10834243" y="0"/>
                    <a:pt x="10953750" y="119634"/>
                    <a:pt x="10953750" y="267081"/>
                  </a:cubicBezTo>
                  <a:lnTo>
                    <a:pt x="10953750" y="9909429"/>
                  </a:lnTo>
                  <a:cubicBezTo>
                    <a:pt x="10953750" y="10057003"/>
                    <a:pt x="10834115" y="10176511"/>
                    <a:pt x="10686669" y="10176511"/>
                  </a:cubicBezTo>
                  <a:lnTo>
                    <a:pt x="267081" y="10176511"/>
                  </a:lnTo>
                  <a:cubicBezTo>
                    <a:pt x="119634" y="10176510"/>
                    <a:pt x="0" y="10057003"/>
                    <a:pt x="0" y="9909429"/>
                  </a:cubicBezTo>
                  <a:close/>
                </a:path>
              </a:pathLst>
            </a:custGeom>
            <a:solidFill>
              <a:srgbClr val="0A2540"/>
            </a:solidFill>
            <a:ln w="14288" cap="sq">
              <a:solidFill>
                <a:srgbClr val="0284C7"/>
              </a:solidFill>
              <a:prstDash val="solid"/>
              <a:miter/>
            </a:ln>
          </p:spPr>
        </p:sp>
      </p:grpSp>
      <p:grpSp>
        <p:nvGrpSpPr>
          <p:cNvPr name="Group 8" id="8"/>
          <p:cNvGrpSpPr/>
          <p:nvPr/>
        </p:nvGrpSpPr>
        <p:grpSpPr>
          <a:xfrm rot="0">
            <a:off x="9336881" y="2061639"/>
            <a:ext cx="8215312" cy="7632430"/>
            <a:chOff x="0" y="0"/>
            <a:chExt cx="10953750" cy="10176574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0953750" cy="10176511"/>
            </a:xfrm>
            <a:custGeom>
              <a:avLst/>
              <a:gdLst/>
              <a:ahLst/>
              <a:cxnLst/>
              <a:rect r="r" b="b" t="t" l="l"/>
              <a:pathLst>
                <a:path h="10176511" w="10953750">
                  <a:moveTo>
                    <a:pt x="0" y="267081"/>
                  </a:moveTo>
                  <a:cubicBezTo>
                    <a:pt x="0" y="119634"/>
                    <a:pt x="119634" y="0"/>
                    <a:pt x="267081" y="0"/>
                  </a:cubicBezTo>
                  <a:lnTo>
                    <a:pt x="10686669" y="0"/>
                  </a:lnTo>
                  <a:cubicBezTo>
                    <a:pt x="10834243" y="0"/>
                    <a:pt x="10953750" y="119634"/>
                    <a:pt x="10953750" y="267081"/>
                  </a:cubicBezTo>
                  <a:lnTo>
                    <a:pt x="10953750" y="9909429"/>
                  </a:lnTo>
                  <a:cubicBezTo>
                    <a:pt x="10953750" y="10057003"/>
                    <a:pt x="10834115" y="10176511"/>
                    <a:pt x="10686669" y="10176511"/>
                  </a:cubicBezTo>
                  <a:lnTo>
                    <a:pt x="267081" y="10176511"/>
                  </a:lnTo>
                  <a:cubicBezTo>
                    <a:pt x="119634" y="10176510"/>
                    <a:pt x="0" y="10057003"/>
                    <a:pt x="0" y="9909429"/>
                  </a:cubicBezTo>
                  <a:close/>
                </a:path>
              </a:pathLst>
            </a:custGeom>
            <a:solidFill>
              <a:srgbClr val="111C38"/>
            </a:solidFill>
            <a:ln w="14288" cap="sq">
              <a:solidFill>
                <a:srgbClr val="1E3A8A"/>
              </a:solidFill>
              <a:prstDash val="solid"/>
              <a:miter/>
            </a:ln>
          </p:spPr>
        </p:sp>
      </p:grpSp>
      <p:grpSp>
        <p:nvGrpSpPr>
          <p:cNvPr name="Group 10" id="10"/>
          <p:cNvGrpSpPr/>
          <p:nvPr/>
        </p:nvGrpSpPr>
        <p:grpSpPr>
          <a:xfrm rot="0">
            <a:off x="742950" y="1019994"/>
            <a:ext cx="428625" cy="485775"/>
            <a:chOff x="0" y="0"/>
            <a:chExt cx="571500" cy="647700"/>
          </a:xfrm>
        </p:grpSpPr>
        <p:sp>
          <p:nvSpPr>
            <p:cNvPr name="Freeform 11" id="11" descr="image.png"/>
            <p:cNvSpPr/>
            <p:nvPr/>
          </p:nvSpPr>
          <p:spPr>
            <a:xfrm flipH="false" flipV="false" rot="0">
              <a:off x="0" y="0"/>
              <a:ext cx="571500" cy="647700"/>
            </a:xfrm>
            <a:custGeom>
              <a:avLst/>
              <a:gdLst/>
              <a:ahLst/>
              <a:cxnLst/>
              <a:rect r="r" b="b" t="t" l="l"/>
              <a:pathLst>
                <a:path h="647700" w="571500">
                  <a:moveTo>
                    <a:pt x="0" y="0"/>
                  </a:moveTo>
                  <a:lnTo>
                    <a:pt x="571500" y="0"/>
                  </a:lnTo>
                  <a:lnTo>
                    <a:pt x="571500" y="647700"/>
                  </a:lnTo>
                  <a:lnTo>
                    <a:pt x="0" y="6477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-1470" r="0" b="-1470"/>
              </a:stretch>
            </a:blip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1214438" y="4494981"/>
            <a:ext cx="457200" cy="457200"/>
            <a:chOff x="0" y="0"/>
            <a:chExt cx="609600" cy="609600"/>
          </a:xfrm>
        </p:grpSpPr>
        <p:sp>
          <p:nvSpPr>
            <p:cNvPr name="Freeform 13" id="13" descr="image.png"/>
            <p:cNvSpPr/>
            <p:nvPr/>
          </p:nvSpPr>
          <p:spPr>
            <a:xfrm flipH="false" flipV="false" rot="0">
              <a:off x="0" y="0"/>
              <a:ext cx="609600" cy="609600"/>
            </a:xfrm>
            <a:custGeom>
              <a:avLst/>
              <a:gdLst/>
              <a:ahLst/>
              <a:cxnLst/>
              <a:rect r="r" b="b" t="t" l="l"/>
              <a:pathLst>
                <a:path h="609600" w="609600">
                  <a:moveTo>
                    <a:pt x="0" y="0"/>
                  </a:moveTo>
                  <a:lnTo>
                    <a:pt x="609600" y="0"/>
                  </a:lnTo>
                  <a:lnTo>
                    <a:pt x="609600" y="609600"/>
                  </a:lnTo>
                  <a:lnTo>
                    <a:pt x="0" y="6096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-1562" r="0" b="-1562"/>
              </a:stretch>
            </a:blip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9815512" y="4444975"/>
            <a:ext cx="457200" cy="457200"/>
            <a:chOff x="0" y="0"/>
            <a:chExt cx="609600" cy="609600"/>
          </a:xfrm>
        </p:grpSpPr>
        <p:sp>
          <p:nvSpPr>
            <p:cNvPr name="Freeform 15" id="15" descr="image.png"/>
            <p:cNvSpPr/>
            <p:nvPr/>
          </p:nvSpPr>
          <p:spPr>
            <a:xfrm flipH="false" flipV="false" rot="0">
              <a:off x="0" y="0"/>
              <a:ext cx="609600" cy="609600"/>
            </a:xfrm>
            <a:custGeom>
              <a:avLst/>
              <a:gdLst/>
              <a:ahLst/>
              <a:cxnLst/>
              <a:rect r="r" b="b" t="t" l="l"/>
              <a:pathLst>
                <a:path h="609600" w="609600">
                  <a:moveTo>
                    <a:pt x="0" y="0"/>
                  </a:moveTo>
                  <a:lnTo>
                    <a:pt x="609600" y="0"/>
                  </a:lnTo>
                  <a:lnTo>
                    <a:pt x="609600" y="609600"/>
                  </a:lnTo>
                  <a:lnTo>
                    <a:pt x="0" y="6096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-1562" r="0" b="-1562"/>
              </a:stretch>
            </a:blipFill>
          </p:spPr>
        </p:sp>
      </p:grpSp>
      <p:sp>
        <p:nvSpPr>
          <p:cNvPr name="TextBox 16" id="16"/>
          <p:cNvSpPr txBox="true"/>
          <p:nvPr/>
        </p:nvSpPr>
        <p:spPr>
          <a:xfrm rot="0">
            <a:off x="16602075" y="1097232"/>
            <a:ext cx="885825" cy="266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sz="1800" b="true">
                <a:solidFill>
                  <a:srgbClr val="38BDF8"/>
                </a:solidFill>
                <a:latin typeface="Space Mono Bold"/>
                <a:ea typeface="Space Mono Bold"/>
                <a:cs typeface="Space Mono Bold"/>
                <a:sym typeface="Space Mono Bold"/>
              </a:rPr>
              <a:t>09/09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742950" y="571500"/>
            <a:ext cx="13258800" cy="3429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sz="1800" b="true">
                <a:solidFill>
                  <a:srgbClr val="38BDF8"/>
                </a:solidFill>
                <a:latin typeface="Prompt Bold"/>
                <a:ea typeface="Prompt Bold"/>
                <a:cs typeface="Prompt Bold"/>
                <a:sym typeface="Prompt Bold"/>
              </a:rPr>
              <a:t>07 CONCLUSION &amp; SCALABILITY</a:t>
            </a:r>
          </a:p>
        </p:txBody>
      </p:sp>
      <p:grpSp>
        <p:nvGrpSpPr>
          <p:cNvPr name="Group 18" id="18"/>
          <p:cNvGrpSpPr/>
          <p:nvPr/>
        </p:nvGrpSpPr>
        <p:grpSpPr>
          <a:xfrm rot="0">
            <a:off x="1343025" y="971550"/>
            <a:ext cx="13426019" cy="769595"/>
            <a:chOff x="0" y="0"/>
            <a:chExt cx="17901358" cy="1026127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17901363" cy="1026130"/>
            </a:xfrm>
            <a:custGeom>
              <a:avLst/>
              <a:gdLst/>
              <a:ahLst/>
              <a:cxnLst/>
              <a:rect r="r" b="b" t="t" l="l"/>
              <a:pathLst>
                <a:path h="1026130" w="17901363">
                  <a:moveTo>
                    <a:pt x="0" y="0"/>
                  </a:moveTo>
                  <a:lnTo>
                    <a:pt x="17901363" y="0"/>
                  </a:lnTo>
                  <a:lnTo>
                    <a:pt x="17901363" y="1026130"/>
                  </a:lnTo>
                  <a:lnTo>
                    <a:pt x="0" y="1026130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382026" r="-23525" b="-357765"/>
              </a:stretch>
            </a:blipFill>
          </p:spPr>
        </p:sp>
        <p:sp>
          <p:nvSpPr>
            <p:cNvPr name="TextBox 20" id="20"/>
            <p:cNvSpPr txBox="true"/>
            <p:nvPr/>
          </p:nvSpPr>
          <p:spPr>
            <a:xfrm>
              <a:off x="0" y="-76200"/>
              <a:ext cx="17901358" cy="110232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590"/>
                </a:lnSpc>
              </a:pPr>
              <a:r>
                <a:rPr lang="en-US" sz="3825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สรุปผลการดำเนินงานและแนวทางการพัฒนาต่อ (Roadmap)</a:t>
              </a:r>
            </a:p>
          </p:txBody>
        </p:sp>
      </p:grpSp>
      <p:sp>
        <p:nvSpPr>
          <p:cNvPr name="TextBox 21" id="21"/>
          <p:cNvSpPr txBox="true"/>
          <p:nvPr/>
        </p:nvSpPr>
        <p:spPr>
          <a:xfrm rot="0">
            <a:off x="1843088" y="4435450"/>
            <a:ext cx="4380547" cy="5667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10"/>
              </a:lnSpc>
            </a:pPr>
            <a:r>
              <a:rPr lang="en-US" sz="2925" b="true">
                <a:solidFill>
                  <a:srgbClr val="FFFFFF"/>
                </a:solidFill>
                <a:latin typeface="Prompt Bold"/>
                <a:ea typeface="Prompt Bold"/>
                <a:cs typeface="Prompt Bold"/>
                <a:sym typeface="Prompt Bold"/>
              </a:rPr>
              <a:t>DELIVERED (สิ่งที่สำเร็จ)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1214438" y="5192687"/>
            <a:ext cx="7400925" cy="9636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18"/>
              </a:lnSpc>
            </a:pPr>
            <a:r>
              <a:rPr lang="en-US" sz="2137" b="true">
                <a:solidFill>
                  <a:srgbClr val="38BDF8"/>
                </a:solidFill>
                <a:latin typeface="Sarabun Bold"/>
                <a:ea typeface="Sarabun Bold"/>
                <a:cs typeface="Sarabun Bold"/>
                <a:sym typeface="Sarabun Bold"/>
              </a:rPr>
              <a:t>Autonomous Operation:</a:t>
            </a:r>
            <a:r>
              <a:rPr lang="en-US" sz="2137">
                <a:solidFill>
                  <a:srgbClr val="E2E8F0"/>
                </a:solidFill>
                <a:latin typeface="Sarabun"/>
                <a:ea typeface="Sarabun"/>
                <a:cs typeface="Sarabun"/>
                <a:sym typeface="Sarabun"/>
              </a:rPr>
              <a:t> บันทึกเฟิร์มแวร์บน Non-volatile Flash Memory พร้อมทำงานทันทีเมื่อจ่ายไฟ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1214438" y="6346850"/>
            <a:ext cx="7400925" cy="9636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18"/>
              </a:lnSpc>
            </a:pPr>
            <a:r>
              <a:rPr lang="en-US" sz="2137" b="true">
                <a:solidFill>
                  <a:srgbClr val="38BDF8"/>
                </a:solidFill>
                <a:latin typeface="Sarabun Bold"/>
                <a:ea typeface="Sarabun Bold"/>
                <a:cs typeface="Sarabun Bold"/>
                <a:sym typeface="Sarabun Bold"/>
              </a:rPr>
              <a:t>Complete I/O Adherence:</a:t>
            </a:r>
            <a:r>
              <a:rPr lang="en-US" sz="2137">
                <a:solidFill>
                  <a:srgbClr val="E2E8F0"/>
                </a:solidFill>
                <a:latin typeface="Sarabun"/>
                <a:ea typeface="Sarabun"/>
                <a:cs typeface="Sarabun"/>
                <a:sym typeface="Sarabun"/>
              </a:rPr>
              <a:t> รวมระบบ ADC Sampling, Digital Input, SPI Display และ PWM Audio ทำงานร่วมกันได้อย่างเสถียร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10444162" y="4435450"/>
            <a:ext cx="6000750" cy="5667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10"/>
              </a:lnSpc>
            </a:pPr>
            <a:r>
              <a:rPr lang="en-US" sz="2925" b="true">
                <a:solidFill>
                  <a:srgbClr val="FFFFFF"/>
                </a:solidFill>
                <a:latin typeface="Prompt Bold"/>
                <a:ea typeface="Prompt Bold"/>
                <a:cs typeface="Prompt Bold"/>
                <a:sym typeface="Prompt Bold"/>
              </a:rPr>
              <a:t>FUTURE UPGRADES (การพัฒนา)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9815512" y="5238750"/>
            <a:ext cx="7400925" cy="8905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05"/>
              </a:lnSpc>
            </a:pPr>
            <a:r>
              <a:rPr lang="en-US" sz="2137" b="true">
                <a:solidFill>
                  <a:srgbClr val="60A5FA"/>
                </a:solidFill>
                <a:latin typeface="Sarabun Bold"/>
                <a:ea typeface="Sarabun Bold"/>
                <a:cs typeface="Sarabun Bold"/>
                <a:sym typeface="Sarabun Bold"/>
              </a:rPr>
              <a:t>Persistent NVS High Score:</a:t>
            </a:r>
            <a:r>
              <a:rPr lang="en-US" sz="2137">
                <a:solidFill>
                  <a:srgbClr val="E2E8F0"/>
                </a:solidFill>
                <a:latin typeface="Sarabun"/>
                <a:ea typeface="Sarabun"/>
                <a:cs typeface="Sarabun"/>
                <a:sym typeface="Sarabun"/>
              </a:rPr>
              <a:t> บันทึกสถิติคะแนนสูงสุดลงใน ESP32 NVS Flash Memory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9815512" y="6392913"/>
            <a:ext cx="7400925" cy="8905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05"/>
              </a:lnSpc>
            </a:pPr>
            <a:r>
              <a:rPr lang="en-US" sz="2137" b="true">
                <a:solidFill>
                  <a:srgbClr val="60A5FA"/>
                </a:solidFill>
                <a:latin typeface="Sarabun Bold"/>
                <a:ea typeface="Sarabun Bold"/>
                <a:cs typeface="Sarabun Bold"/>
                <a:sym typeface="Sarabun Bold"/>
              </a:rPr>
              <a:t>WebSockets Telemetry:</a:t>
            </a:r>
            <a:r>
              <a:rPr lang="en-US" sz="2137">
                <a:solidFill>
                  <a:srgbClr val="E2E8F0"/>
                </a:solidFill>
                <a:latin typeface="Sarabun"/>
                <a:ea typeface="Sarabun"/>
                <a:cs typeface="Sarabun"/>
                <a:sym typeface="Sarabun"/>
              </a:rPr>
              <a:t> ส่งข้อมูลและสถานะการเล่นเกมแบบ Real-time ผ่าน Wi-Fi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DAHWOC6caaA</dc:identifier>
  <dcterms:modified xsi:type="dcterms:W3CDTF">2011-08-01T06:04:30Z</dcterms:modified>
  <cp:revision>1</cp:revision>
  <dc:title>ESP32 Retro Survivors Presentation.pptx</dc:title>
</cp:coreProperties>
</file>