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Prompt Bold" charset="1" panose="00000800000000000000"/>
      <p:regular r:id="rId32"/>
    </p:embeddedFont>
    <p:embeddedFont>
      <p:font typeface="Calibri (MS)" charset="1" panose="020F0502020204030204"/>
      <p:regular r:id="rId33"/>
    </p:embeddedFont>
    <p:embeddedFont>
      <p:font typeface="Calibri (MS) Bold" charset="1" panose="020F0702030404030204"/>
      <p:regular r:id="rId34"/>
    </p:embeddedFont>
    <p:embeddedFont>
      <p:font typeface="Space Mono Bold" charset="1" panose="02000809030000020004"/>
      <p:regular r:id="rId35"/>
    </p:embeddedFont>
    <p:embeddedFont>
      <p:font typeface="Sarabun Bold" charset="1" panose="000008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rive.google.com/file/d/1wSTmqR_-Sq7AepEVBgjFIw3Xfg82Lu3q/view?usp=drive_link" TargetMode="External" Type="http://schemas.openxmlformats.org/officeDocument/2006/relationships/hyperlink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653218" y="3100017"/>
            <a:ext cx="12981564" cy="137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99"/>
              </a:lnSpc>
            </a:pPr>
            <a:r>
              <a:rPr lang="en-US" sz="9390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Retro Arena Survivor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11096" y="4670610"/>
            <a:ext cx="6865809" cy="132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6"/>
              </a:lnSpc>
            </a:pPr>
            <a:r>
              <a:rPr lang="en-US" sz="6756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Group Number: 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63657" y="1187107"/>
            <a:ext cx="11501096" cy="273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sz="9390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White tiger</a:t>
            </a:r>
          </a:p>
          <a:p>
            <a:pPr algn="ctr">
              <a:lnSpc>
                <a:spcPts val="10799"/>
              </a:lnSpc>
            </a:pPr>
            <a:r>
              <a:rPr lang="en-US" sz="9390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Team Members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1122" y="7711132"/>
            <a:ext cx="5665070" cy="237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9"/>
              </a:lnSpc>
            </a:pPr>
            <a:r>
              <a:rPr lang="en-US" sz="3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2411310770 สิรดนัย ศิริมงคลมิตร</a:t>
            </a:r>
          </a:p>
          <a:p>
            <a:pPr algn="ctr">
              <a:lnSpc>
                <a:spcPts val="4639"/>
              </a:lnSpc>
            </a:pPr>
          </a:p>
          <a:p>
            <a:pPr algn="ctr">
              <a:lnSpc>
                <a:spcPts val="4639"/>
              </a:lnSpc>
            </a:pPr>
          </a:p>
          <a:p>
            <a:pPr algn="ctr">
              <a:lnSpc>
                <a:spcPts val="463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405540" y="6549082"/>
            <a:ext cx="7612915" cy="237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9"/>
              </a:lnSpc>
            </a:pPr>
          </a:p>
          <a:p>
            <a:pPr algn="ctr">
              <a:lnSpc>
                <a:spcPts val="4639"/>
              </a:lnSpc>
            </a:pPr>
          </a:p>
          <a:p>
            <a:pPr algn="ctr">
              <a:lnSpc>
                <a:spcPts val="4639"/>
              </a:lnSpc>
            </a:pPr>
            <a:r>
              <a:rPr lang="en-US" sz="3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2411312073 พฤกษ์ จันทรสวาท</a:t>
            </a:r>
          </a:p>
          <a:p>
            <a:pPr algn="ctr">
              <a:lnSpc>
                <a:spcPts val="463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562228" y="6549082"/>
            <a:ext cx="7612915" cy="353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9"/>
              </a:lnSpc>
            </a:pPr>
          </a:p>
          <a:p>
            <a:pPr algn="ctr">
              <a:lnSpc>
                <a:spcPts val="4639"/>
              </a:lnSpc>
            </a:pPr>
          </a:p>
          <a:p>
            <a:pPr algn="ctr">
              <a:lnSpc>
                <a:spcPts val="4639"/>
              </a:lnSpc>
            </a:pPr>
            <a:r>
              <a:rPr lang="en-US" sz="3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2411310572 รัชชานนท์ ขวัญแก้ว</a:t>
            </a:r>
          </a:p>
          <a:p>
            <a:pPr algn="ctr">
              <a:lnSpc>
                <a:spcPts val="4639"/>
              </a:lnSpc>
            </a:pPr>
          </a:p>
          <a:p>
            <a:pPr algn="ctr">
              <a:lnSpc>
                <a:spcPts val="4639"/>
              </a:lnSpc>
            </a:pPr>
          </a:p>
          <a:p>
            <a:pPr algn="ctr">
              <a:lnSpc>
                <a:spcPts val="463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48354" y="3946581"/>
            <a:ext cx="11991293" cy="2479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85"/>
              </a:lnSpc>
            </a:pPr>
            <a:r>
              <a:rPr lang="en-US" sz="16944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Overview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95284" y="3052704"/>
            <a:ext cx="16692716" cy="449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0" indent="-291465" lvl="1">
              <a:lnSpc>
                <a:spcPts val="3915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แนวคิดโปรเจกต์: สร้างเกมตู้ Arcade ยุค Retro 8-bit แนว Action-Survival บนบอร์ดประมวลผล ESP32</a:t>
            </a:r>
          </a:p>
          <a:p>
            <a:pPr algn="just">
              <a:lnSpc>
                <a:spcPts val="3915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just" marL="582930" indent="-291465" lvl="1">
              <a:lnSpc>
                <a:spcPts val="3915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จุดเด่นของระบบ:</a:t>
            </a:r>
          </a:p>
          <a:p>
            <a:pPr algn="just">
              <a:lnSpc>
                <a:spcPts val="3915"/>
              </a:lnSpc>
            </a:pPr>
          </a:p>
          <a:p>
            <a:pPr algn="just" marL="1165860" indent="-388620" lvl="2">
              <a:lnSpc>
                <a:spcPts val="3915"/>
              </a:lnSpc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แสดงผลกราฟิกแบบ Real-time บนจอ TFT LCD (3.8 inch) </a:t>
            </a:r>
          </a:p>
          <a:p>
            <a:pPr algn="just" marL="1165860" indent="-388620" lvl="2">
              <a:lnSpc>
                <a:spcPts val="3915"/>
              </a:lnSpc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ควบคุมทิศทางด้วย Analog Joystick และการปรับแสงจอด้วย Potentiometer ผ่านสัญญาณ PWM </a:t>
            </a:r>
          </a:p>
          <a:p>
            <a:pPr algn="just" marL="1165860" indent="-388620" lvl="2">
              <a:lnSpc>
                <a:spcPts val="3915"/>
              </a:lnSpc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มีระบบไฟ Status LEDs แสดง HP ภายนอก และเสียงเอฟเฟกต์ SFX ผ่าน Passive Buzzer </a:t>
            </a:r>
          </a:p>
          <a:p>
            <a:pPr algn="just" marL="1165860" indent="-388620" lvl="2">
              <a:lnSpc>
                <a:spcPts val="3915"/>
              </a:lnSpc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ประมวลผลด้วยสถาปัตยกรรม Non-blocking Logic (FSM) ทำให้ระบบลื่นไหล ไม่ค้าง </a:t>
            </a:r>
          </a:p>
          <a:p>
            <a:pPr algn="just">
              <a:lnSpc>
                <a:spcPts val="391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056541" y="4312956"/>
            <a:ext cx="17809236" cy="1722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85"/>
              </a:lnSpc>
            </a:pPr>
            <a:r>
              <a:rPr lang="en-US" sz="11726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detail/requirement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48349" y="2710132"/>
            <a:ext cx="13522363" cy="5452624"/>
            <a:chOff x="0" y="0"/>
            <a:chExt cx="25284877" cy="101956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284722" cy="10195560"/>
            </a:xfrm>
            <a:custGeom>
              <a:avLst/>
              <a:gdLst/>
              <a:ahLst/>
              <a:cxnLst/>
              <a:rect r="r" b="b" t="t" l="l"/>
              <a:pathLst>
                <a:path h="10195560" w="25284722">
                  <a:moveTo>
                    <a:pt x="0" y="267589"/>
                  </a:moveTo>
                  <a:cubicBezTo>
                    <a:pt x="0" y="119761"/>
                    <a:pt x="293661" y="0"/>
                    <a:pt x="656143" y="0"/>
                  </a:cubicBezTo>
                  <a:lnTo>
                    <a:pt x="24628577" y="0"/>
                  </a:lnTo>
                  <a:cubicBezTo>
                    <a:pt x="24991061" y="0"/>
                    <a:pt x="25284722" y="119761"/>
                    <a:pt x="25284722" y="267589"/>
                  </a:cubicBezTo>
                  <a:lnTo>
                    <a:pt x="25284722" y="9927971"/>
                  </a:lnTo>
                  <a:cubicBezTo>
                    <a:pt x="25284722" y="10075799"/>
                    <a:pt x="24991061" y="10195560"/>
                    <a:pt x="24628577" y="10195560"/>
                  </a:cubicBezTo>
                  <a:lnTo>
                    <a:pt x="656143" y="10195560"/>
                  </a:lnTo>
                  <a:cubicBezTo>
                    <a:pt x="293661" y="10195560"/>
                    <a:pt x="0" y="10075799"/>
                    <a:pt x="0" y="9927971"/>
                  </a:cubicBezTo>
                  <a:close/>
                </a:path>
              </a:pathLst>
            </a:custGeom>
            <a:solidFill>
              <a:srgbClr val="0F172A"/>
            </a:solidFill>
            <a:ln w="28575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2811321" y="3619952"/>
            <a:ext cx="16019471" cy="373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  <a:spcBef>
                <a:spcPct val="0"/>
              </a:spcBef>
            </a:pPr>
            <a:r>
              <a:rPr lang="en-US" sz="244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ความต้องการทางด้านซอฟต์แวร์ (Software Requirements):</a:t>
            </a:r>
          </a:p>
          <a:p>
            <a:pPr algn="l">
              <a:lnSpc>
                <a:spcPts val="2935"/>
              </a:lnSpc>
              <a:spcBef>
                <a:spcPct val="0"/>
              </a:spcBef>
            </a:pPr>
          </a:p>
          <a:p>
            <a:pPr algn="l">
              <a:lnSpc>
                <a:spcPts val="2935"/>
              </a:lnSpc>
              <a:spcBef>
                <a:spcPct val="0"/>
              </a:spcBef>
            </a:pPr>
            <a:r>
              <a:rPr lang="en-US" sz="244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ตัวเกมต้องรันได้ไม่ต่ำกว่า 30 FPS โดยไม่ใช้ฟังก์ชัน delay() เพื่อลด Latency </a:t>
            </a:r>
          </a:p>
          <a:p>
            <a:pPr algn="l">
              <a:lnSpc>
                <a:spcPts val="2935"/>
              </a:lnSpc>
              <a:spcBef>
                <a:spcPct val="0"/>
              </a:spcBef>
            </a:pPr>
            <a:r>
              <a:rPr lang="en-US" sz="244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รองรับระบบ Finite State Machine (FSM) 4 สถานะ: TITLE, PLAYING, LEVELUP, GAMEOVER </a:t>
            </a:r>
          </a:p>
          <a:p>
            <a:pPr algn="l">
              <a:lnSpc>
                <a:spcPts val="2935"/>
              </a:lnSpc>
              <a:spcBef>
                <a:spcPct val="0"/>
              </a:spcBef>
            </a:pPr>
          </a:p>
          <a:p>
            <a:pPr algn="l">
              <a:lnSpc>
                <a:spcPts val="2935"/>
              </a:lnSpc>
              <a:spcBef>
                <a:spcPct val="0"/>
              </a:spcBef>
            </a:pPr>
          </a:p>
          <a:p>
            <a:pPr algn="l">
              <a:lnSpc>
                <a:spcPts val="2935"/>
              </a:lnSpc>
              <a:spcBef>
                <a:spcPct val="0"/>
              </a:spcBef>
            </a:pPr>
            <a:r>
              <a:rPr lang="en-US" sz="244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ความต้องการทางด้านฮาร์ดแวร์ (Hardware Requirements):</a:t>
            </a:r>
          </a:p>
          <a:p>
            <a:pPr algn="l">
              <a:lnSpc>
                <a:spcPts val="2935"/>
              </a:lnSpc>
              <a:spcBef>
                <a:spcPct val="0"/>
              </a:spcBef>
            </a:pPr>
          </a:p>
          <a:p>
            <a:pPr algn="l">
              <a:lnSpc>
                <a:spcPts val="2935"/>
              </a:lnSpc>
              <a:spcBef>
                <a:spcPct val="0"/>
              </a:spcBef>
            </a:pPr>
            <a:r>
              <a:rPr lang="en-US" sz="244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มีวงจรตรวจจับสัญญาณ Joystick อนาล็อก พร้อมระบบกำจัดสัญญาณรบกวน (Deadband Filtering) </a:t>
            </a:r>
          </a:p>
          <a:p>
            <a:pPr algn="l">
              <a:lnSpc>
                <a:spcPts val="2935"/>
              </a:lnSpc>
              <a:spcBef>
                <a:spcPct val="0"/>
              </a:spcBef>
            </a:pPr>
            <a:r>
              <a:rPr lang="en-US" sz="244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มีอินเทอร์เฟซตอบสนองผู้ใช้ (Feedback) ครบทั้งภาพ (TFT/LED) และเสียง (Buzzer)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100284" y="3698900"/>
            <a:ext cx="785812" cy="442912"/>
            <a:chOff x="0" y="0"/>
            <a:chExt cx="1047750" cy="590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7750" cy="590550"/>
            </a:xfrm>
            <a:custGeom>
              <a:avLst/>
              <a:gdLst/>
              <a:ahLst/>
              <a:cxnLst/>
              <a:rect r="r" b="b" t="t" l="l"/>
              <a:pathLst>
                <a:path h="590550" w="1047750">
                  <a:moveTo>
                    <a:pt x="0" y="118110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929640" y="0"/>
                  </a:lnTo>
                  <a:cubicBezTo>
                    <a:pt x="994918" y="0"/>
                    <a:pt x="1047750" y="52832"/>
                    <a:pt x="1047750" y="118110"/>
                  </a:cubicBezTo>
                  <a:lnTo>
                    <a:pt x="1047750" y="472440"/>
                  </a:lnTo>
                  <a:cubicBezTo>
                    <a:pt x="1047750" y="537718"/>
                    <a:pt x="994918" y="590550"/>
                    <a:pt x="929640" y="590550"/>
                  </a:cubicBezTo>
                  <a:lnTo>
                    <a:pt x="118110" y="590550"/>
                  </a:lnTo>
                  <a:cubicBezTo>
                    <a:pt x="52832" y="590550"/>
                    <a:pt x="0" y="537718"/>
                    <a:pt x="0" y="47244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4100284" y="4484713"/>
            <a:ext cx="785812" cy="442912"/>
            <a:chOff x="0" y="0"/>
            <a:chExt cx="1047750" cy="5905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7750" cy="590550"/>
            </a:xfrm>
            <a:custGeom>
              <a:avLst/>
              <a:gdLst/>
              <a:ahLst/>
              <a:cxnLst/>
              <a:rect r="r" b="b" t="t" l="l"/>
              <a:pathLst>
                <a:path h="590550" w="1047750">
                  <a:moveTo>
                    <a:pt x="0" y="118110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929640" y="0"/>
                  </a:lnTo>
                  <a:cubicBezTo>
                    <a:pt x="994918" y="0"/>
                    <a:pt x="1047750" y="52832"/>
                    <a:pt x="1047750" y="118110"/>
                  </a:cubicBezTo>
                  <a:lnTo>
                    <a:pt x="1047750" y="472440"/>
                  </a:lnTo>
                  <a:cubicBezTo>
                    <a:pt x="1047750" y="537718"/>
                    <a:pt x="994918" y="590550"/>
                    <a:pt x="929640" y="590550"/>
                  </a:cubicBezTo>
                  <a:lnTo>
                    <a:pt x="118110" y="590550"/>
                  </a:lnTo>
                  <a:cubicBezTo>
                    <a:pt x="52832" y="590550"/>
                    <a:pt x="0" y="537718"/>
                    <a:pt x="0" y="47244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100284" y="5270525"/>
            <a:ext cx="1014412" cy="442912"/>
            <a:chOff x="0" y="0"/>
            <a:chExt cx="1352550" cy="5905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52550" cy="590550"/>
            </a:xfrm>
            <a:custGeom>
              <a:avLst/>
              <a:gdLst/>
              <a:ahLst/>
              <a:cxnLst/>
              <a:rect r="r" b="b" t="t" l="l"/>
              <a:pathLst>
                <a:path h="590550" w="1352550">
                  <a:moveTo>
                    <a:pt x="0" y="118110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1234440" y="0"/>
                  </a:lnTo>
                  <a:cubicBezTo>
                    <a:pt x="1299718" y="0"/>
                    <a:pt x="1352550" y="52832"/>
                    <a:pt x="1352550" y="118110"/>
                  </a:cubicBezTo>
                  <a:lnTo>
                    <a:pt x="1352550" y="472440"/>
                  </a:lnTo>
                  <a:cubicBezTo>
                    <a:pt x="1352550" y="537718"/>
                    <a:pt x="1299718" y="590550"/>
                    <a:pt x="1234440" y="590550"/>
                  </a:cubicBezTo>
                  <a:lnTo>
                    <a:pt x="118110" y="590550"/>
                  </a:lnTo>
                  <a:cubicBezTo>
                    <a:pt x="52832" y="590550"/>
                    <a:pt x="0" y="537718"/>
                    <a:pt x="0" y="47244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4100284" y="6056338"/>
            <a:ext cx="785812" cy="442912"/>
            <a:chOff x="0" y="0"/>
            <a:chExt cx="1047750" cy="5905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7750" cy="590550"/>
            </a:xfrm>
            <a:custGeom>
              <a:avLst/>
              <a:gdLst/>
              <a:ahLst/>
              <a:cxnLst/>
              <a:rect r="r" b="b" t="t" l="l"/>
              <a:pathLst>
                <a:path h="590550" w="1047750">
                  <a:moveTo>
                    <a:pt x="0" y="118110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929640" y="0"/>
                  </a:lnTo>
                  <a:cubicBezTo>
                    <a:pt x="994918" y="0"/>
                    <a:pt x="1047750" y="52832"/>
                    <a:pt x="1047750" y="118110"/>
                  </a:cubicBezTo>
                  <a:lnTo>
                    <a:pt x="1047750" y="472440"/>
                  </a:lnTo>
                  <a:cubicBezTo>
                    <a:pt x="1047750" y="537718"/>
                    <a:pt x="994918" y="590550"/>
                    <a:pt x="929640" y="590550"/>
                  </a:cubicBezTo>
                  <a:lnTo>
                    <a:pt x="118110" y="590550"/>
                  </a:lnTo>
                  <a:cubicBezTo>
                    <a:pt x="52832" y="590550"/>
                    <a:pt x="0" y="537718"/>
                    <a:pt x="0" y="47244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100284" y="6842150"/>
            <a:ext cx="1243012" cy="442912"/>
            <a:chOff x="0" y="0"/>
            <a:chExt cx="1657350" cy="5905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57350" cy="590550"/>
            </a:xfrm>
            <a:custGeom>
              <a:avLst/>
              <a:gdLst/>
              <a:ahLst/>
              <a:cxnLst/>
              <a:rect r="r" b="b" t="t" l="l"/>
              <a:pathLst>
                <a:path h="590550" w="1657350">
                  <a:moveTo>
                    <a:pt x="0" y="118110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1539240" y="0"/>
                  </a:lnTo>
                  <a:cubicBezTo>
                    <a:pt x="1604518" y="0"/>
                    <a:pt x="1657350" y="52832"/>
                    <a:pt x="1657350" y="118110"/>
                  </a:cubicBezTo>
                  <a:lnTo>
                    <a:pt x="1657350" y="472440"/>
                  </a:lnTo>
                  <a:cubicBezTo>
                    <a:pt x="1657350" y="537718"/>
                    <a:pt x="1604518" y="590550"/>
                    <a:pt x="1539240" y="590550"/>
                  </a:cubicBezTo>
                  <a:lnTo>
                    <a:pt x="118110" y="590550"/>
                  </a:lnTo>
                  <a:cubicBezTo>
                    <a:pt x="52832" y="590550"/>
                    <a:pt x="0" y="537718"/>
                    <a:pt x="0" y="47244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100284" y="7627963"/>
            <a:ext cx="1014412" cy="442912"/>
            <a:chOff x="0" y="0"/>
            <a:chExt cx="1352550" cy="5905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2550" cy="590550"/>
            </a:xfrm>
            <a:custGeom>
              <a:avLst/>
              <a:gdLst/>
              <a:ahLst/>
              <a:cxnLst/>
              <a:rect r="r" b="b" t="t" l="l"/>
              <a:pathLst>
                <a:path h="590550" w="1352550">
                  <a:moveTo>
                    <a:pt x="0" y="118110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1234440" y="0"/>
                  </a:lnTo>
                  <a:cubicBezTo>
                    <a:pt x="1299718" y="0"/>
                    <a:pt x="1352550" y="52832"/>
                    <a:pt x="1352550" y="118110"/>
                  </a:cubicBezTo>
                  <a:lnTo>
                    <a:pt x="1352550" y="472440"/>
                  </a:lnTo>
                  <a:cubicBezTo>
                    <a:pt x="1352550" y="537718"/>
                    <a:pt x="1299718" y="590550"/>
                    <a:pt x="1234440" y="590550"/>
                  </a:cubicBezTo>
                  <a:lnTo>
                    <a:pt x="118110" y="590550"/>
                  </a:lnTo>
                  <a:cubicBezTo>
                    <a:pt x="52832" y="590550"/>
                    <a:pt x="0" y="537718"/>
                    <a:pt x="0" y="47244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4100284" y="8413775"/>
            <a:ext cx="1243012" cy="442912"/>
            <a:chOff x="0" y="0"/>
            <a:chExt cx="1657350" cy="5905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57350" cy="590550"/>
            </a:xfrm>
            <a:custGeom>
              <a:avLst/>
              <a:gdLst/>
              <a:ahLst/>
              <a:cxnLst/>
              <a:rect r="r" b="b" t="t" l="l"/>
              <a:pathLst>
                <a:path h="590550" w="1657350">
                  <a:moveTo>
                    <a:pt x="0" y="118110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1539240" y="0"/>
                  </a:lnTo>
                  <a:cubicBezTo>
                    <a:pt x="1604518" y="0"/>
                    <a:pt x="1657350" y="52832"/>
                    <a:pt x="1657350" y="118110"/>
                  </a:cubicBezTo>
                  <a:lnTo>
                    <a:pt x="1657350" y="472440"/>
                  </a:lnTo>
                  <a:cubicBezTo>
                    <a:pt x="1657350" y="537718"/>
                    <a:pt x="1604518" y="590550"/>
                    <a:pt x="1539240" y="590550"/>
                  </a:cubicBezTo>
                  <a:lnTo>
                    <a:pt x="118110" y="590550"/>
                  </a:lnTo>
                  <a:cubicBezTo>
                    <a:pt x="52832" y="590550"/>
                    <a:pt x="0" y="537718"/>
                    <a:pt x="0" y="47244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42950" y="1019994"/>
            <a:ext cx="485775" cy="485775"/>
            <a:chOff x="0" y="0"/>
            <a:chExt cx="647700" cy="6477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70" r="0" b="-147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35806" y="2713063"/>
            <a:ext cx="16816388" cy="6329362"/>
            <a:chOff x="0" y="0"/>
            <a:chExt cx="22421850" cy="84391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421850" cy="8439150"/>
            </a:xfrm>
            <a:custGeom>
              <a:avLst/>
              <a:gdLst/>
              <a:ahLst/>
              <a:cxnLst/>
              <a:rect r="r" b="b" t="t" l="l"/>
              <a:pathLst>
                <a:path h="8439150" w="22421850">
                  <a:moveTo>
                    <a:pt x="0" y="0"/>
                  </a:moveTo>
                  <a:lnTo>
                    <a:pt x="22421850" y="0"/>
                  </a:lnTo>
                  <a:lnTo>
                    <a:pt x="22421850" y="8439150"/>
                  </a:lnTo>
                  <a:lnTo>
                    <a:pt x="0" y="8439150"/>
                  </a:lnTo>
                </a:path>
              </a:pathLst>
            </a:custGeom>
            <a:solidFill>
              <a:srgbClr val="0F172A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</p:grp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742950" y="2720205"/>
          <a:ext cx="16764000" cy="6248400"/>
        </p:xfrm>
        <a:graphic>
          <a:graphicData uri="http://schemas.openxmlformats.org/drawingml/2006/table">
            <a:tbl>
              <a:tblPr/>
              <a:tblGrid>
                <a:gridCol w="3067232"/>
                <a:gridCol w="2523070"/>
                <a:gridCol w="3863746"/>
                <a:gridCol w="7309952"/>
              </a:tblGrid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Prompt Bold"/>
                          <a:ea typeface="Prompt Bold"/>
                          <a:cs typeface="Prompt Bold"/>
                          <a:sym typeface="Prompt Bold"/>
                        </a:rPr>
                        <a:t>GPIO Pin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โหมดการทำงาน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อุปกรณ์ฮาร์ดแวร์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หน้าที่หลักในตรรกะเกม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GPIO 34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Analog Joystick X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ควบคุมการเคลื่อนที่แนวแกน X และเลื่อนเมนู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GPIO 33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Analog Joystick 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ควบคุมการเคลื่อนที่แนวแกน Y และเลือกเมนูอัปเกรด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60A5FA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GPIO 25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Tactile Push Button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ปล่อยสกิลระเบิดฉุกเฉิน (AoE) และกดตกลงเมนู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GPIO 32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Contrast Potentiometer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ปรับความสว่างไฟ Backlight และปิดจอดำเมื่อต่ำสุด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SPI Pins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3.8"</a:t>
                      </a: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 TFT LCD Display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แสดงผลกราฟิก HUD, XP, ตัวละคร และศัตรูเรียลไทม์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43F5E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GPIO 16, 17, 5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Tri-Color LED Array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แสดงไฟสถานะ HP 3 ระดับ (เขียว/เหลือง/แดง)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</a:tr>
              <a:tr h="7810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BBF24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GPIO 26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Passive Piezo Buzzer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สังเคราะห์เสียงเอฟเฟกต์ SFX, เพชร, การชน และ Fanfare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grpSp>
        <p:nvGrpSpPr>
          <p:cNvPr name="Group 23" id="23"/>
          <p:cNvGrpSpPr/>
          <p:nvPr/>
        </p:nvGrpSpPr>
        <p:grpSpPr>
          <a:xfrm rot="0">
            <a:off x="1400175" y="971550"/>
            <a:ext cx="15005628" cy="582882"/>
            <a:chOff x="0" y="0"/>
            <a:chExt cx="20007504" cy="7771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007500" cy="777180"/>
            </a:xfrm>
            <a:custGeom>
              <a:avLst/>
              <a:gdLst/>
              <a:ahLst/>
              <a:cxnLst/>
              <a:rect r="r" b="b" t="t" l="l"/>
              <a:pathLst>
                <a:path h="777180" w="20007500">
                  <a:moveTo>
                    <a:pt x="0" y="0"/>
                  </a:moveTo>
                  <a:lnTo>
                    <a:pt x="20007500" y="0"/>
                  </a:lnTo>
                  <a:lnTo>
                    <a:pt x="20007500" y="777180"/>
                  </a:lnTo>
                  <a:lnTo>
                    <a:pt x="0" y="7771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1617" r="0" b="-45161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20007504" cy="853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90"/>
                </a:lnSpc>
              </a:pPr>
              <a:r>
                <a:rPr lang="en-US" sz="38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การจัดสรรขาพินและฮาร์ดแวร์ไอโอ (I/O Distribution)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250303" y="3763194"/>
            <a:ext cx="6286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ADC1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50303" y="4549007"/>
            <a:ext cx="6286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ADC1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50303" y="5334819"/>
            <a:ext cx="8572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PULLUP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50303" y="6120632"/>
            <a:ext cx="6286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ADC1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50303" y="6906444"/>
            <a:ext cx="10858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TFT_eSPI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250303" y="7692257"/>
            <a:ext cx="8572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OUTPUT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250303" y="8478069"/>
            <a:ext cx="10858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PWM/Tone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41599" y="4312956"/>
            <a:ext cx="15349039" cy="1722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85"/>
              </a:lnSpc>
            </a:pPr>
            <a:r>
              <a:rPr lang="en-US" sz="11726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specification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94730" y="2593957"/>
            <a:ext cx="13522363" cy="5452624"/>
            <a:chOff x="0" y="0"/>
            <a:chExt cx="25284877" cy="101956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84722" cy="10195560"/>
            </a:xfrm>
            <a:custGeom>
              <a:avLst/>
              <a:gdLst/>
              <a:ahLst/>
              <a:cxnLst/>
              <a:rect r="r" b="b" t="t" l="l"/>
              <a:pathLst>
                <a:path h="10195560" w="25284722">
                  <a:moveTo>
                    <a:pt x="0" y="267589"/>
                  </a:moveTo>
                  <a:cubicBezTo>
                    <a:pt x="0" y="119761"/>
                    <a:pt x="293661" y="0"/>
                    <a:pt x="656143" y="0"/>
                  </a:cubicBezTo>
                  <a:lnTo>
                    <a:pt x="24628577" y="0"/>
                  </a:lnTo>
                  <a:cubicBezTo>
                    <a:pt x="24991061" y="0"/>
                    <a:pt x="25284722" y="119761"/>
                    <a:pt x="25284722" y="267589"/>
                  </a:cubicBezTo>
                  <a:lnTo>
                    <a:pt x="25284722" y="9927971"/>
                  </a:lnTo>
                  <a:cubicBezTo>
                    <a:pt x="25284722" y="10075799"/>
                    <a:pt x="24991061" y="10195560"/>
                    <a:pt x="24628577" y="10195560"/>
                  </a:cubicBezTo>
                  <a:lnTo>
                    <a:pt x="656143" y="10195560"/>
                  </a:lnTo>
                  <a:cubicBezTo>
                    <a:pt x="293661" y="10195560"/>
                    <a:pt x="0" y="10075799"/>
                    <a:pt x="0" y="9927971"/>
                  </a:cubicBezTo>
                  <a:close/>
                </a:path>
              </a:pathLst>
            </a:custGeom>
            <a:solidFill>
              <a:srgbClr val="0F172A"/>
            </a:solidFill>
            <a:ln w="28575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3541961" y="2862819"/>
            <a:ext cx="16340409" cy="485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0"/>
              </a:lnSpc>
              <a:spcBef>
                <a:spcPct val="0"/>
              </a:spcBef>
            </a:pPr>
            <a:r>
              <a:rPr lang="en-US" sz="263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Microcontroller: ESP32 DevKit (32-bit Dual-Core, 240MHz, 520KB SRAM) </a:t>
            </a:r>
          </a:p>
          <a:p>
            <a:pPr algn="l">
              <a:lnSpc>
                <a:spcPts val="3160"/>
              </a:lnSpc>
              <a:spcBef>
                <a:spcPct val="0"/>
              </a:spcBef>
            </a:pPr>
          </a:p>
          <a:p>
            <a:pPr algn="l">
              <a:lnSpc>
                <a:spcPts val="3160"/>
              </a:lnSpc>
              <a:spcBef>
                <a:spcPct val="0"/>
              </a:spcBef>
            </a:pPr>
            <a:r>
              <a:rPr lang="en-US" sz="263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Display Output: จอ TFT LCD 3.8" (ILI9488/ST7796S) ผ่าน SPI</a:t>
            </a:r>
          </a:p>
          <a:p>
            <a:pPr algn="l">
              <a:lnSpc>
                <a:spcPts val="3160"/>
              </a:lnSpc>
              <a:spcBef>
                <a:spcPct val="0"/>
              </a:spcBef>
            </a:pPr>
            <a:r>
              <a:rPr lang="en-US" sz="263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3160"/>
              </a:lnSpc>
              <a:spcBef>
                <a:spcPct val="0"/>
              </a:spcBef>
            </a:pPr>
            <a:r>
              <a:rPr lang="en-US" sz="263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Analog Inputs:</a:t>
            </a:r>
          </a:p>
          <a:p>
            <a:pPr algn="l">
              <a:lnSpc>
                <a:spcPts val="3160"/>
              </a:lnSpc>
              <a:spcBef>
                <a:spcPct val="0"/>
              </a:spcBef>
            </a:pPr>
            <a:r>
              <a:rPr lang="en-US" sz="263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2-Axis Analog Joystick (ADC Pins: GPIO 34, 33 / Deadband range: 1400–2600) </a:t>
            </a:r>
          </a:p>
          <a:p>
            <a:pPr algn="l">
              <a:lnSpc>
                <a:spcPts val="3160"/>
              </a:lnSpc>
              <a:spcBef>
                <a:spcPct val="0"/>
              </a:spcBef>
            </a:pPr>
            <a:r>
              <a:rPr lang="en-US" sz="263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Potentiometer 10kΩ (ADC Pin: GPIO 32) ปรับ Backlight (PWM Pin: GPIO 14) </a:t>
            </a:r>
          </a:p>
          <a:p>
            <a:pPr algn="l">
              <a:lnSpc>
                <a:spcPts val="3160"/>
              </a:lnSpc>
              <a:spcBef>
                <a:spcPct val="0"/>
              </a:spcBef>
            </a:pPr>
          </a:p>
          <a:p>
            <a:pPr algn="l">
              <a:lnSpc>
                <a:spcPts val="3160"/>
              </a:lnSpc>
              <a:spcBef>
                <a:spcPct val="0"/>
              </a:spcBef>
            </a:pPr>
            <a:r>
              <a:rPr lang="en-US" sz="263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Digital Inputs &amp; Outputs:</a:t>
            </a:r>
          </a:p>
          <a:p>
            <a:pPr algn="l">
              <a:lnSpc>
                <a:spcPts val="3160"/>
              </a:lnSpc>
              <a:spcBef>
                <a:spcPct val="0"/>
              </a:spcBef>
            </a:pPr>
            <a:r>
              <a:rPr lang="en-US" sz="263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Push Button (Internal Pull-up: GPIO 25) สกิลระเบิด / ยืนยันเมนู </a:t>
            </a:r>
          </a:p>
          <a:p>
            <a:pPr algn="l">
              <a:lnSpc>
                <a:spcPts val="3160"/>
              </a:lnSpc>
              <a:spcBef>
                <a:spcPct val="0"/>
              </a:spcBef>
            </a:pPr>
            <a:r>
              <a:rPr lang="en-US" sz="263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Status LEDs 3 สี (GPIO 16=เขียว, 17=เหลือง, 5=แดง) แสดงสถานะ HP </a:t>
            </a:r>
          </a:p>
          <a:p>
            <a:pPr algn="l">
              <a:lnSpc>
                <a:spcPts val="3160"/>
              </a:lnSpc>
              <a:spcBef>
                <a:spcPct val="0"/>
              </a:spcBef>
            </a:pPr>
            <a:r>
              <a:rPr lang="en-US" sz="263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Passive Piezo Buzzer (GPIO 26) กำเนิดความถี่เสียง SFX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23242" y="3752968"/>
            <a:ext cx="16325577" cy="283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64"/>
              </a:lnSpc>
            </a:pPr>
            <a:r>
              <a:rPr lang="en-US" sz="8925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Project plan (and actual)</a:t>
            </a:r>
          </a:p>
          <a:p>
            <a:pPr algn="ctr">
              <a:lnSpc>
                <a:spcPts val="12003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100284" y="3698900"/>
            <a:ext cx="785812" cy="442912"/>
            <a:chOff x="0" y="0"/>
            <a:chExt cx="1047750" cy="590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7750" cy="590550"/>
            </a:xfrm>
            <a:custGeom>
              <a:avLst/>
              <a:gdLst/>
              <a:ahLst/>
              <a:cxnLst/>
              <a:rect r="r" b="b" t="t" l="l"/>
              <a:pathLst>
                <a:path h="590550" w="1047750">
                  <a:moveTo>
                    <a:pt x="0" y="118110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929640" y="0"/>
                  </a:lnTo>
                  <a:cubicBezTo>
                    <a:pt x="994918" y="0"/>
                    <a:pt x="1047750" y="52832"/>
                    <a:pt x="1047750" y="118110"/>
                  </a:cubicBezTo>
                  <a:lnTo>
                    <a:pt x="1047750" y="472440"/>
                  </a:lnTo>
                  <a:cubicBezTo>
                    <a:pt x="1047750" y="537718"/>
                    <a:pt x="994918" y="590550"/>
                    <a:pt x="929640" y="590550"/>
                  </a:cubicBezTo>
                  <a:lnTo>
                    <a:pt x="118110" y="590550"/>
                  </a:lnTo>
                  <a:cubicBezTo>
                    <a:pt x="52832" y="590550"/>
                    <a:pt x="0" y="537718"/>
                    <a:pt x="0" y="47244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4100284" y="4484713"/>
            <a:ext cx="785812" cy="442912"/>
            <a:chOff x="0" y="0"/>
            <a:chExt cx="1047750" cy="5905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7750" cy="590550"/>
            </a:xfrm>
            <a:custGeom>
              <a:avLst/>
              <a:gdLst/>
              <a:ahLst/>
              <a:cxnLst/>
              <a:rect r="r" b="b" t="t" l="l"/>
              <a:pathLst>
                <a:path h="590550" w="1047750">
                  <a:moveTo>
                    <a:pt x="0" y="118110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929640" y="0"/>
                  </a:lnTo>
                  <a:cubicBezTo>
                    <a:pt x="994918" y="0"/>
                    <a:pt x="1047750" y="52832"/>
                    <a:pt x="1047750" y="118110"/>
                  </a:cubicBezTo>
                  <a:lnTo>
                    <a:pt x="1047750" y="472440"/>
                  </a:lnTo>
                  <a:cubicBezTo>
                    <a:pt x="1047750" y="537718"/>
                    <a:pt x="994918" y="590550"/>
                    <a:pt x="929640" y="590550"/>
                  </a:cubicBezTo>
                  <a:lnTo>
                    <a:pt x="118110" y="590550"/>
                  </a:lnTo>
                  <a:cubicBezTo>
                    <a:pt x="52832" y="590550"/>
                    <a:pt x="0" y="537718"/>
                    <a:pt x="0" y="47244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100284" y="5270525"/>
            <a:ext cx="1014412" cy="442912"/>
            <a:chOff x="0" y="0"/>
            <a:chExt cx="1352550" cy="5905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52550" cy="590550"/>
            </a:xfrm>
            <a:custGeom>
              <a:avLst/>
              <a:gdLst/>
              <a:ahLst/>
              <a:cxnLst/>
              <a:rect r="r" b="b" t="t" l="l"/>
              <a:pathLst>
                <a:path h="590550" w="1352550">
                  <a:moveTo>
                    <a:pt x="0" y="118110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1234440" y="0"/>
                  </a:lnTo>
                  <a:cubicBezTo>
                    <a:pt x="1299718" y="0"/>
                    <a:pt x="1352550" y="52832"/>
                    <a:pt x="1352550" y="118110"/>
                  </a:cubicBezTo>
                  <a:lnTo>
                    <a:pt x="1352550" y="472440"/>
                  </a:lnTo>
                  <a:cubicBezTo>
                    <a:pt x="1352550" y="537718"/>
                    <a:pt x="1299718" y="590550"/>
                    <a:pt x="1234440" y="590550"/>
                  </a:cubicBezTo>
                  <a:lnTo>
                    <a:pt x="118110" y="590550"/>
                  </a:lnTo>
                  <a:cubicBezTo>
                    <a:pt x="52832" y="590550"/>
                    <a:pt x="0" y="537718"/>
                    <a:pt x="0" y="47244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4100284" y="6056338"/>
            <a:ext cx="785812" cy="442912"/>
            <a:chOff x="0" y="0"/>
            <a:chExt cx="1047750" cy="5905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7750" cy="590550"/>
            </a:xfrm>
            <a:custGeom>
              <a:avLst/>
              <a:gdLst/>
              <a:ahLst/>
              <a:cxnLst/>
              <a:rect r="r" b="b" t="t" l="l"/>
              <a:pathLst>
                <a:path h="590550" w="1047750">
                  <a:moveTo>
                    <a:pt x="0" y="118110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929640" y="0"/>
                  </a:lnTo>
                  <a:cubicBezTo>
                    <a:pt x="994918" y="0"/>
                    <a:pt x="1047750" y="52832"/>
                    <a:pt x="1047750" y="118110"/>
                  </a:cubicBezTo>
                  <a:lnTo>
                    <a:pt x="1047750" y="472440"/>
                  </a:lnTo>
                  <a:cubicBezTo>
                    <a:pt x="1047750" y="537718"/>
                    <a:pt x="994918" y="590550"/>
                    <a:pt x="929640" y="590550"/>
                  </a:cubicBezTo>
                  <a:lnTo>
                    <a:pt x="118110" y="590550"/>
                  </a:lnTo>
                  <a:cubicBezTo>
                    <a:pt x="52832" y="590550"/>
                    <a:pt x="0" y="537718"/>
                    <a:pt x="0" y="47244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35806" y="2713063"/>
            <a:ext cx="16816388" cy="5621126"/>
            <a:chOff x="0" y="0"/>
            <a:chExt cx="22421850" cy="74948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21850" cy="7494834"/>
            </a:xfrm>
            <a:custGeom>
              <a:avLst/>
              <a:gdLst/>
              <a:ahLst/>
              <a:cxnLst/>
              <a:rect r="r" b="b" t="t" l="l"/>
              <a:pathLst>
                <a:path h="7494834" w="22421850">
                  <a:moveTo>
                    <a:pt x="0" y="0"/>
                  </a:moveTo>
                  <a:lnTo>
                    <a:pt x="22421850" y="0"/>
                  </a:lnTo>
                  <a:lnTo>
                    <a:pt x="22421850" y="7494834"/>
                  </a:lnTo>
                  <a:lnTo>
                    <a:pt x="0" y="7494834"/>
                  </a:lnTo>
                </a:path>
              </a:pathLst>
            </a:custGeom>
            <a:solidFill>
              <a:srgbClr val="0F172A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742950" y="2720205"/>
          <a:ext cx="16809244" cy="5613983"/>
        </p:xfrm>
        <a:graphic>
          <a:graphicData uri="http://schemas.openxmlformats.org/drawingml/2006/table">
            <a:tbl>
              <a:tblPr/>
              <a:tblGrid>
                <a:gridCol w="3067230"/>
                <a:gridCol w="5080340"/>
                <a:gridCol w="5142379"/>
                <a:gridCol w="3519295"/>
              </a:tblGrid>
              <a:tr h="7811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Prompt Bold"/>
                          <a:ea typeface="Prompt Bold"/>
                          <a:cs typeface="Prompt Bold"/>
                          <a:sym typeface="Prompt Bold"/>
                        </a:rPr>
                        <a:t>สัปดาห์ที่</a:t>
                      </a:r>
                      <a:r>
                        <a:rPr lang="en-US" sz="2025" b="true">
                          <a:solidFill>
                            <a:srgbClr val="38BDF8"/>
                          </a:solidFill>
                          <a:latin typeface="Prompt Bold"/>
                          <a:ea typeface="Prompt Bold"/>
                          <a:cs typeface="Prompt Bold"/>
                          <a:sym typeface="Prompt Bold"/>
                        </a:rPr>
                        <a:t> (Week)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กิจกรรมตามแผน (Planned Task)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ผล</a:t>
                      </a:r>
                      <a:r>
                        <a:rPr lang="en-US" sz="2025" b="true">
                          <a:solidFill>
                            <a:srgbClr val="38BDF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การทำงานจริง (Actual Result)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สถ</a:t>
                      </a:r>
                      <a:r>
                        <a:rPr lang="en-US" sz="2025" b="true">
                          <a:solidFill>
                            <a:srgbClr val="38BDF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านะ (Status)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5745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Week</a:t>
                      </a:r>
                      <a:r>
                        <a:rPr lang="en-US" sz="2025" b="true">
                          <a:solidFill>
                            <a:srgbClr val="38BDF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 1-2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สำเร็จตามแผน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Completed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1352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Week</a:t>
                      </a:r>
                      <a:r>
                        <a:rPr lang="en-US" sz="2025" b="true">
                          <a:solidFill>
                            <a:srgbClr val="38BDF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 3-4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สำเร็จตามแผน</a:t>
                      </a: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 (มีการปรับเปลี่ยนขา GPIO)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Completed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</a:tr>
              <a:tr h="9865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60A5FA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Week</a:t>
                      </a:r>
                      <a:r>
                        <a:rPr lang="en-US" sz="2025" b="true">
                          <a:solidFill>
                            <a:srgbClr val="60A5FA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 5-6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สำเร็จตามแผน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</a:t>
                      </a: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ompleted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136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Week</a:t>
                      </a:r>
                      <a:r>
                        <a:rPr lang="en-US" sz="2025" b="true">
                          <a:solidFill>
                            <a:srgbClr val="38BDF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 7-8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สำเร็จตามแผน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</a:t>
                      </a: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leted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</a:tr>
            </a:tbl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4100284" y="4002572"/>
            <a:ext cx="451502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sz="2019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ศึกษารายละเอียดโจทย์ และออกแบบสถาปัตยกรรมระบบ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00284" y="5318774"/>
            <a:ext cx="451502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sz="2019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ต่อวงจรฮาร์ดแวร์บน Breadboard และทดสอบเซนเซอร์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00284" y="6389710"/>
            <a:ext cx="451502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sz="2019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พัฒนาโค้ด FSM, Non-blocking Logic และระบบเกม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00284" y="7456510"/>
            <a:ext cx="451502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sz="2019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ประกอบชิ้นงานจริง, ทดสอบระบบรวม (Integration) และจัดทำเอกสาร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3402975"/>
            <a:ext cx="16325577" cy="412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64"/>
              </a:lnSpc>
            </a:pPr>
            <a:r>
              <a:rPr lang="en-US" sz="8925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Architectural design &amp; hardware selection</a:t>
            </a:r>
          </a:p>
          <a:p>
            <a:pPr algn="ctr">
              <a:lnSpc>
                <a:spcPts val="12003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49798" y="1849559"/>
            <a:ext cx="10710088" cy="6899637"/>
          </a:xfrm>
          <a:custGeom>
            <a:avLst/>
            <a:gdLst/>
            <a:ahLst/>
            <a:cxnLst/>
            <a:rect r="r" b="b" t="t" l="l"/>
            <a:pathLst>
              <a:path h="6899637" w="10710088">
                <a:moveTo>
                  <a:pt x="0" y="0"/>
                </a:moveTo>
                <a:lnTo>
                  <a:pt x="10710088" y="0"/>
                </a:lnTo>
                <a:lnTo>
                  <a:pt x="10710088" y="6899637"/>
                </a:lnTo>
                <a:lnTo>
                  <a:pt x="0" y="68996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327497" y="380782"/>
            <a:ext cx="10686898" cy="86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842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System block diagram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43027" y="3058002"/>
            <a:ext cx="4458615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9"/>
              </a:lnSpc>
              <a:spcBef>
                <a:spcPct val="0"/>
              </a:spcBef>
            </a:pPr>
            <a:r>
              <a:rPr lang="en-US" sz="211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Input (ฝั่งซ้าย): ครบทั้ง Push-button switch, Analog Joystick (2-Axis) และ Potentiometer </a:t>
            </a:r>
          </a:p>
          <a:p>
            <a:pPr algn="l">
              <a:lnSpc>
                <a:spcPts val="2539"/>
              </a:lnSpc>
              <a:spcBef>
                <a:spcPct val="0"/>
              </a:spcBef>
            </a:pPr>
          </a:p>
          <a:p>
            <a:pPr algn="l">
              <a:lnSpc>
                <a:spcPts val="2539"/>
              </a:lnSpc>
              <a:spcBef>
                <a:spcPct val="0"/>
              </a:spcBef>
            </a:pPr>
            <a:r>
              <a:rPr lang="en-US" sz="211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Process (กลาง): ระบุส่วนประมวลผลภายใน</a:t>
            </a:r>
          </a:p>
          <a:p>
            <a:pPr algn="l">
              <a:lnSpc>
                <a:spcPts val="2539"/>
              </a:lnSpc>
              <a:spcBef>
                <a:spcPct val="0"/>
              </a:spcBef>
            </a:pPr>
            <a:r>
              <a:rPr lang="en-US" sz="211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ชิปชัดเจน ทั้ง GPIO (Digital Input /</a:t>
            </a:r>
          </a:p>
          <a:p>
            <a:pPr algn="l">
              <a:lnSpc>
                <a:spcPts val="2539"/>
              </a:lnSpc>
              <a:spcBef>
                <a:spcPct val="0"/>
              </a:spcBef>
            </a:pPr>
            <a:r>
              <a:rPr lang="en-US" sz="211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Polling), ADC, GPIO Digital Driver, PWM</a:t>
            </a:r>
          </a:p>
          <a:p>
            <a:pPr algn="l">
              <a:lnSpc>
                <a:spcPts val="2539"/>
              </a:lnSpc>
              <a:spcBef>
                <a:spcPct val="0"/>
              </a:spcBef>
            </a:pPr>
            <a:r>
              <a:rPr lang="en-US" sz="211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/ Tone Generator และ SPI Peripheral /</a:t>
            </a:r>
          </a:p>
          <a:p>
            <a:pPr algn="l">
              <a:lnSpc>
                <a:spcPts val="2539"/>
              </a:lnSpc>
              <a:spcBef>
                <a:spcPct val="0"/>
              </a:spcBef>
            </a:pPr>
            <a:r>
              <a:rPr lang="en-US" sz="211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TFT_eSPI Library </a:t>
            </a:r>
          </a:p>
          <a:p>
            <a:pPr algn="l">
              <a:lnSpc>
                <a:spcPts val="2539"/>
              </a:lnSpc>
              <a:spcBef>
                <a:spcPct val="0"/>
              </a:spcBef>
            </a:pPr>
          </a:p>
          <a:p>
            <a:pPr algn="l">
              <a:lnSpc>
                <a:spcPts val="2539"/>
              </a:lnSpc>
              <a:spcBef>
                <a:spcPct val="0"/>
              </a:spcBef>
            </a:pPr>
            <a:r>
              <a:rPr lang="en-US" sz="211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Output (ฝั่งขวา): ครบทั้ง 3xLED, Passive Piezo Buzzer และ TFT LCD Display (3.8")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40496" y="8953637"/>
            <a:ext cx="13207008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เหตุผลในการเลือกฮาร์ดแวร์: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ESP32: มีความเร็ว Clock สูง และมีพอร์ต ADC/PWM เพียงพอต่อการใช้งาน 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Passive Buzzer: รองรับการสร้างโทนเสียงความถี่หลากหลายผ่านฟังก์ชัน tone() ต่างจาก Active Buzzer ที่สร้างได้เสียงเดียว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1212" y="4399165"/>
            <a:ext cx="16325577" cy="1536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3"/>
              </a:lnSpc>
            </a:pPr>
            <a:r>
              <a:rPr lang="en-US" sz="10438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Detailed design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718785" y="1837732"/>
            <a:ext cx="5234381" cy="7851571"/>
          </a:xfrm>
          <a:custGeom>
            <a:avLst/>
            <a:gdLst/>
            <a:ahLst/>
            <a:cxnLst/>
            <a:rect r="r" b="b" t="t" l="l"/>
            <a:pathLst>
              <a:path h="7851571" w="5234381">
                <a:moveTo>
                  <a:pt x="0" y="0"/>
                </a:moveTo>
                <a:lnTo>
                  <a:pt x="5234380" y="0"/>
                </a:lnTo>
                <a:lnTo>
                  <a:pt x="5234380" y="7851571"/>
                </a:lnTo>
                <a:lnTo>
                  <a:pt x="0" y="7851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3522459" y="433323"/>
            <a:ext cx="16325577" cy="1536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3"/>
              </a:lnSpc>
            </a:pPr>
            <a:r>
              <a:rPr lang="en-US" sz="10438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Flowchart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7788" y="1963845"/>
            <a:ext cx="6907187" cy="4479369"/>
          </a:xfrm>
          <a:custGeom>
            <a:avLst/>
            <a:gdLst/>
            <a:ahLst/>
            <a:cxnLst/>
            <a:rect r="r" b="b" t="t" l="l"/>
            <a:pathLst>
              <a:path h="4479369" w="6907187">
                <a:moveTo>
                  <a:pt x="0" y="0"/>
                </a:moveTo>
                <a:lnTo>
                  <a:pt x="6907187" y="0"/>
                </a:lnTo>
                <a:lnTo>
                  <a:pt x="6907187" y="4479369"/>
                </a:lnTo>
                <a:lnTo>
                  <a:pt x="0" y="44793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22713" y="1963845"/>
            <a:ext cx="6254247" cy="5858679"/>
          </a:xfrm>
          <a:custGeom>
            <a:avLst/>
            <a:gdLst/>
            <a:ahLst/>
            <a:cxnLst/>
            <a:rect r="r" b="b" t="t" l="l"/>
            <a:pathLst>
              <a:path h="5858679" w="6254247">
                <a:moveTo>
                  <a:pt x="0" y="0"/>
                </a:moveTo>
                <a:lnTo>
                  <a:pt x="6254247" y="0"/>
                </a:lnTo>
                <a:lnTo>
                  <a:pt x="6254247" y="5858679"/>
                </a:lnTo>
                <a:lnTo>
                  <a:pt x="0" y="5858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5118" y="461169"/>
            <a:ext cx="10037148" cy="567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3"/>
              </a:lnSpc>
            </a:pPr>
            <a:r>
              <a:rPr lang="en-US" sz="3854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Core System &amp; FSM Control Module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3287" y="7784424"/>
            <a:ext cx="14227522" cy="1652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5"/>
              </a:lnSpc>
              <a:spcBef>
                <a:spcPct val="0"/>
              </a:spcBef>
            </a:pPr>
            <a:r>
              <a:rPr lang="en-US" b="true" sz="1796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setup() &amp; loop():</a:t>
            </a:r>
          </a:p>
          <a:p>
            <a:pPr algn="just" marL="387884" indent="-193942" lvl="1">
              <a:lnSpc>
                <a:spcPts val="215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796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setup() กำหนดโหมดขา GPIO (Input/Output/Pull-up), เริ่มต้นบอร์ดประมวลผล, อินเทอร์เฟซ SPI</a:t>
            </a:r>
          </a:p>
          <a:p>
            <a:pPr algn="just">
              <a:lnSpc>
                <a:spcPts val="2155"/>
              </a:lnSpc>
              <a:spcBef>
                <a:spcPct val="0"/>
              </a:spcBef>
            </a:pPr>
            <a:r>
              <a:rPr lang="en-US" b="true" sz="1796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ของหน้าจอ TFT, ระบบ PWM ขับ Backlight และตั้งค่าเข้าสู่หน้าเริ่มเกม (STATE_TITLE) </a:t>
            </a:r>
          </a:p>
          <a:p>
            <a:pPr algn="just" marL="387884" indent="-193942" lvl="1">
              <a:lnSpc>
                <a:spcPts val="215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796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loop() รันลูปประมวลผลหลักแบบ Non-blocking โดยใช้วงจร switch (currentState) เพื่อสลับการ</a:t>
            </a:r>
          </a:p>
          <a:p>
            <a:pPr algn="just">
              <a:lnSpc>
                <a:spcPts val="2155"/>
              </a:lnSpc>
              <a:spcBef>
                <a:spcPct val="0"/>
              </a:spcBef>
            </a:pPr>
            <a:r>
              <a:rPr lang="en-US" b="true" sz="1796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</a:t>
            </a:r>
            <a:r>
              <a:rPr lang="en-US" b="true" sz="1796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ทำงานตามสถานะเกมในสถาปัตยกรรม FSM ได้แก่ TITLE, PLAYING, LEVELUP, และ GAMEOVER</a:t>
            </a:r>
          </a:p>
          <a:p>
            <a:pPr algn="just">
              <a:lnSpc>
                <a:spcPts val="215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5854" y="1410632"/>
            <a:ext cx="7941918" cy="3189357"/>
          </a:xfrm>
          <a:custGeom>
            <a:avLst/>
            <a:gdLst/>
            <a:ahLst/>
            <a:cxnLst/>
            <a:rect r="r" b="b" t="t" l="l"/>
            <a:pathLst>
              <a:path h="3189357" w="7941918">
                <a:moveTo>
                  <a:pt x="0" y="0"/>
                </a:moveTo>
                <a:lnTo>
                  <a:pt x="7941918" y="0"/>
                </a:lnTo>
                <a:lnTo>
                  <a:pt x="7941918" y="3189357"/>
                </a:lnTo>
                <a:lnTo>
                  <a:pt x="0" y="3189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22191" y="2236635"/>
            <a:ext cx="6067318" cy="1920590"/>
          </a:xfrm>
          <a:custGeom>
            <a:avLst/>
            <a:gdLst/>
            <a:ahLst/>
            <a:cxnLst/>
            <a:rect r="r" b="b" t="t" l="l"/>
            <a:pathLst>
              <a:path h="1920590" w="6067318">
                <a:moveTo>
                  <a:pt x="0" y="0"/>
                </a:moveTo>
                <a:lnTo>
                  <a:pt x="6067318" y="0"/>
                </a:lnTo>
                <a:lnTo>
                  <a:pt x="6067318" y="1920590"/>
                </a:lnTo>
                <a:lnTo>
                  <a:pt x="0" y="1920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5854" y="4793589"/>
            <a:ext cx="6008528" cy="3550494"/>
          </a:xfrm>
          <a:custGeom>
            <a:avLst/>
            <a:gdLst/>
            <a:ahLst/>
            <a:cxnLst/>
            <a:rect r="r" b="b" t="t" l="l"/>
            <a:pathLst>
              <a:path h="3550494" w="6008528">
                <a:moveTo>
                  <a:pt x="0" y="0"/>
                </a:moveTo>
                <a:lnTo>
                  <a:pt x="6008529" y="0"/>
                </a:lnTo>
                <a:lnTo>
                  <a:pt x="6008529" y="3550494"/>
                </a:lnTo>
                <a:lnTo>
                  <a:pt x="0" y="35504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2652" y="268229"/>
            <a:ext cx="11563815" cy="46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3"/>
              </a:lnSpc>
            </a:pPr>
            <a:r>
              <a:rPr lang="en-US" sz="3194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Input Signal Processing Module (การจัดการสัญญาณอินพุต)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17918" y="6784016"/>
            <a:ext cx="10764035" cy="1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69"/>
              </a:lnSpc>
              <a:spcBef>
                <a:spcPct val="0"/>
              </a:spcBef>
            </a:pPr>
            <a:r>
              <a:rPr lang="en-US" b="true" sz="155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Joy</a:t>
            </a:r>
            <a:r>
              <a:rPr lang="en-US" b="true" sz="155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stick Movement &amp; Menu Navigation:</a:t>
            </a:r>
          </a:p>
          <a:p>
            <a:pPr algn="just" marL="336273" indent="-168136" lvl="1">
              <a:lnSpc>
                <a:spcPts val="186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5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อ่านค่า ADC1 ผ่าน analogRead(PIN_JOY_X) และ analogRead(PIN_JOY_Y)</a:t>
            </a:r>
          </a:p>
          <a:p>
            <a:pPr algn="just">
              <a:lnSpc>
                <a:spcPts val="1869"/>
              </a:lnSpc>
              <a:spcBef>
                <a:spcPct val="0"/>
              </a:spcBef>
            </a:pPr>
            <a:r>
              <a:rPr lang="en-US" b="true" sz="155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โดยตรงภายใน updatePlayingScreen() และ updateLevelUpScreen()</a:t>
            </a:r>
          </a:p>
          <a:p>
            <a:pPr algn="just">
              <a:lnSpc>
                <a:spcPts val="1869"/>
              </a:lnSpc>
              <a:spcBef>
                <a:spcPct val="0"/>
              </a:spcBef>
            </a:pPr>
          </a:p>
          <a:p>
            <a:pPr algn="just" marL="336273" indent="-168136" lvl="1">
              <a:lnSpc>
                <a:spcPts val="186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5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กรองสัญญาณรบกวนด้วย Deadband Filtering (ช่วงค่า 1400–2600) เพื่อป้องกันตัว</a:t>
            </a:r>
          </a:p>
          <a:p>
            <a:pPr algn="just">
              <a:lnSpc>
                <a:spcPts val="1869"/>
              </a:lnSpc>
              <a:spcBef>
                <a:spcPct val="0"/>
              </a:spcBef>
            </a:pPr>
            <a:r>
              <a:rPr lang="en-US" b="true" sz="155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</a:t>
            </a:r>
            <a:r>
              <a:rPr lang="en-US" b="true" sz="155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ละครเคลื่อนที่เองเมื่อจอยอยู่นิ่ง </a:t>
            </a:r>
          </a:p>
          <a:p>
            <a:pPr algn="just">
              <a:lnSpc>
                <a:spcPts val="186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158141" y="4355446"/>
            <a:ext cx="7854858" cy="113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5"/>
              </a:lnSpc>
              <a:spcBef>
                <a:spcPct val="0"/>
              </a:spcBef>
            </a:pPr>
            <a:r>
              <a:rPr lang="en-US" b="true" sz="152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initBacklight() &amp; Potentiometer Dimmer:</a:t>
            </a:r>
          </a:p>
          <a:p>
            <a:pPr algn="l">
              <a:lnSpc>
                <a:spcPts val="1835"/>
              </a:lnSpc>
              <a:spcBef>
                <a:spcPct val="0"/>
              </a:spcBef>
            </a:pPr>
            <a:r>
              <a:rPr lang="en-US" b="true" sz="152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อ่านค่าอนาล็อกจาก Potentiometer (GPIO 32) แล้วแปลงค่า</a:t>
            </a:r>
          </a:p>
          <a:p>
            <a:pPr algn="l">
              <a:lnSpc>
                <a:spcPts val="1835"/>
              </a:lnSpc>
              <a:spcBef>
                <a:spcPct val="0"/>
              </a:spcBef>
            </a:pPr>
            <a:r>
              <a:rPr lang="en-US" b="true" sz="152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ด้วย map() เป็นสัญญาณ PWM (0–255) ส่งผ่าน</a:t>
            </a:r>
          </a:p>
          <a:p>
            <a:pPr algn="l">
              <a:lnSpc>
                <a:spcPts val="1835"/>
              </a:lnSpc>
              <a:spcBef>
                <a:spcPct val="0"/>
              </a:spcBef>
            </a:pPr>
            <a:r>
              <a:rPr lang="en-US" b="true" sz="152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setBacklight() ขับไฟ Backlight (GPIO 14) แบบ</a:t>
            </a:r>
          </a:p>
          <a:p>
            <a:pPr algn="l">
              <a:lnSpc>
                <a:spcPts val="1835"/>
              </a:lnSpc>
              <a:spcBef>
                <a:spcPct val="0"/>
              </a:spcBef>
            </a:pPr>
            <a:r>
              <a:rPr lang="en-US" b="true" sz="152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Real-time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612803"/>
            <a:ext cx="6907905" cy="2671417"/>
          </a:xfrm>
          <a:custGeom>
            <a:avLst/>
            <a:gdLst/>
            <a:ahLst/>
            <a:cxnLst/>
            <a:rect r="r" b="b" t="t" l="l"/>
            <a:pathLst>
              <a:path h="2671417" w="6907905">
                <a:moveTo>
                  <a:pt x="0" y="0"/>
                </a:moveTo>
                <a:lnTo>
                  <a:pt x="6907905" y="0"/>
                </a:lnTo>
                <a:lnTo>
                  <a:pt x="6907905" y="2671416"/>
                </a:lnTo>
                <a:lnTo>
                  <a:pt x="0" y="2671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33661" y="2744688"/>
            <a:ext cx="6228720" cy="4279390"/>
          </a:xfrm>
          <a:custGeom>
            <a:avLst/>
            <a:gdLst/>
            <a:ahLst/>
            <a:cxnLst/>
            <a:rect r="r" b="b" t="t" l="l"/>
            <a:pathLst>
              <a:path h="4279390" w="6228720">
                <a:moveTo>
                  <a:pt x="0" y="0"/>
                </a:moveTo>
                <a:lnTo>
                  <a:pt x="6228720" y="0"/>
                </a:lnTo>
                <a:lnTo>
                  <a:pt x="6228720" y="4279390"/>
                </a:lnTo>
                <a:lnTo>
                  <a:pt x="0" y="42793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147778"/>
            <a:ext cx="11456343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1. Controls with inverted axes (ส่วนการควบคุมและเคลื่อนที่)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หน้าที่: อ่านค่าอนาล็อกจาก Joystick (แกน X และ Y) เพื่อคำนวณและอัปเดตพิกัด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ตำแหน่งของผู้เล่น (playerX, playerY) พร้อมสลับทิศทางให้ถูกต้องตามการวางจอ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และกำหนดขอบเขตไม่ให้ตัวละครเดินหลุดออกนอกจอ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01052" y="7610287"/>
            <a:ext cx="12795487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2. Whip attack visual &amp; cleanup (ส่วนการโจมตีด้วยแส้อัตโนมัติ)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หน้าที่: จัดการระบบการโจมตีหลักของผู้เล่น โดยคำนวณระยะการโจมตีแบบวงกลม (Whip Radius) รอบตัวผู้เล่น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ตามช่วงเวลา (autoAttackInterval) หากศัตรูอยู่ในระยะจะถูกกำจัด เพิ่มคะแนน/สร้าง Gem และจัดการ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เคลียร์เส้นวงกลมกราฟิกบนหน้าจอเมื่อแสดงผลครบเวลา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3378" y="592521"/>
            <a:ext cx="13407255" cy="44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3041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Game Logic &amp; Mechanics Module (ส่วนคำนวณเกมและสกิล)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2299" y="1624831"/>
            <a:ext cx="7017072" cy="5103325"/>
          </a:xfrm>
          <a:custGeom>
            <a:avLst/>
            <a:gdLst/>
            <a:ahLst/>
            <a:cxnLst/>
            <a:rect r="r" b="b" t="t" l="l"/>
            <a:pathLst>
              <a:path h="5103325" w="7017072">
                <a:moveTo>
                  <a:pt x="0" y="0"/>
                </a:moveTo>
                <a:lnTo>
                  <a:pt x="7017072" y="0"/>
                </a:lnTo>
                <a:lnTo>
                  <a:pt x="7017072" y="5103326"/>
                </a:lnTo>
                <a:lnTo>
                  <a:pt x="0" y="5103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50657" y="2021304"/>
            <a:ext cx="6284382" cy="4927125"/>
          </a:xfrm>
          <a:custGeom>
            <a:avLst/>
            <a:gdLst/>
            <a:ahLst/>
            <a:cxnLst/>
            <a:rect r="r" b="b" t="t" l="l"/>
            <a:pathLst>
              <a:path h="4927125" w="6284382">
                <a:moveTo>
                  <a:pt x="0" y="0"/>
                </a:moveTo>
                <a:lnTo>
                  <a:pt x="6284382" y="0"/>
                </a:lnTo>
                <a:lnTo>
                  <a:pt x="6284382" y="4927125"/>
                </a:lnTo>
                <a:lnTo>
                  <a:pt x="0" y="4927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11311" y="7040540"/>
            <a:ext cx="8676605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3</a:t>
            </a: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. Emergency Bomb skill visual &amp; cleanup (ส่วนสกิลระเบิดทำลายล้าง)</a:t>
            </a:r>
          </a:p>
          <a:p>
            <a:pPr algn="l" marL="315754" indent="-157877" lvl="1">
              <a:lnSpc>
                <a:spcPts val="175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หน้าที่: ตรวจจับการกดปุ่ม Skill Button (GPIO 25) เมื่อเกจคูลดาวน์พร้อมใช้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</a:t>
            </a: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งาน (BOMB_COOLDOWN) เพื่อปล่อยสกิลระเบิดทำลายศัตรูทั้งหมดในระยะรัศมีระเบิด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(BOMB_RADIUS) พร้อมวาดวงกลมเอฟเฟกต์สีส้ม/แดง และเล่นเสียงเอฟเฟกต์ระเบิด 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8901052" y="7610287"/>
            <a:ext cx="1203461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4</a:t>
            </a: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. Enemy movement &amp; collision (ส่วนการเคลื่อนที่ของศัตรูและการชน)</a:t>
            </a:r>
          </a:p>
          <a:p>
            <a:pPr algn="l" marL="315754" indent="-157877" lvl="1">
              <a:lnSpc>
                <a:spcPts val="175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หน้าที่: สุ่มสร้างศัตรูใหม่ตามช่วงเวลา และคำนวณให้ศัตรูวิ่งเข้าหาตำแหน่งของผู้เล่นตลอดเวลา พร้อมตรวจสอบ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</a:t>
            </a: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การชน (Collision) ระหว่างศัตรูกับผู้เล่น หากชนกันจะลดค่า HP, อัปเดตไฟ LED และสั่งเปลี่ยนไปยัง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หน้า STATE_GAMEOVER เมื่อ HP หมด 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83378" y="592521"/>
            <a:ext cx="14279728" cy="44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3041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Game Logic &amp; Mechanics Module (ส่วนคำนวณเกมและสกิล)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6025" y="1606967"/>
            <a:ext cx="6925422" cy="6146983"/>
          </a:xfrm>
          <a:custGeom>
            <a:avLst/>
            <a:gdLst/>
            <a:ahLst/>
            <a:cxnLst/>
            <a:rect r="r" b="b" t="t" l="l"/>
            <a:pathLst>
              <a:path h="6146983" w="6925422">
                <a:moveTo>
                  <a:pt x="0" y="0"/>
                </a:moveTo>
                <a:lnTo>
                  <a:pt x="6925422" y="0"/>
                </a:lnTo>
                <a:lnTo>
                  <a:pt x="6925422" y="6146983"/>
                </a:lnTo>
                <a:lnTo>
                  <a:pt x="0" y="61469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31449" y="1435282"/>
            <a:ext cx="6375306" cy="6768463"/>
          </a:xfrm>
          <a:custGeom>
            <a:avLst/>
            <a:gdLst/>
            <a:ahLst/>
            <a:cxnLst/>
            <a:rect r="r" b="b" t="t" l="l"/>
            <a:pathLst>
              <a:path h="6768463" w="6375306">
                <a:moveTo>
                  <a:pt x="0" y="0"/>
                </a:moveTo>
                <a:lnTo>
                  <a:pt x="6375306" y="0"/>
                </a:lnTo>
                <a:lnTo>
                  <a:pt x="6375306" y="6768463"/>
                </a:lnTo>
                <a:lnTo>
                  <a:pt x="0" y="6768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3378" y="592521"/>
            <a:ext cx="13772477" cy="44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3041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Game Logic &amp; Mechanics Module (ส่วนคำนวณเกมและสกิล)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1311" y="8157975"/>
            <a:ext cx="12349106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5</a:t>
            </a: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. Gem collection (ส่วนการเก็บไอเทมและการเลเวลอัป)</a:t>
            </a:r>
          </a:p>
          <a:p>
            <a:pPr algn="l" marL="315754" indent="-157877" lvl="1">
              <a:lnSpc>
                <a:spcPts val="175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หน้าที่: ตรวจสอบระยะห่างระหว่างผู้เล่นกับ Gem (ผลึกอัปเกรด) บนสนาม เมื่อเดินไป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</a:t>
            </a: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ชนจะเก็บ Gem เล่นเสียงเอฟเฟกต์ และเพิ่มค่า XP เมื่อสะสม XP ครบตามกำหนด จะ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คำนวณโบนัส HP และสั่งเปลี่ยนสถานะไปหน้าอัปเกรดตัวละคร (STATE_LEVELUP) 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901052" y="8420935"/>
            <a:ext cx="12044755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6</a:t>
            </a: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. Partial redraws &amp; HUD (ส่วนการวาดกราฟิกซ่อมแซมและการแสดงผลหน้าจอ)</a:t>
            </a:r>
          </a:p>
          <a:p>
            <a:pPr algn="l" marL="315754" indent="-157877" lvl="1">
              <a:lnSpc>
                <a:spcPts val="175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หน้าที่: ลบและวาดตำแหน่งใหม่เฉพาะจุดที่มีการเคลื่อนที่ (Partial Redraw) ทั้งผู้เล่น ศัตรู และ Gem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เพื่อให้เกมรันได้อย่างลื่นไหลไม่กระตุก พร้อมวาดหลอดแถบพลังประสบการณ์ (XP Bar), ตัวเลขเลเวล,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นาฬิการอดชีวิต และสถานะความพร้อมของสกิล [BOMB] บนส่วนหัวของหน้าจอ (HUD) 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3148" y="2058366"/>
            <a:ext cx="6700629" cy="1721004"/>
          </a:xfrm>
          <a:custGeom>
            <a:avLst/>
            <a:gdLst/>
            <a:ahLst/>
            <a:cxnLst/>
            <a:rect r="r" b="b" t="t" l="l"/>
            <a:pathLst>
              <a:path h="1721004" w="6700629">
                <a:moveTo>
                  <a:pt x="0" y="0"/>
                </a:moveTo>
                <a:lnTo>
                  <a:pt x="6700628" y="0"/>
                </a:lnTo>
                <a:lnTo>
                  <a:pt x="6700628" y="1721003"/>
                </a:lnTo>
                <a:lnTo>
                  <a:pt x="0" y="172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62284" y="2058366"/>
            <a:ext cx="5171964" cy="3814916"/>
          </a:xfrm>
          <a:custGeom>
            <a:avLst/>
            <a:gdLst/>
            <a:ahLst/>
            <a:cxnLst/>
            <a:rect r="r" b="b" t="t" l="l"/>
            <a:pathLst>
              <a:path h="3814916" w="5171964">
                <a:moveTo>
                  <a:pt x="0" y="0"/>
                </a:moveTo>
                <a:lnTo>
                  <a:pt x="5171963" y="0"/>
                </a:lnTo>
                <a:lnTo>
                  <a:pt x="5171963" y="3814916"/>
                </a:lnTo>
                <a:lnTo>
                  <a:pt x="0" y="3814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3668" y="308845"/>
            <a:ext cx="10343194" cy="100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3393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Output Feedback Driver Module </a:t>
            </a:r>
          </a:p>
          <a:p>
            <a:pPr algn="l">
              <a:lnSpc>
                <a:spcPts val="3902"/>
              </a:lnSpc>
            </a:pPr>
            <a:r>
              <a:rPr lang="en-US" sz="3393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(ส่วนขับเคลื่อนฮาร์ดแวร์เอาต์พุต)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3148" y="4404314"/>
            <a:ext cx="1027952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updateHealthLEDs(hp):</a:t>
            </a:r>
          </a:p>
          <a:p>
            <a:pPr algn="l" marL="315754" indent="-157877" lvl="1">
              <a:lnSpc>
                <a:spcPts val="175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ขับสัญญาณ Digital Output สั่งงานไฟ Status LEDs 3 สีภายนอก ให้เปลี่ยน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</a:t>
            </a: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สีเตือนตามระดับ HP คงเหลือ: สีเขียว (GPIO 16) ติดเมื่อ HP &gt;= 3, สีเหลือง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(GPIO 17) ติดเมื่อ HP &gt;= 2, สีแดง (GPIO 5) ติดเมื่อ HP &gt;= 1 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062284" y="6352384"/>
            <a:ext cx="10411405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playSfx() &amp; </a:t>
            </a: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updateBuzzer():</a:t>
            </a:r>
          </a:p>
          <a:p>
            <a:pPr algn="l" marL="315754" indent="-157877" lvl="1">
              <a:lnSpc>
                <a:spcPts val="175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playSfx(freq, durationMs) สั่งกำเนิดความถี่เสียง SFX ออกไปยัง Passive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Buzzer (GPIO 26) ด้วยฟังก์ชัน tone()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</a:p>
          <a:p>
            <a:pPr algn="l" marL="315754" indent="-157877" lvl="1">
              <a:lnSpc>
                <a:spcPts val="175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updateBuzzer() ตรวจสอบเวลาด้วย millis() เพื่อตัดสัญญาณด้วย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noTone() แบบ Non-blocking โดยไม่ทำให้จังหวะการรันเกมหยุดชะงัก 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5806" y="556230"/>
            <a:ext cx="10343194" cy="50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3393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Testing and Result (All Cases)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100284" y="2530237"/>
            <a:ext cx="785812" cy="442912"/>
            <a:chOff x="0" y="0"/>
            <a:chExt cx="1047750" cy="5905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47750" cy="590550"/>
            </a:xfrm>
            <a:custGeom>
              <a:avLst/>
              <a:gdLst/>
              <a:ahLst/>
              <a:cxnLst/>
              <a:rect r="r" b="b" t="t" l="l"/>
              <a:pathLst>
                <a:path h="590550" w="1047750">
                  <a:moveTo>
                    <a:pt x="0" y="118110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929640" y="0"/>
                  </a:lnTo>
                  <a:cubicBezTo>
                    <a:pt x="994918" y="0"/>
                    <a:pt x="1047750" y="52832"/>
                    <a:pt x="1047750" y="118110"/>
                  </a:cubicBezTo>
                  <a:lnTo>
                    <a:pt x="1047750" y="472440"/>
                  </a:lnTo>
                  <a:cubicBezTo>
                    <a:pt x="1047750" y="537718"/>
                    <a:pt x="994918" y="590550"/>
                    <a:pt x="929640" y="590550"/>
                  </a:cubicBezTo>
                  <a:lnTo>
                    <a:pt x="118110" y="590550"/>
                  </a:lnTo>
                  <a:cubicBezTo>
                    <a:pt x="52832" y="590550"/>
                    <a:pt x="0" y="537718"/>
                    <a:pt x="0" y="47244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4100284" y="3316050"/>
            <a:ext cx="785812" cy="442912"/>
            <a:chOff x="0" y="0"/>
            <a:chExt cx="1047750" cy="590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7750" cy="590550"/>
            </a:xfrm>
            <a:custGeom>
              <a:avLst/>
              <a:gdLst/>
              <a:ahLst/>
              <a:cxnLst/>
              <a:rect r="r" b="b" t="t" l="l"/>
              <a:pathLst>
                <a:path h="590550" w="1047750">
                  <a:moveTo>
                    <a:pt x="0" y="118110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929640" y="0"/>
                  </a:lnTo>
                  <a:cubicBezTo>
                    <a:pt x="994918" y="0"/>
                    <a:pt x="1047750" y="52832"/>
                    <a:pt x="1047750" y="118110"/>
                  </a:cubicBezTo>
                  <a:lnTo>
                    <a:pt x="1047750" y="472440"/>
                  </a:lnTo>
                  <a:cubicBezTo>
                    <a:pt x="1047750" y="537718"/>
                    <a:pt x="994918" y="590550"/>
                    <a:pt x="929640" y="590550"/>
                  </a:cubicBezTo>
                  <a:lnTo>
                    <a:pt x="118110" y="590550"/>
                  </a:lnTo>
                  <a:cubicBezTo>
                    <a:pt x="52832" y="590550"/>
                    <a:pt x="0" y="537718"/>
                    <a:pt x="0" y="47244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4100284" y="4101862"/>
            <a:ext cx="1014412" cy="442912"/>
            <a:chOff x="0" y="0"/>
            <a:chExt cx="1352550" cy="5905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52550" cy="590550"/>
            </a:xfrm>
            <a:custGeom>
              <a:avLst/>
              <a:gdLst/>
              <a:ahLst/>
              <a:cxnLst/>
              <a:rect r="r" b="b" t="t" l="l"/>
              <a:pathLst>
                <a:path h="590550" w="1352550">
                  <a:moveTo>
                    <a:pt x="0" y="118110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1234440" y="0"/>
                  </a:lnTo>
                  <a:cubicBezTo>
                    <a:pt x="1299718" y="0"/>
                    <a:pt x="1352550" y="52832"/>
                    <a:pt x="1352550" y="118110"/>
                  </a:cubicBezTo>
                  <a:lnTo>
                    <a:pt x="1352550" y="472440"/>
                  </a:lnTo>
                  <a:cubicBezTo>
                    <a:pt x="1352550" y="537718"/>
                    <a:pt x="1299718" y="590550"/>
                    <a:pt x="1234440" y="590550"/>
                  </a:cubicBezTo>
                  <a:lnTo>
                    <a:pt x="118110" y="590550"/>
                  </a:lnTo>
                  <a:cubicBezTo>
                    <a:pt x="52832" y="590550"/>
                    <a:pt x="0" y="537718"/>
                    <a:pt x="0" y="47244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100284" y="4887675"/>
            <a:ext cx="785812" cy="442912"/>
            <a:chOff x="0" y="0"/>
            <a:chExt cx="1047750" cy="5905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7750" cy="590550"/>
            </a:xfrm>
            <a:custGeom>
              <a:avLst/>
              <a:gdLst/>
              <a:ahLst/>
              <a:cxnLst/>
              <a:rect r="r" b="b" t="t" l="l"/>
              <a:pathLst>
                <a:path h="590550" w="1047750">
                  <a:moveTo>
                    <a:pt x="0" y="118110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929640" y="0"/>
                  </a:lnTo>
                  <a:cubicBezTo>
                    <a:pt x="994918" y="0"/>
                    <a:pt x="1047750" y="52832"/>
                    <a:pt x="1047750" y="118110"/>
                  </a:cubicBezTo>
                  <a:lnTo>
                    <a:pt x="1047750" y="472440"/>
                  </a:lnTo>
                  <a:cubicBezTo>
                    <a:pt x="1047750" y="537718"/>
                    <a:pt x="994918" y="590550"/>
                    <a:pt x="929640" y="590550"/>
                  </a:cubicBezTo>
                  <a:lnTo>
                    <a:pt x="118110" y="590550"/>
                  </a:lnTo>
                  <a:cubicBezTo>
                    <a:pt x="52832" y="590550"/>
                    <a:pt x="0" y="537718"/>
                    <a:pt x="0" y="47244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35806" y="1544400"/>
            <a:ext cx="16816388" cy="5621126"/>
            <a:chOff x="0" y="0"/>
            <a:chExt cx="22421850" cy="74948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21850" cy="7494834"/>
            </a:xfrm>
            <a:custGeom>
              <a:avLst/>
              <a:gdLst/>
              <a:ahLst/>
              <a:cxnLst/>
              <a:rect r="r" b="b" t="t" l="l"/>
              <a:pathLst>
                <a:path h="7494834" w="22421850">
                  <a:moveTo>
                    <a:pt x="0" y="0"/>
                  </a:moveTo>
                  <a:lnTo>
                    <a:pt x="22421850" y="0"/>
                  </a:lnTo>
                  <a:lnTo>
                    <a:pt x="22421850" y="7494834"/>
                  </a:lnTo>
                  <a:lnTo>
                    <a:pt x="0" y="7494834"/>
                  </a:lnTo>
                </a:path>
              </a:pathLst>
            </a:custGeom>
            <a:solidFill>
              <a:srgbClr val="0F172A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742950" y="1551542"/>
          <a:ext cx="16809244" cy="7990415"/>
        </p:xfrm>
        <a:graphic>
          <a:graphicData uri="http://schemas.openxmlformats.org/drawingml/2006/table">
            <a:tbl>
              <a:tblPr/>
              <a:tblGrid>
                <a:gridCol w="3067230"/>
                <a:gridCol w="5080340"/>
                <a:gridCol w="5142379"/>
                <a:gridCol w="3519295"/>
              </a:tblGrid>
              <a:tr h="8863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Prompt Bold"/>
                          <a:ea typeface="Prompt Bold"/>
                          <a:cs typeface="Prompt Bold"/>
                          <a:sym typeface="Prompt Bold"/>
                        </a:rPr>
                        <a:t>หัวข้อการทดสอบ</a:t>
                      </a:r>
                      <a:r>
                        <a:rPr lang="en-US" sz="2025" b="true">
                          <a:solidFill>
                            <a:srgbClr val="38BDF8"/>
                          </a:solidFill>
                          <a:latin typeface="Prompt Bold"/>
                          <a:ea typeface="Prompt Bold"/>
                          <a:cs typeface="Prompt Bold"/>
                          <a:sym typeface="Prompt Bold"/>
                        </a:rPr>
                        <a:t> (Test Case)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เงื่อนไขและว</a:t>
                      </a:r>
                      <a:r>
                        <a:rPr lang="en-US" sz="2025" b="true">
                          <a:solidFill>
                            <a:srgbClr val="38BDF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ิธีการทดสอบ (Test Condition)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ผลลัพธ์</a:t>
                      </a:r>
                      <a:r>
                        <a:rPr lang="en-US" sz="2025" b="true">
                          <a:solidFill>
                            <a:srgbClr val="38BDF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ที่คาดหวัง (Expected Result)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ผลการทดสอบ</a:t>
                      </a:r>
                      <a:r>
                        <a:rPr lang="en-US" sz="2025" b="true">
                          <a:solidFill>
                            <a:srgbClr val="38BDF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(Actual Result)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5741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1. Analog Joystick</a:t>
                      </a:r>
                      <a:r>
                        <a:rPr lang="en-US" sz="2025" b="true">
                          <a:solidFill>
                            <a:srgbClr val="38BDF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 Control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ตัวละครเคลื่อนที่ตามทิศทางแม่นยำ ไม่ขยับเองเมื่อจอยอยู่นิ่ง 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Pass (ผ่าน)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1349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2. Backlight PWM Dimmer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ความสว่างหน้าจอ TFT</a:t>
                      </a: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 (GPIO 14) ปรับเพิ่ม/ลดได้สว่างลื่นไหล 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Pass (ผ่าน)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</a:tr>
              <a:tr h="9863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60A5FA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3. Emergency</a:t>
                      </a:r>
                      <a:r>
                        <a:rPr lang="en-US" sz="2025" b="true">
                          <a:solidFill>
                            <a:srgbClr val="60A5FA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 Skill Bomb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เกิดรัศมีระเบิด เคลียร์ศัตรูในระยะ และรีเซ็ตคูลดาวน์ 4 วินาที 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Pass (ผ่าน)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1362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4.</a:t>
                      </a:r>
                      <a:r>
                        <a:rPr lang="en-US" sz="2025" b="true">
                          <a:solidFill>
                            <a:srgbClr val="38BDF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 External HP LEDs Indicator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ไฟ LED เปลี่ยนสีตาม HP: เขียว (&gt;=3) --&gt; เหลือง (&gt;=2) --&gt; แดง (&gt;=1) 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Pass (ผ่าน)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</a:tr>
              <a:tr h="11362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5. Non-blocking SFX Buzzer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Buzzer (GPIO 26) ส่งเสียง SFX โดยที่เฟรมเรตเกมไม่กระตุก 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Pass (ผ่าน)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</a:tr>
              <a:tr h="11362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38BDF8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6. FSM State Transition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ระบบสลับหน้าจอ และทำงานตามโลจิกของแต่ละสถานะถูกต้อง 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Pass (ผ่าน)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7"/>
                    </a:solidFill>
                  </a:tcPr>
                </a:tc>
              </a:tr>
            </a:tbl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4100284" y="2833908"/>
            <a:ext cx="451502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sz="2019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โยกจอยสติ๊กแกน X/Y ออกนอกช่วง Deadband (&lt; 1400 หรือ &gt; 2600)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00284" y="4150111"/>
            <a:ext cx="451502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sz="2019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หมุน Potentiometer บนขา GPIO 32 เพื่อปรับค่าแรงดันอนาล็อก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00284" y="5221047"/>
            <a:ext cx="451502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sz="2019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สะสมเกจจนขึ้น [BOMB] แล้วกดปุ่ม PIN_SKILL_BTN (GPIO 25)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00284" y="6287847"/>
            <a:ext cx="451502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sz="2019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ลดค่า playerHP จาก 3 เหลือ 2, 1 และ 0 ตามลำดับ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00284" y="7289350"/>
            <a:ext cx="451502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sz="2019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เกิดเหตุการณ์โจมตี, เก็บ Gem, โดนชน หรือเลเวลอัป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00284" y="8542889"/>
            <a:ext cx="4515027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sz="2019" b="true">
                <a:solidFill>
                  <a:srgbClr val="38BDF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ทดสอบการเปลี่ยนสถานะ TITLE --&gt; PLAYING --&gt; LEVELUP --&gt; GAMEOVER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8021845" y="1652998"/>
            <a:ext cx="2846042" cy="4992772"/>
          </a:xfrm>
          <a:custGeom>
            <a:avLst/>
            <a:gdLst/>
            <a:ahLst/>
            <a:cxnLst/>
            <a:rect r="r" b="b" t="t" l="l"/>
            <a:pathLst>
              <a:path h="4992772" w="2846042">
                <a:moveTo>
                  <a:pt x="0" y="0"/>
                </a:moveTo>
                <a:lnTo>
                  <a:pt x="2846042" y="0"/>
                </a:lnTo>
                <a:lnTo>
                  <a:pt x="2846042" y="4992772"/>
                </a:lnTo>
                <a:lnTo>
                  <a:pt x="0" y="49927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3676420" y="1685449"/>
            <a:ext cx="2768169" cy="4733357"/>
          </a:xfrm>
          <a:custGeom>
            <a:avLst/>
            <a:gdLst/>
            <a:ahLst/>
            <a:cxnLst/>
            <a:rect r="r" b="b" t="t" l="l"/>
            <a:pathLst>
              <a:path h="4733357" w="2768169">
                <a:moveTo>
                  <a:pt x="0" y="0"/>
                </a:moveTo>
                <a:lnTo>
                  <a:pt x="2768169" y="0"/>
                </a:lnTo>
                <a:lnTo>
                  <a:pt x="2768169" y="4733357"/>
                </a:lnTo>
                <a:lnTo>
                  <a:pt x="0" y="47333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4591592" y="5561605"/>
            <a:ext cx="2848263" cy="4992772"/>
          </a:xfrm>
          <a:custGeom>
            <a:avLst/>
            <a:gdLst/>
            <a:ahLst/>
            <a:cxnLst/>
            <a:rect r="r" b="b" t="t" l="l"/>
            <a:pathLst>
              <a:path h="4992772" w="2848263">
                <a:moveTo>
                  <a:pt x="0" y="0"/>
                </a:moveTo>
                <a:lnTo>
                  <a:pt x="2848263" y="0"/>
                </a:lnTo>
                <a:lnTo>
                  <a:pt x="2848263" y="4992771"/>
                </a:lnTo>
                <a:lnTo>
                  <a:pt x="0" y="49927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0201053" y="5482233"/>
            <a:ext cx="2942836" cy="5056942"/>
          </a:xfrm>
          <a:custGeom>
            <a:avLst/>
            <a:gdLst/>
            <a:ahLst/>
            <a:cxnLst/>
            <a:rect r="r" b="b" t="t" l="l"/>
            <a:pathLst>
              <a:path h="5056942" w="2942836">
                <a:moveTo>
                  <a:pt x="0" y="0"/>
                </a:moveTo>
                <a:lnTo>
                  <a:pt x="2942836" y="0"/>
                </a:lnTo>
                <a:lnTo>
                  <a:pt x="2942836" y="5056942"/>
                </a:lnTo>
                <a:lnTo>
                  <a:pt x="0" y="50569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2058254" y="1770713"/>
            <a:ext cx="2647426" cy="4706534"/>
          </a:xfrm>
          <a:custGeom>
            <a:avLst/>
            <a:gdLst/>
            <a:ahLst/>
            <a:cxnLst/>
            <a:rect r="r" b="b" t="t" l="l"/>
            <a:pathLst>
              <a:path h="4706534" w="2647426">
                <a:moveTo>
                  <a:pt x="0" y="0"/>
                </a:moveTo>
                <a:lnTo>
                  <a:pt x="2647426" y="0"/>
                </a:lnTo>
                <a:lnTo>
                  <a:pt x="2647426" y="4706535"/>
                </a:lnTo>
                <a:lnTo>
                  <a:pt x="0" y="47065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7314" y="911306"/>
            <a:ext cx="10343194" cy="50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3393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Picture of Your Project (Final Work)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66438" y="2175948"/>
            <a:ext cx="3672824" cy="35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487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Title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17056" y="2054934"/>
            <a:ext cx="3074267" cy="35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487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Playing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83669" y="6087281"/>
            <a:ext cx="3672824" cy="35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487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LevelUp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73024" y="6087281"/>
            <a:ext cx="3632244" cy="35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487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GameOver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72066" y="2244207"/>
            <a:ext cx="4535151" cy="35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487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Hardware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72403" y="2564946"/>
            <a:ext cx="10343194" cy="100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3393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LINK to VDO demonstration (final work)</a:t>
            </a:r>
          </a:p>
          <a:p>
            <a:pPr algn="l">
              <a:lnSpc>
                <a:spcPts val="390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378429" y="4479683"/>
            <a:ext cx="10147485" cy="1608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b="true" sz="2760" u="sng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  <a:hlinkClick r:id="rId2" tooltip="https://drive.google.com/file/d/1wSTmqR_-Sq7AepEVBgjFIw3Xfg82Lu3q/view?usp=drive_link"/>
              </a:rPr>
              <a:t>https://drive.google.com/file/d/1wSTmqR_-Sq7AepEVBgjFIw3Xfg82Lu3q/view?usp=drive_link VDO demonstration (final work)</a:t>
            </a:r>
          </a:p>
          <a:p>
            <a:pPr algn="l">
              <a:lnSpc>
                <a:spcPts val="3174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15891" y="586981"/>
            <a:ext cx="15257992" cy="146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6"/>
              </a:lnSpc>
            </a:pPr>
            <a:r>
              <a:rPr lang="en-US" sz="5005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Problem and solution</a:t>
            </a:r>
          </a:p>
          <a:p>
            <a:pPr algn="l">
              <a:lnSpc>
                <a:spcPts val="5756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226029" y="1823580"/>
            <a:ext cx="12637808" cy="1691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7"/>
              </a:lnSpc>
              <a:spcBef>
                <a:spcPct val="0"/>
              </a:spcBef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1. ปัญหาสัญญาณอนาล็อกผันผวนจาก Joystick (Joystick Signal Jittering)</a:t>
            </a:r>
          </a:p>
          <a:p>
            <a:pPr algn="l" marL="318773" indent="-159386" lvl="1">
              <a:lnSpc>
                <a:spcPts val="16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ปัญหาที่พบ (Problem): ค่าแรงดันอนาล็อกจาก Analog Joystick บนขา ADC (PIN_JOY_X และ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     </a:t>
            </a: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PIN_JOY_Y) มีความผันผวนเล็กน้อยตามธรรมชาติของอุปกรณ์ ส่งผลให้ตัวละครขยับเอง หรือเลื่อนเมนู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     อัปเกรดเองขณะที่จอยสติ๊กอยู่นิ่ง </a:t>
            </a:r>
          </a:p>
          <a:p>
            <a:pPr algn="l" marL="318773" indent="-159386" lvl="1">
              <a:lnSpc>
                <a:spcPts val="16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การแก้ไข (Solution): ออกแบบ Deadband Filtering Algorithm (ช่วงค่า 1400–2600) ในโค้ด โดย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     </a:t>
            </a: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กำหนดให้ระบบข้ามการประมวลผลเมื่อค่าอนาล็อกอยู่ในช่วงศูนย์กลาง และจะอัปเดตตำแหน่งก็ต่อเมื่อมีการ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     โยกจอยสติ๊กออกนอกช่วง Deadband เท่านั้น 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226029" y="4207886"/>
            <a:ext cx="12313168" cy="1691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7"/>
              </a:lnSpc>
              <a:spcBef>
                <a:spcPct val="0"/>
              </a:spcBef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2.</a:t>
            </a: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 ปัญหาหน้าจอกระตุกจากการวาดภาพกราฟิกใหม่ทั้งหน้าจอ (Screen Redraw Lag)</a:t>
            </a:r>
          </a:p>
          <a:p>
            <a:pPr algn="l" marL="318773" indent="-159386" lvl="1">
              <a:lnSpc>
                <a:spcPts val="16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ปัญหาที่พบ (Problem): การใช้คำสั่งลบและวาดหน้าจอใหม่ทั้งหมด (tft.fillScreen()) ทุกๆ เฟรม ขณะมีตัว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     </a:t>
            </a: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ละคร ศัตรู และ Gem บนหน้าจอจำนวนมาก ทำให้การแสดงผลกระตุก เฟรมเรตตก และหน้าจอกระพริบ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     อย่างเห็นได้ชัด </a:t>
            </a:r>
          </a:p>
          <a:p>
            <a:pPr algn="l" marL="318773" indent="-159386" lvl="1">
              <a:lnSpc>
                <a:spcPts val="16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การแก้ไข (Solution): เปลี่ยนมาใช้เทคนิค Partial Redraw (วาดซ่อมเฉพาะจุด) โดยวาดสี่เหลี่ยมสีดำ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     </a:t>
            </a: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เคลียร์เฉพาะพิกัดเก่า (oldX, oldY) ก่อนจะวาดวัตถุ ณ พิกัดใหม่ ช่วยลดภาระการส่งข้อมูลผ่านพอร์ต SPI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     และทำให้เกมรันได้ลื่นไหล 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226029" y="6328197"/>
            <a:ext cx="12100122" cy="1691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7"/>
              </a:lnSpc>
              <a:spcBef>
                <a:spcPct val="0"/>
              </a:spcBef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3.</a:t>
            </a: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 ปัญหาระบบค้างจากการใช้ delay() ในการจับเวลา (Blocking Code Issues)</a:t>
            </a:r>
          </a:p>
          <a:p>
            <a:pPr algn="l" marL="318773" indent="-159386" lvl="1">
              <a:lnSpc>
                <a:spcPts val="16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ปัญหาที่พบ (Problem): การใช้ฟังก์ชัน delay() ในการทำคูลดาวน์สกิล หรือการหน่วงเวลาเล่นเสียง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     </a:t>
            </a: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เอฟเฟกต์ ทำให้ไมโครคอนโทรลเลอร์หยุดการประมวลผลทั้งหมด ส่งผลให้ปุ่มกดและ Joystick ตอบสนอง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     ล่าช้า (Input Lag) </a:t>
            </a:r>
          </a:p>
          <a:p>
            <a:pPr algn="l" marL="318773" indent="-159386" lvl="1">
              <a:lnSpc>
                <a:spcPts val="16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การแก้ไข (Solution): สังคายนาโครงสร้างโค้ดทั้งหมดเป็น Non-blocking Logic โดยใช้ฟังก์ชัน millis()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     เช็กช่วงต่างเวลา (millis() - lastTime &gt;= INTERVAL) ทั้งระบบจับเวลา FSM, การโจมตีอัตโนมัติ, คูลดาวน์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     สกิลระเบิด และการปิดเสียง Buzzer (updateBuzzer()) 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226029" y="8448576"/>
            <a:ext cx="12637808" cy="1266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7"/>
              </a:lnSpc>
              <a:spcBef>
                <a:spcPct val="0"/>
              </a:spcBef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4.</a:t>
            </a: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 ปัญหาข้อความ HUD บนหน้าจอแสดงผลทับซ้อนกัน (HUD Display Overlapping)</a:t>
            </a:r>
          </a:p>
          <a:p>
            <a:pPr algn="l" marL="318773" indent="-159386" lvl="1">
              <a:lnSpc>
                <a:spcPts val="16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ปัญหาที่พบ (Problem): ข้อความแสดงเวลา สถานะเลเวล และสถานะสกิล [BOMB] บริเวณขอบบนของ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     </a:t>
            </a: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หน้าจอเกิดการวาดตัวเลขซ้อนทับกับตัวเลขเก่าเมื่อค่ามีการเปลี่ยนแปลง </a:t>
            </a:r>
          </a:p>
          <a:p>
            <a:pPr algn="l" marL="318773" indent="-159386" lvl="1">
              <a:lnSpc>
                <a:spcPts val="16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การแก้ไข (Solution): ใช้ฟังก์ชัน tft.fillRect() ลบพื้นที่กรอบข้อความเก่าเฉพาะจุดก่อนพิมพ์ตัวเลขใหม่ลง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     </a:t>
            </a:r>
            <a:r>
              <a:rPr lang="en-US" b="true" sz="147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ไป พร้อมจัดการขอบเขตพิกัด X/Y ให้พอดีกับความละเอียดจอ 3.8" ในแนวตั้ง (Portrait Mode) 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0B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0019" y="2894467"/>
            <a:ext cx="14947962" cy="3138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84"/>
              </a:lnSpc>
            </a:pPr>
            <a:r>
              <a:rPr lang="en-US" sz="21377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DAHWOC6caaA</dc:identifier>
  <dcterms:modified xsi:type="dcterms:W3CDTF">2011-08-01T06:04:30Z</dcterms:modified>
  <cp:revision>1</cp:revision>
  <dc:title>presentation</dc:title>
</cp:coreProperties>
</file>